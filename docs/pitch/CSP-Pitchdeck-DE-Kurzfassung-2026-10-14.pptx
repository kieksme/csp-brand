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39fe1044fe4119" /><Relationship Type="http://schemas.openxmlformats.org/officeDocument/2006/relationships/extended-properties" Target="/docProps/app.xml" Id="R3e8a19a25bed4733" /><Relationship Type="http://schemas.openxmlformats.org/officeDocument/2006/relationships/officeDocument" Target="/ppt/presentation.xml" Id="R3edf169465044d07" /></Relationships>
</file>

<file path=ppt/presentation.xml><?xml version="1.0" encoding="utf-8"?>
<p:presentation xmlns:p="http://schemas.openxmlformats.org/presentationml/2006/main">
  <p:sldMasterIdLst>
    <p:sldMasterId xmlns:r="http://schemas.openxmlformats.org/officeDocument/2006/relationships" id="2147483648" r:id="R2fd1f86d43b046b4"/>
  </p:sldMasterIdLst>
  <p:notesMasterIdLst>
    <p:notesMasterId xmlns:r="http://schemas.openxmlformats.org/officeDocument/2006/relationships" r:id="R23fad356d4414056"/>
  </p:notesMasterIdLst>
  <p:sldIdLst>
    <p:sldId xmlns:r="http://schemas.openxmlformats.org/officeDocument/2006/relationships" id="256" r:id="Ra5c5b284ed78443e"/>
    <p:sldId xmlns:r="http://schemas.openxmlformats.org/officeDocument/2006/relationships" id="257" r:id="R85f798f88e6c4f48"/>
    <p:sldId xmlns:r="http://schemas.openxmlformats.org/officeDocument/2006/relationships" id="258" r:id="Rc41cc8e040e742a0"/>
    <p:sldId xmlns:r="http://schemas.openxmlformats.org/officeDocument/2006/relationships" id="259" r:id="R5283ffc36e564fb1"/>
    <p:sldId xmlns:r="http://schemas.openxmlformats.org/officeDocument/2006/relationships" id="260" r:id="R29fdba09eb7943ed"/>
    <p:sldId xmlns:r="http://schemas.openxmlformats.org/officeDocument/2006/relationships" id="261" r:id="R18af14fefaf64d49"/>
    <p:sldId xmlns:r="http://schemas.openxmlformats.org/officeDocument/2006/relationships" id="262" r:id="Rcdd32c211d9c46ee"/>
    <p:sldId xmlns:r="http://schemas.openxmlformats.org/officeDocument/2006/relationships" id="263" r:id="Rafdb949fa1974b70"/>
    <p:sldId xmlns:r="http://schemas.openxmlformats.org/officeDocument/2006/relationships" id="264" r:id="R72688ef851b24f3e"/>
    <p:sldId xmlns:r="http://schemas.openxmlformats.org/officeDocument/2006/relationships" id="265" r:id="R849de1eb5a954f3d"/>
    <p:sldId xmlns:r="http://schemas.openxmlformats.org/officeDocument/2006/relationships" id="266" r:id="Rc9d6efe67ab646bf"/>
    <p:sldId xmlns:r="http://schemas.openxmlformats.org/officeDocument/2006/relationships" id="267" r:id="R6aea2610a1324c06"/>
    <p:sldId xmlns:r="http://schemas.openxmlformats.org/officeDocument/2006/relationships" id="268" r:id="R05533ac3ea054bce"/>
    <p:sldId xmlns:r="http://schemas.openxmlformats.org/officeDocument/2006/relationships" id="269" r:id="R96eb3141524840a3"/>
    <p:sldId xmlns:r="http://schemas.openxmlformats.org/officeDocument/2006/relationships" id="270" r:id="Reca607853d66410d"/>
    <p:sldId xmlns:r="http://schemas.openxmlformats.org/officeDocument/2006/relationships" id="271" r:id="Rd0dcea4a63fb44b0"/>
    <p:sldId xmlns:r="http://schemas.openxmlformats.org/officeDocument/2006/relationships" id="272" r:id="R890662032a0c405f"/>
    <p:sldId xmlns:r="http://schemas.openxmlformats.org/officeDocument/2006/relationships" id="273" r:id="Ra69c1ebfa4694e1e"/>
    <p:sldId xmlns:r="http://schemas.openxmlformats.org/officeDocument/2006/relationships" id="274" r:id="Rf0ed63bfbac74109"/>
    <p:sldId xmlns:r="http://schemas.openxmlformats.org/officeDocument/2006/relationships" id="275" r:id="R541e4e1a87634bb6"/>
    <p:sldId xmlns:r="http://schemas.openxmlformats.org/officeDocument/2006/relationships" id="276" r:id="R3367e02107d34bcf"/>
    <p:sldId xmlns:r="http://schemas.openxmlformats.org/officeDocument/2006/relationships" id="277" r:id="Reaac670e89e949c4"/>
    <p:sldId xmlns:r="http://schemas.openxmlformats.org/officeDocument/2006/relationships" id="278" r:id="R4f74a7fad4bc41ce"/>
    <p:sldId xmlns:r="http://schemas.openxmlformats.org/officeDocument/2006/relationships" id="279" r:id="R5ca1323157db43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f9592276c24bd4" /><Relationship Type="http://schemas.openxmlformats.org/officeDocument/2006/relationships/slideMaster" Target="/ppt/slideMasters/slideMaster1.xml" Id="R2fd1f86d43b046b4" /><Relationship Type="http://schemas.openxmlformats.org/officeDocument/2006/relationships/notesMaster" Target="/ppt/notesMasters/notesMaster1.xml" Id="R23fad356d4414056" /><Relationship Type="http://schemas.openxmlformats.org/officeDocument/2006/relationships/presProps" Target="/ppt/presProps.xml" Id="Rade1c796bc0a4064" /><Relationship Type="http://schemas.openxmlformats.org/officeDocument/2006/relationships/tableStyles" Target="/ppt/tableStyles.xml" Id="R56c5f0864fe34840" /><Relationship Type="http://schemas.openxmlformats.org/officeDocument/2006/relationships/slide" Target="/ppt/slides/slide1.xml" Id="Ra5c5b284ed78443e" /><Relationship Type="http://schemas.openxmlformats.org/officeDocument/2006/relationships/slide" Target="/ppt/slides/slide2.xml" Id="R85f798f88e6c4f48" /><Relationship Type="http://schemas.openxmlformats.org/officeDocument/2006/relationships/slide" Target="/ppt/slides/slide3.xml" Id="Rc41cc8e040e742a0" /><Relationship Type="http://schemas.openxmlformats.org/officeDocument/2006/relationships/slide" Target="/ppt/slides/slide4.xml" Id="R5283ffc36e564fb1" /><Relationship Type="http://schemas.openxmlformats.org/officeDocument/2006/relationships/slide" Target="/ppt/slides/slide5.xml" Id="R29fdba09eb7943ed" /><Relationship Type="http://schemas.openxmlformats.org/officeDocument/2006/relationships/slide" Target="/ppt/slides/slide6.xml" Id="R18af14fefaf64d49" /><Relationship Type="http://schemas.openxmlformats.org/officeDocument/2006/relationships/slide" Target="/ppt/slides/slide7.xml" Id="Rcdd32c211d9c46ee" /><Relationship Type="http://schemas.openxmlformats.org/officeDocument/2006/relationships/slide" Target="/ppt/slides/slide8.xml" Id="Rafdb949fa1974b70" /><Relationship Type="http://schemas.openxmlformats.org/officeDocument/2006/relationships/slide" Target="/ppt/slides/slide9.xml" Id="R72688ef851b24f3e" /><Relationship Type="http://schemas.openxmlformats.org/officeDocument/2006/relationships/slide" Target="/ppt/slides/slide10.xml" Id="R849de1eb5a954f3d" /><Relationship Type="http://schemas.openxmlformats.org/officeDocument/2006/relationships/slide" Target="/ppt/slides/slide11.xml" Id="Rc9d6efe67ab646bf" /><Relationship Type="http://schemas.openxmlformats.org/officeDocument/2006/relationships/slide" Target="/ppt/slides/slide12.xml" Id="R6aea2610a1324c06" /><Relationship Type="http://schemas.openxmlformats.org/officeDocument/2006/relationships/slide" Target="/ppt/slides/slide13.xml" Id="R05533ac3ea054bce" /><Relationship Type="http://schemas.openxmlformats.org/officeDocument/2006/relationships/slide" Target="/ppt/slides/slide14.xml" Id="R96eb3141524840a3" /><Relationship Type="http://schemas.openxmlformats.org/officeDocument/2006/relationships/slide" Target="/ppt/slides/slide15.xml" Id="Reca607853d66410d" /><Relationship Type="http://schemas.openxmlformats.org/officeDocument/2006/relationships/slide" Target="/ppt/slides/slide16.xml" Id="Rd0dcea4a63fb44b0" /><Relationship Type="http://schemas.openxmlformats.org/officeDocument/2006/relationships/slide" Target="/ppt/slides/slide17.xml" Id="R890662032a0c405f" /><Relationship Type="http://schemas.openxmlformats.org/officeDocument/2006/relationships/slide" Target="/ppt/slides/slide18.xml" Id="Ra69c1ebfa4694e1e" /><Relationship Type="http://schemas.openxmlformats.org/officeDocument/2006/relationships/slide" Target="/ppt/slides/slide19.xml" Id="Rf0ed63bfbac74109" /><Relationship Type="http://schemas.openxmlformats.org/officeDocument/2006/relationships/slide" Target="/ppt/slides/slide20.xml" Id="R541e4e1a87634bb6" /><Relationship Type="http://schemas.openxmlformats.org/officeDocument/2006/relationships/slide" Target="/ppt/slides/slide21.xml" Id="R3367e02107d34bcf" /><Relationship Type="http://schemas.openxmlformats.org/officeDocument/2006/relationships/slide" Target="/ppt/slides/slide22.xml" Id="Reaac670e89e949c4" /><Relationship Type="http://schemas.openxmlformats.org/officeDocument/2006/relationships/slide" Target="/ppt/slides/slide23.xml" Id="R4f74a7fad4bc41ce" /><Relationship Type="http://schemas.openxmlformats.org/officeDocument/2006/relationships/slide" Target="/ppt/slides/slide24.xml" Id="R5ca1323157db43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2bfdd0cab24d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2ae210b22482e" /><Relationship Type="http://schemas.openxmlformats.org/officeDocument/2006/relationships/notesMaster" Target="/ppt/notesMasters/notesMaster1.xml" Id="Rf02df8755cd044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b484a4591c4cb9" /><Relationship Type="http://schemas.openxmlformats.org/officeDocument/2006/relationships/notesMaster" Target="/ppt/notesMasters/notesMaster1.xml" Id="Rb639d25a477346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bb1c6ea44e4978" /><Relationship Type="http://schemas.openxmlformats.org/officeDocument/2006/relationships/notesMaster" Target="/ppt/notesMasters/notesMaster1.xml" Id="R5766516510d44c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a78a8de602403c" /><Relationship Type="http://schemas.openxmlformats.org/officeDocument/2006/relationships/notesMaster" Target="/ppt/notesMasters/notesMaster1.xml" Id="R3df9df96f4244a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9f9464bc8647ab" /><Relationship Type="http://schemas.openxmlformats.org/officeDocument/2006/relationships/notesMaster" Target="/ppt/notesMasters/notesMaster1.xml" Id="R3282613bf1cb4c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a8a8cc23524144" /><Relationship Type="http://schemas.openxmlformats.org/officeDocument/2006/relationships/notesMaster" Target="/ppt/notesMasters/notesMaster1.xml" Id="Rc8e0b2a9583e44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c494712cb64d64" /><Relationship Type="http://schemas.openxmlformats.org/officeDocument/2006/relationships/notesMaster" Target="/ppt/notesMasters/notesMaster1.xml" Id="R64fcdf8e9f8f41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46f41ca3b24879" /><Relationship Type="http://schemas.openxmlformats.org/officeDocument/2006/relationships/notesMaster" Target="/ppt/notesMasters/notesMaster1.xml" Id="R836fa7f48dd94c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57e6a89bef42e6" /><Relationship Type="http://schemas.openxmlformats.org/officeDocument/2006/relationships/notesMaster" Target="/ppt/notesMasters/notesMaster1.xml" Id="Rcaa5b54cbf024a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01fae295bf4b52" /><Relationship Type="http://schemas.openxmlformats.org/officeDocument/2006/relationships/notesMaster" Target="/ppt/notesMasters/notesMaster1.xml" Id="R40bac1f476e142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6dc82f51594d20" /><Relationship Type="http://schemas.openxmlformats.org/officeDocument/2006/relationships/notesMaster" Target="/ppt/notesMasters/notesMaster1.xml" Id="Rad76afd8dedc4e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8274c21c9b435f" /><Relationship Type="http://schemas.openxmlformats.org/officeDocument/2006/relationships/notesMaster" Target="/ppt/notesMasters/notesMaster1.xml" Id="R1a3cae27826d4d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eb18b59ff8492c" /><Relationship Type="http://schemas.openxmlformats.org/officeDocument/2006/relationships/notesMaster" Target="/ppt/notesMasters/notesMaster1.xml" Id="R85937f2283f34c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07eacc293a4ea5" /><Relationship Type="http://schemas.openxmlformats.org/officeDocument/2006/relationships/notesMaster" Target="/ppt/notesMasters/notesMaster1.xml" Id="R3cb21dcd104e48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773ee5ab7443df" /><Relationship Type="http://schemas.openxmlformats.org/officeDocument/2006/relationships/notesMaster" Target="/ppt/notesMasters/notesMaster1.xml" Id="R901808f62b8e4d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22b4e4638143c2" /><Relationship Type="http://schemas.openxmlformats.org/officeDocument/2006/relationships/notesMaster" Target="/ppt/notesMasters/notesMaster1.xml" Id="Rbef2463945e341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422b4c73af487c" /><Relationship Type="http://schemas.openxmlformats.org/officeDocument/2006/relationships/notesMaster" Target="/ppt/notesMasters/notesMaster1.xml" Id="R461b33e96a1f45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5d273921ad4f43" /><Relationship Type="http://schemas.openxmlformats.org/officeDocument/2006/relationships/notesMaster" Target="/ppt/notesMasters/notesMaster1.xml" Id="Rf0f102580deb47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8cbe040815a4138" /><Relationship Type="http://schemas.openxmlformats.org/officeDocument/2006/relationships/notesMaster" Target="/ppt/notesMasters/notesMaster1.xml" Id="R46e8e4cc59784a8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fca25a95944978" /><Relationship Type="http://schemas.openxmlformats.org/officeDocument/2006/relationships/notesMaster" Target="/ppt/notesMasters/notesMaster1.xml" Id="Re5b42edf9a2045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6166331ed884715" /><Relationship Type="http://schemas.openxmlformats.org/officeDocument/2006/relationships/notesMaster" Target="/ppt/notesMasters/notesMaster1.xml" Id="R6fe9507de439405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02502aa084a4450" /><Relationship Type="http://schemas.openxmlformats.org/officeDocument/2006/relationships/notesMaster" Target="/ppt/notesMasters/notesMaster1.xml" Id="Rc6fa140799e0456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4ef303225f41fc" /><Relationship Type="http://schemas.openxmlformats.org/officeDocument/2006/relationships/notesMaster" Target="/ppt/notesMasters/notesMaster1.xml" Id="Re721e4b95a714f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4c6cad0b594d23" /><Relationship Type="http://schemas.openxmlformats.org/officeDocument/2006/relationships/notesMaster" Target="/ppt/notesMasters/notesMaster1.xml" Id="R900ff2747e3140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CSP ist ein Customer Service Portal, das vorhandene Servicequellen in einem eigenen Einstieg bündelt. Wir verkaufen das Projekt für Einrichtung, Anpassung, Integration und Übergabe. Der Produktcode ist Open Source. Ihr Team kann ihn mit den mitgelieferten Skills weiterentwickeln. Fragen Sie zum Einstieg, welche wiederkehrende Anfrage heute unnötig viele Rückfragen verursacht.</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Kundenpitch: Folien 1–8 und 13–18; passende Vergleichsfolie 10, 11 oder 12 ergänzen. Folie 9: optionale Marktübersicht. Folie 19: intern. Folie 20: technische Details. Folien 21–24: Preis- und Quellenanhang. Vollständige Recherche: competition-research-2026-10-14.md.</a:t>
            </a:r>
          </a:p>
          <a:p xmlns:a="http://schemas.openxmlformats.org/drawingml/2006/main">
            <a:r>
              <a:t/>
            </a:r>
          </a:p>
          <a:p xmlns:a="http://schemas.openxmlformats.org/drawingml/2006/main">
            <a:r>
              <a:t>Kernpitch, ca. 10 Minuten für Folien 1–18. Folie 19 dient der internen Diskussion, Folie 20 technischen Rückfragen. Einstieg: CSP bündelt Supportzugänge und Wissen in einem eigenen Portal. Das Projektangebot umfasst Einrichtung und Integration.</a:t>
            </a:r>
          </a:p>
          <a:p xmlns:a="http://schemas.openxmlformats.org/drawingml/2006/main">
            <a:r>
              <a:t/>
            </a:r>
          </a:p>
          <a:p xmlns:a="http://schemas.openxmlformats.org/drawingml/2006/main">
            <a:r>
              <a:t>Quelle: https://github.com/kieksme/csp-brand/blob/main/brand/README.md</a:t>
            </a:r>
          </a:p>
          <a:p xmlns:a="http://schemas.openxmlformats.org/drawingml/2006/main">
            <a:r>
              <a:t>Original-Logo: brand/assets/logo-light.svg, Nutzungsregeln BRAND-LICENSE.md. Arial dient als portabler Fallback für PowerPoint.</a:t>
            </a:r>
          </a:p>
          <a:p xmlns:a="http://schemas.openxmlformats.org/drawingml/2006/main">
            <a:r>
              <a:t/>
            </a:r>
          </a:p>
          <a:p xmlns:a="http://schemas.openxmlformats.org/drawingml/2006/main">
            <a:r>
              <a:t>DETAILS DER BISHERIGEN FOLIE</a:t>
            </a:r>
          </a:p>
          <a:p xmlns:a="http://schemas.openxmlformats.org/drawingml/2006/main">
            <a:r>
              <a:t>Customer Service Portal</a:t>
            </a:r>
          </a:p>
          <a:p xmlns:a="http://schemas.openxmlformats.org/drawingml/2006/main">
            <a:r>
              <a:t>Kundenservice</a:t>
            </a:r>
          </a:p>
          <a:p xmlns:a="http://schemas.openxmlformats.org/drawingml/2006/main">
            <a:r>
              <a:t>mit freier Wahl</a:t>
            </a:r>
          </a:p>
          <a:p xmlns:a="http://schemas.openxmlformats.org/drawingml/2006/main">
            <a:r>
              <a:t>Open Source. Individuell eingerichtet.</a:t>
            </a:r>
          </a:p>
          <a:p xmlns:a="http://schemas.openxmlformats.org/drawingml/2006/main">
            <a:r>
              <a:t>Mit Ihrem Team weiterentwickelt.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Diese Fragen beschreiben eine typische Ausgangslage, keine erhobene Marktstatistik. Informationen verteilen sich oft auf Monitoring, Kontaktlisten und Wissensseiten. CSP soll den Einstieg erleichtern und die passenden Informationen früher sichtbar machen. Lassen Sie die Zuhörer eine konkrete Anfrage aus ihrem Alltag nennen und knüpfen Sie den weiteren Pitch daran an.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Als typische Situation beschreiben, nicht als erhobenen Marktbeleg. Fragen Sie die Zuhörer, welche Frage in ihrem Support besonders oft vorkommt. CSP soll die passenden Informationen früher im Prozess sichtbar machen.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https://github.com/kieksme/csp/blob/main/docs/plugins.md</a:t>
            </a:r>
          </a:p>
          <a:p xmlns:a="http://schemas.openxmlformats.org/drawingml/2006/main">
            <a:r>
              <a:t/>
            </a:r>
          </a:p>
          <a:p xmlns:a="http://schemas.openxmlformats.org/drawingml/2006/main">
            <a:r>
              <a:t>DETAILS DER BISHERIGEN FOLIE</a:t>
            </a:r>
          </a:p>
          <a:p xmlns:a="http://schemas.openxmlformats.org/drawingml/2006/main">
            <a:r>
              <a:t>AUSGANGSLAGE</a:t>
            </a:r>
          </a:p>
          <a:p xmlns:a="http://schemas.openxmlformats.org/drawingml/2006/main">
            <a:r>
              <a:t>Der Support beginnt oft mit Rückfragen</a:t>
            </a:r>
          </a:p>
          <a:p xmlns:a="http://schemas.openxmlformats.org/drawingml/2006/main">
            <a:r>
              <a:t>CSP by kieks.me</a:t>
            </a:r>
          </a:p>
          <a:p xmlns:a="http://schemas.openxmlformats.org/drawingml/2006/main">
            <a:r>
              <a:t>02</a:t>
            </a:r>
          </a:p>
          <a:p xmlns:a="http://schemas.openxmlformats.org/drawingml/2006/main">
            <a:r>
              <a:t>„Ist mein System gestört?“</a:t>
            </a:r>
          </a:p>
          <a:p xmlns:a="http://schemas.openxmlformats.org/drawingml/2006/main">
            <a:r>
              <a:t>„Wer ist gerade zuständig?“</a:t>
            </a:r>
          </a:p>
          <a:p xmlns:a="http://schemas.openxmlformats.org/drawingml/2006/main">
            <a:r>
              <a:t>„Wo finde ich die richtige Anleitung?“</a:t>
            </a:r>
          </a:p>
          <a:p xmlns:a="http://schemas.openxmlformats.org/drawingml/2006/main">
            <a:r>
              <a:t>Informationen aus verschiedenen Quellen machen den Einstieg</a:t>
            </a:r>
          </a:p>
          <a:p xmlns:a="http://schemas.openxmlformats.org/drawingml/2006/main">
            <a:r>
              <a:t>unnötig aufwendig. Ein gemeinsames Portal schafft Orientierung.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Zeigen Sie im Screenshot Kontakte, Bereitschaften, Systemstatus und den Assistenten. Die Ansicht stammt aus einer synthetischen Acme-Demo, nicht aus einem echten Kundenprojekt. Der Assistent nutzt die Inhalte und Live-Quellen der eigenen Instanz. Links und Vorlagen führen zu vorhandenen Ticketsystemen; das Portal ersetzt keine vollständige Ticketverwaltung.</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Die Ansicht stammt aus der synthetischen Acme-Demo. Keine Kundenreferenz und keine echten Kundendaten. Zeigen Sie Bereitschaft, Status und Assistenten im Screenshot. Ticketlinks führen in vorhandene Systeme. Das Portal stellt keine automatische Ticketanlage durch die KI in Aussicht.</a:t>
            </a:r>
          </a:p>
          <a:p xmlns:a="http://schemas.openxmlformats.org/drawingml/2006/main">
            <a:r>
              <a:t/>
            </a:r>
          </a:p>
          <a:p xmlns:a="http://schemas.openxmlformats.org/drawingml/2006/main">
            <a:r>
              <a:t>Quellen / Grundlage:</a:t>
            </a:r>
          </a:p>
          <a:p xmlns:a="http://schemas.openxmlformats.org/drawingml/2006/main">
            <a:r>
              <a:t>https://github.com/kieksme/csp/blob/main/docs/plugins.md</a:t>
            </a:r>
          </a:p>
          <a:p xmlns:a="http://schemas.openxmlformats.org/drawingml/2006/main">
            <a:r>
              <a:t>https://github.com/kieksme/csp-acme</a:t>
            </a:r>
          </a:p>
          <a:p xmlns:a="http://schemas.openxmlformats.org/drawingml/2006/main">
            <a:r>
              <a:t>https://github.com/kieksme/csp-brand/blob/main/THIRD-PARTY-NOTICES.md</a:t>
            </a:r>
          </a:p>
          <a:p xmlns:a="http://schemas.openxmlformats.org/drawingml/2006/main">
            <a:r>
              <a:t/>
            </a:r>
          </a:p>
          <a:p xmlns:a="http://schemas.openxmlformats.org/drawingml/2006/main">
            <a:r>
              <a:t>DETAILS DER BISHERIGEN FOLIE</a:t>
            </a:r>
          </a:p>
          <a:p xmlns:a="http://schemas.openxmlformats.org/drawingml/2006/main">
            <a:r>
              <a:t>DAS PRODUKT</a:t>
            </a:r>
          </a:p>
          <a:p xmlns:a="http://schemas.openxmlformats.org/drawingml/2006/main">
            <a:r>
              <a:t>Ein Einstieg für Support und Systemstatus</a:t>
            </a:r>
          </a:p>
          <a:p xmlns:a="http://schemas.openxmlformats.org/drawingml/2006/main">
            <a:r>
              <a:t>CSP by kieks.me</a:t>
            </a:r>
          </a:p>
          <a:p xmlns:a="http://schemas.openxmlformats.org/drawingml/2006/main">
            <a:r>
              <a:t>03</a:t>
            </a:r>
          </a:p>
          <a:p xmlns:a="http://schemas.openxmlformats.org/drawingml/2006/main">
            <a:r>
              <a:t>Kunden finden Kontakte,</a:t>
            </a:r>
          </a:p>
          <a:p xmlns:a="http://schemas.openxmlformats.org/drawingml/2006/main">
            <a:r>
              <a:t>Bereitschaften, Status</a:t>
            </a:r>
          </a:p>
          <a:p xmlns:a="http://schemas.openxmlformats.org/drawingml/2006/main">
            <a:r>
              <a:t>und Supportwissen</a:t>
            </a:r>
          </a:p>
          <a:p xmlns:a="http://schemas.openxmlformats.org/drawingml/2006/main">
            <a:r>
              <a:t>an einem Ort.</a:t>
            </a:r>
          </a:p>
          <a:p xmlns:a="http://schemas.openxmlformats.org/drawingml/2006/main">
            <a:r>
              <a:t>Der Assistent nutzt die</a:t>
            </a:r>
          </a:p>
          <a:p xmlns:a="http://schemas.openxmlformats.org/drawingml/2006/main">
            <a:r>
              <a:t>Inhalte und Live-Quellen</a:t>
            </a:r>
          </a:p>
          <a:p xmlns:a="http://schemas.openxmlformats.org/drawingml/2006/main">
            <a:r>
              <a:t>der eigenen Instanz.</a:t>
            </a:r>
          </a:p>
          <a:p xmlns:a="http://schemas.openxmlformats.org/drawingml/2006/main">
            <a:r>
              <a:t>Produktdemo mit synthetischen Daten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Unser Ziel ist, 80 Prozent der Serviceanfragen sinnvoll vorzufiltern. Es gibt dafür noch keine eigene Messung. Vorfiltern heißt beispielsweise, Kontext zu sammeln, Fragen einzuordnen und auf passende Inhalte hinzuweisen. Es ist weder eine Quote vollständig gelöster Fälle noch eine garantierte Kostensenkung. Im Pilot prüfen wir, ob weniger Rückfragen den Teamaufwand senken, und berücksichtigen die Pflege der Wissensbasis sowie Betriebs- und Modellkosten.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Die 80 Prozent stammen aus der vom Auftraggeber gesetzten Zielsetzung. Es gibt noch keine eigene Messung. Vorfiltern heißt zum Beispiel Kontext sammeln, Fragen einordnen und auf passende Inhalte hinweisen. Das ist weder eine Lösungsquote noch eine garantierte Kostensenkung. Der Pilot muss zeigen, was mit den tatsächlichen Anfragen und Wissensquellen erreichbar ist.</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https://github.com/kieksme/csp/blob/main/docs/chat.md</a:t>
            </a:r>
          </a:p>
          <a:p xmlns:a="http://schemas.openxmlformats.org/drawingml/2006/main">
            <a:r>
              <a:t>Zielwert vom Auftraggeber, ausdrücklich noch keine eigene Messung.</a:t>
            </a:r>
          </a:p>
          <a:p xmlns:a="http://schemas.openxmlformats.org/drawingml/2006/main">
            <a:r>
              <a:t/>
            </a:r>
          </a:p>
          <a:p xmlns:a="http://schemas.openxmlformats.org/drawingml/2006/main">
            <a:r>
              <a:t>DETAILS DER BISHERIGEN FOLIE</a:t>
            </a:r>
          </a:p>
          <a:p xmlns:a="http://schemas.openxmlformats.org/drawingml/2006/main">
            <a:r>
              <a:t>ENTLASTUNG</a:t>
            </a:r>
          </a:p>
          <a:p xmlns:a="http://schemas.openxmlformats.org/drawingml/2006/main">
            <a:r>
              <a:t>KI-Vorfilterung mit messbarem Ziel</a:t>
            </a:r>
          </a:p>
          <a:p xmlns:a="http://schemas.openxmlformats.org/drawingml/2006/main">
            <a:r>
              <a:t>CSP by kieks.me</a:t>
            </a:r>
          </a:p>
          <a:p xmlns:a="http://schemas.openxmlformats.org/drawingml/2006/main">
            <a:r>
              <a:t>04</a:t>
            </a:r>
          </a:p>
          <a:p xmlns:a="http://schemas.openxmlformats.org/drawingml/2006/main">
            <a:r>
              <a:t>80 %</a:t>
            </a:r>
          </a:p>
          <a:p xmlns:a="http://schemas.openxmlformats.org/drawingml/2006/main">
            <a:r>
              <a:t>Zielwert für die Vorfilterung</a:t>
            </a:r>
          </a:p>
          <a:p xmlns:a="http://schemas.openxmlformats.org/drawingml/2006/main">
            <a:r>
              <a:t>von Serviceanfragen</a:t>
            </a:r>
          </a:p>
          <a:p xmlns:a="http://schemas.openxmlformats.org/drawingml/2006/main">
            <a:r>
              <a:t>Noch keine eigene Messung.</a:t>
            </a:r>
          </a:p>
          <a:p xmlns:a="http://schemas.openxmlformats.org/drawingml/2006/main">
            <a:r>
              <a:t>Keine garantierte Einsparung.</a:t>
            </a:r>
          </a:p>
          <a:p xmlns:a="http://schemas.openxmlformats.org/drawingml/2006/main">
            <a:r>
              <a:t>Weniger manuelle Rückfragen</a:t>
            </a:r>
          </a:p>
          <a:p xmlns:a="http://schemas.openxmlformats.org/drawingml/2006/main">
            <a:r>
              <a:t>können Bearbeitungszeit</a:t>
            </a:r>
          </a:p>
          <a:p xmlns:a="http://schemas.openxmlformats.org/drawingml/2006/main">
            <a:r>
              <a:t>und Kosten senken.</a:t>
            </a:r>
          </a:p>
          <a:p xmlns:a="http://schemas.openxmlformats.org/drawingml/2006/main">
            <a:r>
              <a:t>Wir prüfen den Effekt im Pilot</a:t>
            </a:r>
          </a:p>
          <a:p xmlns:a="http://schemas.openxmlformats.org/drawingml/2006/main">
            <a:r>
              <a:t>mit Ihren realen Anfragearten</a:t>
            </a:r>
          </a:p>
          <a:p xmlns:a="http://schemas.openxmlformats.org/drawingml/2006/main">
            <a:r>
              <a:t>und Ihrer Wissensbasis.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KI ist optional: Nutzer können direkt die Hotline wählen oder in einem eingerichteten Support-Plugin eine menschliche Übernahme anfordern, auch ohne vorherige KI-Frage. Das Supportteam übernimmt ausdrücklich; anschließend pausiert der Bot. Teams, Slack und Telegram setzen das Chat-Plugin und die jeweiligen Zugänge voraus. Die Erreichbarkeit richtet sich nach den vereinbarten Servicezeiten. Keine sofortige oder ständig besetzte Verbindung versprechen.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Die KI ist optional. Kunden können die Hotline nutzen oder mit einem eingerichteten Support-Plugin eine menschliche Übernahme anfordern, auch vor der ersten Nachricht an die KI. Das Supportteam übernimmt ausdrücklich, danach pausiert der Bot. Die tatsächliche Erreichbarkeit richtet sich nach den vereinbarten Servicezeiten. Kein Versprechen einer sofortigen Verbindung oder 24/7-Besetzung.</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https://github.com/kieksme/csp/blob/main/docs/chat.md</a:t>
            </a:r>
          </a:p>
          <a:p xmlns:a="http://schemas.openxmlformats.org/drawingml/2006/main">
            <a:r>
              <a:t>https://github.com/kieksme/csp/blob/main/docs/teams-support.md</a:t>
            </a:r>
          </a:p>
          <a:p xmlns:a="http://schemas.openxmlformats.org/drawingml/2006/main">
            <a:r>
              <a:t>https://github.com/kieksme/csp/blob/main/docs/slack-support.md</a:t>
            </a:r>
          </a:p>
          <a:p xmlns:a="http://schemas.openxmlformats.org/drawingml/2006/main">
            <a:r>
              <a:t>https://github.com/kieksme/csp/blob/main/docs/telegram-support.md</a:t>
            </a:r>
          </a:p>
          <a:p xmlns:a="http://schemas.openxmlformats.org/drawingml/2006/main">
            <a:r>
              <a:t/>
            </a:r>
          </a:p>
          <a:p xmlns:a="http://schemas.openxmlformats.org/drawingml/2006/main">
            <a:r>
              <a:t>DETAILS DER BISHERIGEN FOLIE</a:t>
            </a:r>
          </a:p>
          <a:p xmlns:a="http://schemas.openxmlformats.org/drawingml/2006/main">
            <a:r>
              <a:t>FREIE WAHL</a:t>
            </a:r>
          </a:p>
          <a:p xmlns:a="http://schemas.openxmlformats.org/drawingml/2006/main">
            <a:r>
              <a:t>Der Mensch bleibt direkt erreichbar</a:t>
            </a:r>
          </a:p>
          <a:p xmlns:a="http://schemas.openxmlformats.org/drawingml/2006/main">
            <a:r>
              <a:t>CSP by kieks.me</a:t>
            </a:r>
          </a:p>
          <a:p xmlns:a="http://schemas.openxmlformats.org/drawingml/2006/main">
            <a:r>
              <a:t>05</a:t>
            </a:r>
          </a:p>
          <a:p xmlns:a="http://schemas.openxmlformats.org/drawingml/2006/main">
            <a:r>
              <a:t>KI-Assistent auf Wunsch</a:t>
            </a:r>
          </a:p>
          <a:p xmlns:a="http://schemas.openxmlformats.org/drawingml/2006/main">
            <a:r>
              <a:t>Fragen einordnen, passende Inhalte</a:t>
            </a:r>
          </a:p>
          <a:p xmlns:a="http://schemas.openxmlformats.org/drawingml/2006/main">
            <a:r>
              <a:t>finden und Kontext für den Support</a:t>
            </a:r>
          </a:p>
          <a:p xmlns:a="http://schemas.openxmlformats.org/drawingml/2006/main">
            <a:r>
              <a:t>vorbereiten.</a:t>
            </a:r>
          </a:p>
          <a:p xmlns:a="http://schemas.openxmlformats.org/drawingml/2006/main">
            <a:r>
              <a:t>Direkt zum Serviceteam</a:t>
            </a:r>
          </a:p>
          <a:p xmlns:a="http://schemas.openxmlformats.org/drawingml/2006/main">
            <a:r>
              <a:t>KI jederzeit überspringen.</a:t>
            </a:r>
          </a:p>
          <a:p xmlns:a="http://schemas.openxmlformats.org/drawingml/2006/main">
            <a:r>
              <a:t>Hotline nutzen oder menschliche</a:t>
            </a:r>
          </a:p>
          <a:p xmlns:a="http://schemas.openxmlformats.org/drawingml/2006/main">
            <a:r>
              <a:t>Chat-Übernahme anfordern.</a:t>
            </a:r>
          </a:p>
          <a:p xmlns:a="http://schemas.openxmlformats.org/drawingml/2006/main">
            <a:r>
              <a:t>Bei menschlicher Übernahme pausiert der Bot.</a:t>
            </a:r>
          </a:p>
          <a:p xmlns:a="http://schemas.openxmlformats.org/drawingml/2006/main">
            <a:r>
              <a:t>Chat-Zugang erfordert ein eingerichtetes Support-Plugin.</a:t>
            </a:r>
          </a:p>
          <a:p xmlns:a="http://schemas.openxmlformats.org/drawingml/2006/main">
            <a:r>
              <a:t>Die vereinbarten Servicezeiten gelten.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Der geprüfte Katalog umfasst acht Plugins. Kontakt zeigt Hotline und Kontaktinformationen. SIGNL4 liefert Bereitschaften und Alerts, Uptime Kuma Monitorstatus und Vorfälle. Inhalte und FAQ bündeln Prozesse, Ticketlinks und kopierbare Vorlagen. KI-Chat nutzt Portalwissen und Live-Quellen. Teams, Slack und Telegram ermöglichen menschliche Übernahme und benötigen das Chat-Plugin. Für jedes Kundenprojekt müssen Provider-Zugänge, Konfiguration und Live-Verbindungen geprüft werden.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Der Katalog entspricht der geprüften Produktbaseline CSP 0.13.4. Teams, Slack und Telegram bauen auf dem Chat-Plugin auf. Integrationen brauchen die jeweiligen Zugänge und Konfiguration. Live-Verbindungen der Support-Provider sind pro Kundenprojekt zu verifizieren. SIGNL4 und Uptime Kuma liefern Informationen aus vorhandenen Quellen. Inhalte &amp; FAQ bieten Links und kopierbare Vorlagen für externe Ticketsysteme.</a:t>
            </a:r>
          </a:p>
          <a:p xmlns:a="http://schemas.openxmlformats.org/drawingml/2006/main">
            <a:r>
              <a:t/>
            </a:r>
          </a:p>
          <a:p xmlns:a="http://schemas.openxmlformats.org/drawingml/2006/main">
            <a:r>
              <a:t>Quellen / Grundlage:</a:t>
            </a:r>
          </a:p>
          <a:p xmlns:a="http://schemas.openxmlformats.org/drawingml/2006/main">
            <a:r>
              <a:t>https://github.com/kieksme/csp/blob/main/docs/plugins.md</a:t>
            </a:r>
          </a:p>
          <a:p xmlns:a="http://schemas.openxmlformats.org/drawingml/2006/main">
            <a:r>
              <a:t>https://github.com/kieksme/csp-brand/blob/main/src/data/plugins.ts</a:t>
            </a:r>
          </a:p>
          <a:p xmlns:a="http://schemas.openxmlformats.org/drawingml/2006/main">
            <a:r>
              <a:t/>
            </a:r>
          </a:p>
          <a:p xmlns:a="http://schemas.openxmlformats.org/drawingml/2006/main">
            <a:r>
              <a:t>DETAILS DER BISHERIGEN FOLIE</a:t>
            </a:r>
          </a:p>
          <a:p xmlns:a="http://schemas.openxmlformats.org/drawingml/2006/main">
            <a:r>
              <a:t>FUNKTIONSUMFANG</a:t>
            </a:r>
          </a:p>
          <a:p xmlns:a="http://schemas.openxmlformats.org/drawingml/2006/main">
            <a:r>
              <a:t>Acht Plugins für Ihr Serviceportal</a:t>
            </a:r>
          </a:p>
          <a:p xmlns:a="http://schemas.openxmlformats.org/drawingml/2006/main">
            <a:r>
              <a:t>CSP by kieks.me</a:t>
            </a:r>
          </a:p>
          <a:p xmlns:a="http://schemas.openxmlformats.org/drawingml/2006/main">
            <a:r>
              <a:t>06</a:t>
            </a:r>
          </a:p>
          <a:p xmlns:a="http://schemas.openxmlformats.org/drawingml/2006/main">
            <a:r>
              <a:t>Kontakt</a:t>
            </a:r>
          </a:p>
          <a:p xmlns:a="http://schemas.openxmlformats.org/drawingml/2006/main">
            <a:r>
              <a:t>Hotline und Kontaktinformationen</a:t>
            </a:r>
          </a:p>
          <a:p xmlns:a="http://schemas.openxmlformats.org/drawingml/2006/main">
            <a:r>
              <a:t>SIGNL4</a:t>
            </a:r>
          </a:p>
          <a:p xmlns:a="http://schemas.openxmlformats.org/drawingml/2006/main">
            <a:r>
              <a:t>Bereitschaften und aktuelle Alerts</a:t>
            </a:r>
          </a:p>
          <a:p xmlns:a="http://schemas.openxmlformats.org/drawingml/2006/main">
            <a:r>
              <a:t>Uptime Kuma</a:t>
            </a:r>
          </a:p>
          <a:p xmlns:a="http://schemas.openxmlformats.org/drawingml/2006/main">
            <a:r>
              <a:t>Monitorstatus und Vorfälle</a:t>
            </a:r>
          </a:p>
          <a:p xmlns:a="http://schemas.openxmlformats.org/drawingml/2006/main">
            <a:r>
              <a:t>Inhalte &amp; FAQ</a:t>
            </a:r>
          </a:p>
          <a:p xmlns:a="http://schemas.openxmlformats.org/drawingml/2006/main">
            <a:r>
              <a:t>Prozesse und Ticketvorlagen</a:t>
            </a:r>
          </a:p>
          <a:p xmlns:a="http://schemas.openxmlformats.org/drawingml/2006/main">
            <a:r>
              <a:t>KI-Chat</a:t>
            </a:r>
          </a:p>
          <a:p xmlns:a="http://schemas.openxmlformats.org/drawingml/2006/main">
            <a:r>
              <a:t>Antworten aus Portalwissen und Live-Quellen</a:t>
            </a:r>
          </a:p>
          <a:p xmlns:a="http://schemas.openxmlformats.org/drawingml/2006/main">
            <a:r>
              <a:t>Microsoft Teams</a:t>
            </a:r>
          </a:p>
          <a:p xmlns:a="http://schemas.openxmlformats.org/drawingml/2006/main">
            <a:r>
              <a:t>Menschlicher Support im Channel-Thread</a:t>
            </a:r>
          </a:p>
          <a:p xmlns:a="http://schemas.openxmlformats.org/drawingml/2006/main">
            <a:r>
              <a:t>Slack</a:t>
            </a:r>
          </a:p>
          <a:p xmlns:a="http://schemas.openxmlformats.org/drawingml/2006/main">
            <a:r>
              <a:t>Übernahme im Support-Channel</a:t>
            </a:r>
          </a:p>
          <a:p xmlns:a="http://schemas.openxmlformats.org/drawingml/2006/main">
            <a:r>
              <a:t>Telegram</a:t>
            </a:r>
          </a:p>
          <a:p xmlns:a="http://schemas.openxmlformats.org/drawingml/2006/main">
            <a:r>
              <a:t>Ein Forum-Thema je Gespräch</a:t>
            </a:r>
          </a:p>
          <a:p xmlns:a="http://schemas.openxmlformats.org/drawingml/2006/main">
            <a:r>
              <a:t>Provider-Zugänge und Live-Anbindungen prüfen wir im Kundenprojekt.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CSP-Code ist MIT-lizenziert. Verkauft werden Einrichtung, Anpassung, Integration und Übergabe als individuell vereinbartes Projekt. Es gibt keine verpflichtende CSP-Lizenz-, Sitzplatz- oder KI-Lösungsgebühr. Hosting, KI-Anbieter und externe Dienste können laufende Kosten verursachen. Wartung und Wissenspflege brauchen ebenfalls Budget. Die Logos und Markenassets unterliegen gesonderten Brand-Regeln. Keine kostenlose Gesamtrechnung behaupten.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CSP-Code ist MIT lizenziert. Verkauft werden Einrichtung, Anpassung, Integration und Übergabe. Keine laufende CSP-Lizenzgebühr und kein verpflichtendes CSP-Abonnement. Betrieb, KI und externe Anbieter können eigene laufende Kosten verursachen. Markenassets haben gesonderte Nutzungsregeln. Keine unbelegten Aussagen über Wettbewerber oder eine kostenlose Gesamtbetriebsrechnung.</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https://github.com/kieksme/csp/blob/main/LICENSE</a:t>
            </a:r>
          </a:p>
          <a:p xmlns:a="http://schemas.openxmlformats.org/drawingml/2006/main">
            <a:r>
              <a:t>https://github.com/kieksme/csp-brand/blob/main/docs/handover.md</a:t>
            </a:r>
          </a:p>
          <a:p xmlns:a="http://schemas.openxmlformats.org/drawingml/2006/main">
            <a:r>
              <a:t/>
            </a:r>
          </a:p>
          <a:p xmlns:a="http://schemas.openxmlformats.org/drawingml/2006/main">
            <a:r>
              <a:t>DETAILS DER BISHERIGEN FOLIE</a:t>
            </a:r>
          </a:p>
          <a:p xmlns:a="http://schemas.openxmlformats.org/drawingml/2006/main">
            <a:r>
              <a:t>GESCHÄFTSMODELL</a:t>
            </a:r>
          </a:p>
          <a:p xmlns:a="http://schemas.openxmlformats.org/drawingml/2006/main">
            <a:r>
              <a:t>Open Source mit Projektangebot</a:t>
            </a:r>
          </a:p>
          <a:p xmlns:a="http://schemas.openxmlformats.org/drawingml/2006/main">
            <a:r>
              <a:t>CSP by kieks.me</a:t>
            </a:r>
          </a:p>
          <a:p xmlns:a="http://schemas.openxmlformats.org/drawingml/2006/main">
            <a:r>
              <a:t>07</a:t>
            </a:r>
          </a:p>
          <a:p xmlns:a="http://schemas.openxmlformats.org/drawingml/2006/main">
            <a:r>
              <a:t>Das Produkt</a:t>
            </a:r>
          </a:p>
          <a:p xmlns:a="http://schemas.openxmlformats.org/drawingml/2006/main">
            <a:r>
              <a:t>CSP ist Open Source unter MIT.</a:t>
            </a:r>
          </a:p>
          <a:p xmlns:a="http://schemas.openxmlformats.org/drawingml/2006/main">
            <a:r>
              <a:t>Sie behalten Zugang zum Code</a:t>
            </a:r>
          </a:p>
          <a:p xmlns:a="http://schemas.openxmlformats.org/drawingml/2006/main">
            <a:r>
              <a:t>und können selbst weiterentwickeln.</a:t>
            </a:r>
          </a:p>
          <a:p xmlns:a="http://schemas.openxmlformats.org/drawingml/2006/main">
            <a:r>
              <a:t>Das Projekt</a:t>
            </a:r>
          </a:p>
          <a:p xmlns:a="http://schemas.openxmlformats.org/drawingml/2006/main">
            <a:r>
              <a:t>kieks.me richtet Ihr Portal ein</a:t>
            </a:r>
          </a:p>
          <a:p xmlns:a="http://schemas.openxmlformats.org/drawingml/2006/main">
            <a:r>
              <a:t>und integriert es in Ihre Systeme.</a:t>
            </a:r>
          </a:p>
          <a:p xmlns:a="http://schemas.openxmlformats.org/drawingml/2006/main">
            <a:r>
              <a:t>Die Übergabe gehört zum Angebot.</a:t>
            </a:r>
          </a:p>
          <a:p xmlns:a="http://schemas.openxmlformats.org/drawingml/2006/main">
            <a:r>
              <a:t>Keine CSP-Lizenzgebühr.</a:t>
            </a:r>
          </a:p>
          <a:p xmlns:a="http://schemas.openxmlformats.org/drawingml/2006/main">
            <a:r>
              <a:t>Kein verpflichtendes CSP-Abonnement.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Im Projektangebot werden Branding, Einrichtung, ausgewählte Integrationen, Tests, Dokumentation und Übergabe abgegrenzt. Hosting, Betrieb, Modellverbrauch und gegebenenfalls Lizenzen externer Dienste werden separat offengelegt. Weitere Unterstützung kann bei Bedarf beauftragt werden. Das Kundenteam kann auch selbst weiterentwickeln. Es gibt weder einen pauschalen Projektpreis noch ein Versprechen, dass CSP immer günstiger als jedes Konkurrenzprodukt ist.</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Die Darstellung beschreibt die Angebotslogik und ist kein verbindliches Angebot. Preis, Aufwand, Leistungen und Servicezeiten vereinbaren wir nach Klärung der Systeme und Anforderungen. Fremdkosten werden getrennt behandelt. Eine spätere Weiterentwicklung durch kieks.me ist ein gesonderter Auftrag und keine Pflicht. Keine Preise erfinden.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https://github.com/kieksme/csp-brand/blob/main/docs/handover.md</a:t>
            </a:r>
          </a:p>
          <a:p xmlns:a="http://schemas.openxmlformats.org/drawingml/2006/main">
            <a:r>
              <a:t/>
            </a:r>
          </a:p>
          <a:p xmlns:a="http://schemas.openxmlformats.org/drawingml/2006/main">
            <a:r>
              <a:t>DETAILS DER BISHERIGEN FOLIE</a:t>
            </a:r>
          </a:p>
          <a:p xmlns:a="http://schemas.openxmlformats.org/drawingml/2006/main">
            <a:r>
              <a:t>KOSTEN UND LEISTUNGSUMFANG</a:t>
            </a:r>
          </a:p>
          <a:p xmlns:a="http://schemas.openxmlformats.org/drawingml/2006/main">
            <a:r>
              <a:t>Ein transparentes Projektangebot</a:t>
            </a:r>
          </a:p>
          <a:p xmlns:a="http://schemas.openxmlformats.org/drawingml/2006/main">
            <a:r>
              <a:t>CSP by kieks.me</a:t>
            </a:r>
          </a:p>
          <a:p xmlns:a="http://schemas.openxmlformats.org/drawingml/2006/main">
            <a:r>
              <a:t>08</a:t>
            </a:r>
          </a:p>
          <a:p xmlns:a="http://schemas.openxmlformats.org/drawingml/2006/main">
            <a:r>
              <a:t>Im vereinbarten Projekt</a:t>
            </a:r>
          </a:p>
          <a:p xmlns:a="http://schemas.openxmlformats.org/drawingml/2006/main">
            <a:r>
              <a:t>Einrichtung und Branding</a:t>
            </a:r>
          </a:p>
          <a:p xmlns:a="http://schemas.openxmlformats.org/drawingml/2006/main">
            <a:r>
              <a:t>Integration der ausgewählten Plugins</a:t>
            </a:r>
          </a:p>
          <a:p xmlns:a="http://schemas.openxmlformats.org/drawingml/2006/main">
            <a:r>
              <a:t>Tests, Dokumentation und Übergabe</a:t>
            </a:r>
          </a:p>
          <a:p xmlns:a="http://schemas.openxmlformats.org/drawingml/2006/main">
            <a:r>
              <a:t>Separat offengelegt</a:t>
            </a:r>
          </a:p>
          <a:p xmlns:a="http://schemas.openxmlformats.org/drawingml/2006/main">
            <a:r>
              <a:t>Hosting und Betrieb</a:t>
            </a:r>
          </a:p>
          <a:p xmlns:a="http://schemas.openxmlformats.org/drawingml/2006/main">
            <a:r>
              <a:t>KI-Modelle oder API-Nutzung</a:t>
            </a:r>
          </a:p>
          <a:p xmlns:a="http://schemas.openxmlformats.org/drawingml/2006/main">
            <a:r>
              <a:t>Lizenzen externer Anbieter</a:t>
            </a:r>
          </a:p>
          <a:p xmlns:a="http://schemas.openxmlformats.org/drawingml/2006/main">
            <a:r>
              <a:t>Umfang und Fremdkosten sind vor dem Start klar.</a:t>
            </a:r>
          </a:p>
          <a:p xmlns:a="http://schemas.openxmlformats.org/drawingml/2006/main">
            <a:r>
              <a:t>Weitere Unterstützung können Sie bei Bedarf beauftragen.</a:t>
            </a:r>
          </a:p>
          <a:p xmlns:a="http://schemas.openxmlformats.org/drawingml/2006/main">
            <a:r>
              <a:t>Ihr Team kann das Portal auch selbst weiterentwickeln.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Recherche betrachtet elf Angebote aus drei Gruppen. Support-Suiten: Zendesk, Freshdesk Omni, Intercom und Crisp. ITSM und Plattformbaukasten: Jira Service Management Cloud, ServiceNow CSM sowie Copilot Studio mit Power Pages. Open Source: Zammad, Chatwoot CE, FreeScout und GLPI. Die Kategorien helfen bei der Beschaffung; sie sind keine Rangliste. Die Auswahl ist keine vollständige Marktinventur. Microsoft ist ein Baukasten und keine unmittelbar gleichartige Helpdesk-Suite.</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Auswahl von elf Angeboten, nicht vollständige Marktinventur. Kategorien erklären unterschiedliche Beschaffungswege, keine Rangliste. Microsoft ist ein Plattformbaukasten. SaaS-Pakete, Community Edition und Enterprise-Edition sauber trennen.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https://www.glpi-project.org/en/pricing/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WETTBEWERBSLANDSCHAFT</a:t>
            </a:r>
          </a:p>
          <a:p xmlns:a="http://schemas.openxmlformats.org/drawingml/2006/main">
            <a:r>
              <a:t>Der Markt bietet drei Wege</a:t>
            </a:r>
          </a:p>
          <a:p xmlns:a="http://schemas.openxmlformats.org/drawingml/2006/main">
            <a:r>
              <a:t>CSP by kieks.me</a:t>
            </a:r>
          </a:p>
          <a:p xmlns:a="http://schemas.openxmlformats.org/drawingml/2006/main">
            <a:r>
              <a:t>09</a:t>
            </a:r>
          </a:p>
          <a:p xmlns:a="http://schemas.openxmlformats.org/drawingml/2006/main">
            <a:r>
              <a:t>Support-Suiten</a:t>
            </a:r>
          </a:p>
          <a:p xmlns:a="http://schemas.openxmlformats.org/drawingml/2006/main">
            <a:r>
              <a:t>Zendesk · Freshdesk Omni · Intercom · Crisp</a:t>
            </a:r>
          </a:p>
          <a:p xmlns:a="http://schemas.openxmlformats.org/drawingml/2006/main">
            <a:r>
              <a:t>Ticketing, Inbox und KI als laufender Service.</a:t>
            </a:r>
          </a:p>
          <a:p xmlns:a="http://schemas.openxmlformats.org/drawingml/2006/main">
            <a:r>
              <a:t>ITSM &amp; Plattformen</a:t>
            </a:r>
          </a:p>
          <a:p xmlns:a="http://schemas.openxmlformats.org/drawingml/2006/main">
            <a:r>
              <a:t>Jira Service Management · ServiceNow</a:t>
            </a:r>
          </a:p>
          <a:p xmlns:a="http://schemas.openxmlformats.org/drawingml/2006/main">
            <a:r>
              <a:t>Copilot Studio + Power Pages</a:t>
            </a:r>
          </a:p>
          <a:p xmlns:a="http://schemas.openxmlformats.org/drawingml/2006/main">
            <a:r>
              <a:t>Umfassende Prozesse oder eigener Plattformbau.</a:t>
            </a:r>
          </a:p>
          <a:p xmlns:a="http://schemas.openxmlformats.org/drawingml/2006/main">
            <a:r>
              <a:t>Open Source</a:t>
            </a:r>
          </a:p>
          <a:p xmlns:a="http://schemas.openxmlformats.org/drawingml/2006/main">
            <a:r>
              <a:t>Zammad · Chatwoot CE · FreeScout · GLPI</a:t>
            </a:r>
          </a:p>
          <a:p xmlns:a="http://schemas.openxmlformats.org/drawingml/2006/main">
            <a:r>
              <a:t>Eigener Betrieb; teils optionale Pläne und Module.</a:t>
            </a:r>
          </a:p>
          <a:p xmlns:a="http://schemas.openxmlformats.org/drawingml/2006/main">
            <a:r>
              <a:t>Stand 14.10.2026 · CSP: eigenes Serviceportal plus Einrichtung, Integration und Übergabe.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kommerziellen Suiten bieten umfangreiche Werkzeuge für Agenten, Ticketing und KI. CSP unterscheidet sich durch das eigene MIT-Portal und die Übergabe zur Entwicklung im Kundenteam. Das ist kein Beleg, dass die Suiten keine Integrationen oder Schulungen anbieten. Fin kann vorhandene Helpdesks ergänzen. Crisp rechnet pro Workspace ab; eine pauschale Agentenpreis-Behauptung wäre falsch. Preisdetails und Abrechnungseinheiten finden Sie auf Folie 21 in den Notizen.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Kein funktionsgleicher Preisvergleich. Suites sind umfassender bei Ticketing. Crisp ist eine Workspace-Pauschale, also nicht pauschal pro Agent. Fin lässt sich auch vor vorhandenen Helpdesks nutzen. CSP darf keinen Exklusivitätsanspruch für Integration oder Human-Handoff stellen.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VERGLEICH · SAAS</a:t>
            </a:r>
          </a:p>
          <a:p xmlns:a="http://schemas.openxmlformats.org/drawingml/2006/main">
            <a:r>
              <a:t>Support-Suiten: starke Agentenwerkzeuge</a:t>
            </a:r>
          </a:p>
          <a:p xmlns:a="http://schemas.openxmlformats.org/drawingml/2006/main">
            <a:r>
              <a:t>CSP by kieks.me</a:t>
            </a:r>
          </a:p>
          <a:p xmlns:a="http://schemas.openxmlformats.org/drawingml/2006/main">
            <a:r>
              <a:t>10</a:t>
            </a:r>
          </a:p>
          <a:p xmlns:a="http://schemas.openxmlformats.org/drawingml/2006/main">
            <a:r>
              <a:t>CSP-Abgrenzung: MIT-Code und Skills zur eigenen Entwicklung. Vollständiges Ticketing bleibt extern.</a:t>
            </a:r>
          </a:p>
          <a:p xmlns:a="http://schemas.openxmlformats.org/drawingml/2006/main">
            <a:r>
              <a:t>Angebot | Schwerpunkt | Kostenmodell</a:t>
            </a:r>
          </a:p>
          <a:p xmlns:a="http://schemas.openxmlformats.org/drawingml/2006/main">
            <a:r>
              <a:t>Zendesk Suite | Ticketing, Wissen,</a:t>
            </a:r>
          </a:p>
          <a:p xmlns:a="http://schemas.openxmlformats.org/drawingml/2006/main">
            <a:r>
              <a:t>Omnichannel und KI | Agentenplätze;</a:t>
            </a:r>
          </a:p>
          <a:p xmlns:a="http://schemas.openxmlformats.org/drawingml/2006/main">
            <a:r>
              <a:t>Nutzung und Add-ons</a:t>
            </a:r>
          </a:p>
          <a:p xmlns:a="http://schemas.openxmlformats.org/drawingml/2006/main">
            <a:r>
              <a:t>Freshdesk Omni | Portal, Routing,</a:t>
            </a:r>
          </a:p>
          <a:p xmlns:a="http://schemas.openxmlformats.org/drawingml/2006/main">
            <a:r>
              <a:t>Ticketing und Freddy | Agentenplätze +</a:t>
            </a:r>
          </a:p>
          <a:p xmlns:a="http://schemas.openxmlformats.org/drawingml/2006/main">
            <a:r>
              <a:t>KI-Sessions</a:t>
            </a:r>
          </a:p>
          <a:p xmlns:a="http://schemas.openxmlformats.org/drawingml/2006/main">
            <a:r>
              <a:t>Intercom + Fin | Messenger, Inbox,</a:t>
            </a:r>
          </a:p>
          <a:p xmlns:a="http://schemas.openxmlformats.org/drawingml/2006/main">
            <a:r>
              <a:t>KI-Agent und Abläufe | Sitzplätze + Outcomes;</a:t>
            </a:r>
          </a:p>
          <a:p xmlns:a="http://schemas.openxmlformats.org/drawingml/2006/main">
            <a:r>
              <a:t>Fin auch separat</a:t>
            </a:r>
          </a:p>
          <a:p xmlns:a="http://schemas.openxmlformats.org/drawingml/2006/main">
            <a:r>
              <a:t>Crisp + Hugo | Shared Inbox,</a:t>
            </a:r>
          </a:p>
          <a:p xmlns:a="http://schemas.openxmlformats.org/drawingml/2006/main">
            <a:r>
              <a:t>Livechat und KI | Workspace-Pakete;</a:t>
            </a:r>
          </a:p>
          <a:p xmlns:a="http://schemas.openxmlformats.org/drawingml/2006/main">
            <a:r>
              <a:t>Plätze und KI-Credits</a:t>
            </a:r>
          </a:p>
          <a:p xmlns:a="http://schemas.openxmlformats.org/drawingml/2006/main">
            <a:r>
              <a:t>CSP | Eigener Einstieg in</a:t>
            </a:r>
          </a:p>
          <a:p xmlns:a="http://schemas.openxmlformats.org/drawingml/2006/main">
            <a:r>
              <a:t>bestehende Servicequellen | Integrationsprojekt;</a:t>
            </a:r>
          </a:p>
          <a:p xmlns:a="http://schemas.openxmlformats.org/drawingml/2006/main">
            <a:r>
              <a:t>Betrieb separat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Jira Service Management bietet ITSM, Assets, Wissen, Bereitschaft und Supportkanäle. ServiceNow CSM deckt umfassende Enterprise-Serviceprozesse ab. Microsoft ermöglicht den Aufbau von Agenten und Portalen auf einer kommerziellen Plattform. CSP ist ein begrenztes Portal- und Integrationsprojekt; es ersetzt keine vollständige ITSM-Suite, CMDB oder Enterprise-CSM-Plattform. Zusätzliche Anbindungen sind Projektumfang und nicht automatisch im CSP-Katalog vorhanden. Der JSM-Vergleich bezieht sich auf Cloud.</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JSM Cloud/Service Collection, nicht Data Center. JSM hat eigene Bereitschaft, Assets, Wissen und Supportkanäle. ServiceNow Preise nur auf Anfrage, Virtual-Agent-Konversationen laut Preisseite unbegrenzt enthalten. Microsoft ist ein Baukasten mit separater Agenten- und Portalabrechnung sowie PAYG-Option.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VERGLEICH · ENTERPRISE &amp; BAUKASTEN</a:t>
            </a:r>
          </a:p>
          <a:p xmlns:a="http://schemas.openxmlformats.org/drawingml/2006/main">
            <a:r>
              <a:t>ITSM und Plattformen: mehr Prozessumfang</a:t>
            </a:r>
          </a:p>
          <a:p xmlns:a="http://schemas.openxmlformats.org/drawingml/2006/main">
            <a:r>
              <a:t>CSP by kieks.me</a:t>
            </a:r>
          </a:p>
          <a:p xmlns:a="http://schemas.openxmlformats.org/drawingml/2006/main">
            <a:r>
              <a:t>11</a:t>
            </a:r>
          </a:p>
          <a:p xmlns:a="http://schemas.openxmlformats.org/drawingml/2006/main">
            <a:r>
              <a:t>Diese Angebote können sich ergänzen. Zusätzliche CSP-Anbindungen sind projektspezifisch zu prüfen.</a:t>
            </a:r>
          </a:p>
          <a:p xmlns:a="http://schemas.openxmlformats.org/drawingml/2006/main">
            <a:r>
              <a:t>Angebot | Stärke / Umfang | CSP-Abgrenzung</a:t>
            </a:r>
          </a:p>
          <a:p xmlns:a="http://schemas.openxmlformats.org/drawingml/2006/main">
            <a:r>
              <a:t>JSM Cloud /</a:t>
            </a:r>
          </a:p>
          <a:p xmlns:a="http://schemas.openxmlformats.org/drawingml/2006/main">
            <a:r>
              <a:t>Service Collection | ITSM, Portale, Assets,</a:t>
            </a:r>
          </a:p>
          <a:p xmlns:a="http://schemas.openxmlformats.org/drawingml/2006/main">
            <a:r>
              <a:t>Workflows und Bereitschaft | Eigenes Portal und Code;</a:t>
            </a:r>
          </a:p>
          <a:p xmlns:a="http://schemas.openxmlformats.org/drawingml/2006/main">
            <a:r>
              <a:t>keine volle ITSM-Suite</a:t>
            </a:r>
          </a:p>
          <a:p xmlns:a="http://schemas.openxmlformats.org/drawingml/2006/main">
            <a:r>
              <a:t>ServiceNow CSM | Case Management,</a:t>
            </a:r>
          </a:p>
          <a:p xmlns:a="http://schemas.openxmlformats.org/drawingml/2006/main">
            <a:r>
              <a:t>Enterprise-Service und KI | Begrenztes Portalprojekt;</a:t>
            </a:r>
          </a:p>
          <a:p xmlns:a="http://schemas.openxmlformats.org/drawingml/2006/main">
            <a:r>
              <a:t>kein Enterprise-CSM-Ersatz</a:t>
            </a:r>
          </a:p>
          <a:p xmlns:a="http://schemas.openxmlformats.org/drawingml/2006/main">
            <a:r>
              <a:t>Copilot Studio</a:t>
            </a:r>
          </a:p>
          <a:p xmlns:a="http://schemas.openxmlformats.org/drawingml/2006/main">
            <a:r>
              <a:t>+ Power Pages | Agenten und Portale</a:t>
            </a:r>
          </a:p>
          <a:p xmlns:a="http://schemas.openxmlformats.org/drawingml/2006/main">
            <a:r>
              <a:t>auf Microsoft-Plattform | Vorhandene MIT-Basis</a:t>
            </a:r>
          </a:p>
          <a:p xmlns:a="http://schemas.openxmlformats.org/drawingml/2006/main">
            <a:r>
              <a:t>mit SDK und Skills</a:t>
            </a:r>
          </a:p>
          <a:p xmlns:a="http://schemas.openxmlformats.org/drawingml/2006/main">
            <a:r>
              <a:t>CSP | Kontakt, Status, Wissen,</a:t>
            </a:r>
          </a:p>
          <a:p xmlns:a="http://schemas.openxmlformats.org/drawingml/2006/main">
            <a:r>
              <a:t>KI und Supportzugänge | Integration ausgewählter</a:t>
            </a:r>
          </a:p>
          <a:p xmlns:a="http://schemas.openxmlformats.org/drawingml/2006/main">
            <a:r>
              <a:t>bestehender Quellen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engsten Alternativen sind freie Systeme im Eigenbetrieb. Zammad und FreeScout unterstützen ebenfalls eigene oder lokale KI-Modelle. Chatwoot Community Edition ist kostenlos; Captain gehört jedoch zu bezahlten Self-Hosting-Plänen. FreeScout bietet Einmalzahlungen für Erweiterungen und aktuell ein kostenloses KI-Assistenzmodul. GLPI ist umfangreicher bei ITSM und Assets. KI-Marktplätze wurden nicht vollständig inventarisiert: fehlende Belege bedeuten keine fehlende Funktion. Lizenz- und Preisdetails stehen in den Notizen.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Open Source und keine verpflichtende Softwarelizenz allein sind keine USPs. Zammad und FreeScout unterstützen eigene/lokale KI-Modelle. FreeScout-Modulkäufe sind einmalig, AI-Modul aktuell kostenlos. Chatwoot CE ist MIT, Captain in paid self-hosted Premium/Enterprise, nicht in CE. GLPI AI-Marktplatz nicht vollständig untersucht, keine Behauptung KI-abwesend.</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VERGLEICH · EIGENBETRIEB</a:t>
            </a:r>
          </a:p>
          <a:p xmlns:a="http://schemas.openxmlformats.org/drawingml/2006/main">
            <a:r>
              <a:t>Open Source: die engsten Alternativen</a:t>
            </a:r>
          </a:p>
          <a:p xmlns:a="http://schemas.openxmlformats.org/drawingml/2006/main">
            <a:r>
              <a:t>CSP by kieks.me</a:t>
            </a:r>
          </a:p>
          <a:p xmlns:a="http://schemas.openxmlformats.org/drawingml/2006/main">
            <a:r>
              <a:t>12</a:t>
            </a:r>
          </a:p>
          <a:p xmlns:a="http://schemas.openxmlformats.org/drawingml/2006/main">
            <a:r>
              <a:t>CSP verkauft die Einrichtung und Befähigung des Kundenteams. Eigenbetrieb braucht Wartung.</a:t>
            </a:r>
          </a:p>
          <a:p xmlns:a="http://schemas.openxmlformats.org/drawingml/2006/main">
            <a:r>
              <a:t>Angebot | Stärke / Lizenz | Wichtige Einordnung</a:t>
            </a:r>
          </a:p>
          <a:p xmlns:a="http://schemas.openxmlformats.org/drawingml/2006/main">
            <a:r>
              <a:t>Zammad | Ticketzentrierter Helpdesk</a:t>
            </a:r>
          </a:p>
          <a:p xmlns:a="http://schemas.openxmlformats.org/drawingml/2006/main">
            <a:r>
              <a:t>AGPLv3 | Eigene KI-Modelle;</a:t>
            </a:r>
          </a:p>
          <a:p xmlns:a="http://schemas.openxmlformats.org/drawingml/2006/main">
            <a:r>
              <a:t>Support / Cloud optional</a:t>
            </a:r>
          </a:p>
          <a:p xmlns:a="http://schemas.openxmlformats.org/drawingml/2006/main">
            <a:r>
              <a:t>Chatwoot CE | Shared Inbox, Livechat</a:t>
            </a:r>
          </a:p>
          <a:p xmlns:a="http://schemas.openxmlformats.org/drawingml/2006/main">
            <a:r>
              <a:t>MIT-Community-Code | Captain erst in bezahlten</a:t>
            </a:r>
          </a:p>
          <a:p xmlns:a="http://schemas.openxmlformats.org/drawingml/2006/main">
            <a:r>
              <a:t>Self-Hosting-Plänen</a:t>
            </a:r>
          </a:p>
          <a:p xmlns:a="http://schemas.openxmlformats.org/drawingml/2006/main">
            <a:r>
              <a:t>FreeScout | Shared Mailbox / Helpdesk</a:t>
            </a:r>
          </a:p>
          <a:p xmlns:a="http://schemas.openxmlformats.org/drawingml/2006/main">
            <a:r>
              <a:t>AGPL-3.0 | Module per Einmalzahlung;</a:t>
            </a:r>
          </a:p>
          <a:p xmlns:a="http://schemas.openxmlformats.org/drawingml/2006/main">
            <a:r>
              <a:t>KI-Assistenzmodul gratis</a:t>
            </a:r>
          </a:p>
          <a:p xmlns:a="http://schemas.openxmlformats.org/drawingml/2006/main">
            <a:r>
              <a:t>GLPI | ITSM und Asset / CMDB</a:t>
            </a:r>
          </a:p>
          <a:p xmlns:a="http://schemas.openxmlformats.org/drawingml/2006/main">
            <a:r>
              <a:t>GPL-3.0-or-later | Freier Eigenbetrieb;</a:t>
            </a:r>
          </a:p>
          <a:p xmlns:a="http://schemas.openxmlformats.org/drawingml/2006/main">
            <a:r>
              <a:t>Network / Cloud optional</a:t>
            </a:r>
          </a:p>
          <a:p xmlns:a="http://schemas.openxmlformats.org/drawingml/2006/main">
            <a:r>
              <a:t>CSP | Servicequellen-Portal</a:t>
            </a:r>
          </a:p>
          <a:p xmlns:a="http://schemas.openxmlformats.org/drawingml/2006/main">
            <a:r>
              <a:t>MIT-Code, eigene Skills | Status, Bereitschaft und</a:t>
            </a:r>
          </a:p>
          <a:p xmlns:a="http://schemas.openxmlformats.org/drawingml/2006/main">
            <a:r>
              <a:t>Übergabe im Projekt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Der stärkste USP ist die konkrete Kombination aus kundeneigenem MIT-Serviceportal, Integration vorhandener Quellen und Übergabe mit Entwicklungs-Skills. Plugin-SDK und gemeinsame UI-Komponenten unterstützen die Weiterentwicklung. Einzeln sind Open Source, freie Modellwahl, Integration und menschliche Übergabe auch am Markt vorhanden. Die Recherche belegt kein weltweit exklusives Merkmal. Formulieren Sie deshalb den Nutzen des Gesamtpakets und nicht eine pauschale Überlegenheit gegenüber allen Wettbewerbern.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Positionierung durch Kombination, kein belegtes weltweit exklusives Alleinstellungsmerkmal. Mitgelieferte Skills und shared UI sind CSP-Projektbestandteile. Mitbewerber bieten ebenfalls Integration, Beratung und Training. Human-Handoff und Modellwahl sind nicht exklusiv. Externe Kosten und Betriebsverantwortung offenlegen.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https://github.com/kieksme/csp-brand/blob/main/brand/README.md</a:t>
            </a:r>
          </a:p>
          <a:p xmlns:a="http://schemas.openxmlformats.org/drawingml/2006/main">
            <a:r>
              <a:t>https://zammad.com/en/pricing</a:t>
            </a:r>
          </a:p>
          <a:p xmlns:a="http://schemas.openxmlformats.org/drawingml/2006/main">
            <a:r>
              <a:t>https://freescout.net/modules-faq/</a:t>
            </a:r>
          </a:p>
          <a:p xmlns:a="http://schemas.openxmlformats.org/drawingml/2006/main">
            <a:r>
              <a:t>https://www.chatwoot.com/pricing/self-hosted-plans</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CSP-POSITIONIERUNG</a:t>
            </a:r>
          </a:p>
          <a:p xmlns:a="http://schemas.openxmlformats.org/drawingml/2006/main">
            <a:r>
              <a:t>Unser USP ist das Gesamtpaket</a:t>
            </a:r>
          </a:p>
          <a:p xmlns:a="http://schemas.openxmlformats.org/drawingml/2006/main">
            <a:r>
              <a:t>CSP by kieks.me</a:t>
            </a:r>
          </a:p>
          <a:p xmlns:a="http://schemas.openxmlformats.org/drawingml/2006/main">
            <a:r>
              <a:t>13</a:t>
            </a:r>
          </a:p>
          <a:p xmlns:a="http://schemas.openxmlformats.org/drawingml/2006/main">
            <a:r>
              <a:t>Ihr Portal. Ihre Servicequellen.</a:t>
            </a:r>
          </a:p>
          <a:p xmlns:a="http://schemas.openxmlformats.org/drawingml/2006/main">
            <a:r>
              <a:t>Ihr Team entwickelt weiter.</a:t>
            </a:r>
          </a:p>
          <a:p xmlns:a="http://schemas.openxmlformats.org/drawingml/2006/main">
            <a:r>
              <a:t>MIT-Produktcode</a:t>
            </a:r>
          </a:p>
          <a:p xmlns:a="http://schemas.openxmlformats.org/drawingml/2006/main">
            <a:r>
              <a:t>Eigene Änderungen mit Plugin-SDK und gemeinsamer UI.</a:t>
            </a:r>
          </a:p>
          <a:p xmlns:a="http://schemas.openxmlformats.org/drawingml/2006/main">
            <a:r>
              <a:t>Integration im Projekt</a:t>
            </a:r>
          </a:p>
          <a:p xmlns:a="http://schemas.openxmlformats.org/drawingml/2006/main">
            <a:r>
              <a:t>Status, Bereitschaft, Wissen und Supportzugänge bündeln.</a:t>
            </a:r>
          </a:p>
          <a:p xmlns:a="http://schemas.openxmlformats.org/drawingml/2006/main">
            <a:r>
              <a:t>Übergabe mit Skills</a:t>
            </a:r>
          </a:p>
          <a:p xmlns:a="http://schemas.openxmlformats.org/drawingml/2006/main">
            <a:r>
              <a:t>Ihr Team bekommt Code und dokumentierte Arbeitsabläufe.</a:t>
            </a:r>
          </a:p>
          <a:p xmlns:a="http://schemas.openxmlformats.org/drawingml/2006/main">
            <a:r>
              <a:t>Kein verpflichtendes CSP-Abo. Betrieb und Fremdkosten bleiben separat.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CSP passt besonders, wenn Monitoring, Bereitschaft oder Ticketsystem bereits bestehen, aber ein gemeinsamer Kundeneinstieg fehlt. Das Kundenteam möchte Code und Weiterentwicklung übernehmen. Umfassende Ticketverwaltung, SLA-Workflows, CMDB oder Contact-Center-Steuerung sind gute Gründe, eine spezialisierte Suite zu wählen oder weiter zu nutzen. Die Entscheidung hängt vom konkreten Anwendungsfall und den vollständigen Betriebskosten ab. Prüfen Sie benötigte Integrationen vor dem Angebot.</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Empfehlung aus Funktions-/Architekturvergleich, kein geprüfter TCO-Rang. Bestehende Backend-Systeme erhalten, konkrete Connector-Abdeckung prüfen. CSP hat keine vollständige Ticketverwaltung/CMDB. Auch bei Competitors Anpassung möglich, keinen generellen Lock-in-Absolutismus behaupten.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https://www.glpi-project.org/en/pricing/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KAUFENTSCHEIDUNG</a:t>
            </a:r>
          </a:p>
          <a:p xmlns:a="http://schemas.openxmlformats.org/drawingml/2006/main">
            <a:r>
              <a:t>Wann CSP die passende Wahl ist</a:t>
            </a:r>
          </a:p>
          <a:p xmlns:a="http://schemas.openxmlformats.org/drawingml/2006/main">
            <a:r>
              <a:t>CSP by kieks.me</a:t>
            </a:r>
          </a:p>
          <a:p xmlns:a="http://schemas.openxmlformats.org/drawingml/2006/main">
            <a:r>
              <a:t>14</a:t>
            </a:r>
          </a:p>
          <a:p xmlns:a="http://schemas.openxmlformats.org/drawingml/2006/main">
            <a:r>
              <a:t>CSP passt, wenn …</a:t>
            </a:r>
          </a:p>
          <a:p xmlns:a="http://schemas.openxmlformats.org/drawingml/2006/main">
            <a:r>
              <a:t>Eine Suite passt, wenn …</a:t>
            </a:r>
          </a:p>
          <a:p xmlns:a="http://schemas.openxmlformats.org/drawingml/2006/main">
            <a:r>
              <a:t>Servicequellen bereits vorhanden sind.</a:t>
            </a:r>
          </a:p>
          <a:p xmlns:a="http://schemas.openxmlformats.org/drawingml/2006/main">
            <a:r>
              <a:t>Ein eigener Kundeneinstieg fehlt.</a:t>
            </a:r>
          </a:p>
          <a:p xmlns:a="http://schemas.openxmlformats.org/drawingml/2006/main">
            <a:r>
              <a:t>Ihr Team Code und Betrieb übernehmen will.</a:t>
            </a:r>
          </a:p>
          <a:p xmlns:a="http://schemas.openxmlformats.org/drawingml/2006/main">
            <a:r>
              <a:t>Status und Bereitschaft im Fokus stehen.</a:t>
            </a:r>
          </a:p>
          <a:p xmlns:a="http://schemas.openxmlformats.org/drawingml/2006/main">
            <a:r>
              <a:t>Sie vollständiges Ticketing brauchen.</a:t>
            </a:r>
          </a:p>
          <a:p xmlns:a="http://schemas.openxmlformats.org/drawingml/2006/main">
            <a:r>
              <a:t>SLA-Workflows oder CMDB zentral sind.</a:t>
            </a:r>
          </a:p>
          <a:p xmlns:a="http://schemas.openxmlformats.org/drawingml/2006/main">
            <a:r>
              <a:t>Viele Kanäle im Agentenarbeitsplatz</a:t>
            </a:r>
          </a:p>
          <a:p xmlns:a="http://schemas.openxmlformats.org/drawingml/2006/main">
            <a:r>
              <a:t>und umfassende Prozesse nötig sind.</a:t>
            </a:r>
          </a:p>
          <a:p xmlns:a="http://schemas.openxmlformats.org/drawingml/2006/main">
            <a:r>
              <a:t>Die Entscheidung fällt mit Ihrem Anwendungsfall und einem fairen Pilot.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Übergabe umfasst dokumentierte Skills für Branding, Inhalte und eigene Plugins. Kundenteams können damit Änderungen nachvollziehbar selbst entwickeln. Die gemeinsame React-Bibliothek @kieksme/csp-ui sowie CI-Tokens halten Portal und Brand-Seite konsistent. Das UI-Paket wird als Tarball verteilt; eine npm-Veröffentlichung wird nicht behauptet. Kompetenzen, Betrieb und Zuständigkeiten müssen im Übergabeprojekt geklärt werden. Die gemeinsame UI enthält keine Provider- oder Support-Geschäftslogik.</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Das Paket enthält drei Kunden-Skills für Branding, Contentpflege und Plugin-Entwicklung. Sie führen die Kunden durch konkrete Arbeitsabläufe, ersetzen aber keine technische Verantwortung. Die UI-Bibliothek enthält React-Komponenten, CI-Tokens, Fonts und separat lizenzierte Brand-Assets. Sie wird als versionierter Tarball verteilt und ist nicht als npm-Veröffentlichung bestätigt. Die Brand-Seite nutzt dieselben Implementierungen. Installation und Interaktion wurden in einer temporären CSP-Instanz geprüft. Der Screenshot zeigt die öffentliche Komponenten-Demo, keinen Kundenbeleg.</a:t>
            </a:r>
          </a:p>
          <a:p xmlns:a="http://schemas.openxmlformats.org/drawingml/2006/main">
            <a:r>
              <a:t/>
            </a:r>
          </a:p>
          <a:p xmlns:a="http://schemas.openxmlformats.org/drawingml/2006/main">
            <a:r>
              <a:t>Quellen / Grundlage:</a:t>
            </a:r>
          </a:p>
          <a:p xmlns:a="http://schemas.openxmlformats.org/drawingml/2006/main">
            <a:r>
              <a:t>https://github.com/kieksme/csp-brand/blob/main/docs/handover.md</a:t>
            </a:r>
          </a:p>
          <a:p xmlns:a="http://schemas.openxmlformats.org/drawingml/2006/main">
            <a:r>
              <a:t>https://github.com/kieksme/csp-brand/tree/main/packages/ui</a:t>
            </a:r>
          </a:p>
          <a:p xmlns:a="http://schemas.openxmlformats.org/drawingml/2006/main">
            <a:r>
              <a:t>https://csp-brand-kieksme.netlify.app/docs/components/</a:t>
            </a:r>
          </a:p>
          <a:p xmlns:a="http://schemas.openxmlformats.org/drawingml/2006/main">
            <a:r>
              <a:t/>
            </a:r>
          </a:p>
          <a:p xmlns:a="http://schemas.openxmlformats.org/drawingml/2006/main">
            <a:r>
              <a:t>DETAILS DER BISHERIGEN FOLIE</a:t>
            </a:r>
          </a:p>
          <a:p xmlns:a="http://schemas.openxmlformats.org/drawingml/2006/main">
            <a:r>
              <a:t>ÜBERGABE UND CORPORATE IDENTITY</a:t>
            </a:r>
          </a:p>
          <a:p xmlns:a="http://schemas.openxmlformats.org/drawingml/2006/main">
            <a:r>
              <a:t>Ihr Team entwickelt selbst weiter</a:t>
            </a:r>
          </a:p>
          <a:p xmlns:a="http://schemas.openxmlformats.org/drawingml/2006/main">
            <a:r>
              <a:t>CSP by kieks.me</a:t>
            </a:r>
          </a:p>
          <a:p xmlns:a="http://schemas.openxmlformats.org/drawingml/2006/main">
            <a:r>
              <a:t>15</a:t>
            </a:r>
          </a:p>
          <a:p xmlns:a="http://schemas.openxmlformats.org/drawingml/2006/main">
            <a:r>
              <a:t>Skills für Branding, Inhalte</a:t>
            </a:r>
          </a:p>
          <a:p xmlns:a="http://schemas.openxmlformats.org/drawingml/2006/main">
            <a:r>
              <a:t>und eigene Plugins begleiten</a:t>
            </a:r>
          </a:p>
          <a:p xmlns:a="http://schemas.openxmlformats.org/drawingml/2006/main">
            <a:r>
              <a:t>die Weiterentwicklung.</a:t>
            </a:r>
          </a:p>
          <a:p xmlns:a="http://schemas.openxmlformats.org/drawingml/2006/main">
            <a:r>
              <a:t>Gemeinsame UI-Komponenten</a:t>
            </a:r>
          </a:p>
          <a:p xmlns:a="http://schemas.openxmlformats.org/drawingml/2006/main">
            <a:r>
              <a:t>und CI-Tokens halten Website</a:t>
            </a:r>
          </a:p>
          <a:p xmlns:a="http://schemas.openxmlformats.org/drawingml/2006/main">
            <a:r>
              <a:t>und Portal konsistent.</a:t>
            </a:r>
          </a:p>
          <a:p xmlns:a="http://schemas.openxmlformats.org/drawingml/2006/main">
            <a:r>
              <a:t>Gemeinsame Bibliothek: @kieksme/csp-ui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Beginnen Sie mit einer begrenzten Anfrageart, klaren Wissensquellen und einem bewusst ausgewählten menschlichen Supportkanal. Definieren Sie vorher Erfolgskriterien und eine Vergleichsbasis. Testen Sie die direkte menschliche Erreichbarkeit und dokumentieren Sie Referenzanfragen. Erst nach dem Pilot entscheiden Kunde und Projektteam über zusätzliche Plugins und Betriebsumfang. Das ist ein vorgeschlagenes Vorgehen; es enthält keine zugesagte Dauer oder bereits gemessenen Ergebnisse.</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Dies ist ein vorgeschlagenes Vorgehen, keine zugesagte Dauer. Mit einem begrenzten Anwendungsfall und klaren Quellen starten. Einen Supportkanal bewusst auswählen, direkte menschliche Erreichbarkeit im Pilot testen und Referenzanfragen dokumentieren. Nach dem Pilot gemeinsam über weitere Plugins und Betriebsumfang entscheiden.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https://github.com/kieksme/csp-brand/blob/main/docs/handover.md</a:t>
            </a:r>
          </a:p>
          <a:p xmlns:a="http://schemas.openxmlformats.org/drawingml/2006/main">
            <a:r>
              <a:t>Vorgeschlagenes Pilotvorgehen für das Projektangebot.</a:t>
            </a:r>
          </a:p>
          <a:p xmlns:a="http://schemas.openxmlformats.org/drawingml/2006/main">
            <a:r>
              <a:t/>
            </a:r>
          </a:p>
          <a:p xmlns:a="http://schemas.openxmlformats.org/drawingml/2006/main">
            <a:r>
              <a:t>DETAILS DER BISHERIGEN FOLIE</a:t>
            </a:r>
          </a:p>
          <a:p xmlns:a="http://schemas.openxmlformats.org/drawingml/2006/main">
            <a:r>
              <a:t>VORGEHEN</a:t>
            </a:r>
          </a:p>
          <a:p xmlns:a="http://schemas.openxmlformats.org/drawingml/2006/main">
            <a:r>
              <a:t>Ein Pilot mit messbarem Nutzen</a:t>
            </a:r>
          </a:p>
          <a:p xmlns:a="http://schemas.openxmlformats.org/drawingml/2006/main">
            <a:r>
              <a:t>CSP by kieks.me</a:t>
            </a:r>
          </a:p>
          <a:p xmlns:a="http://schemas.openxmlformats.org/drawingml/2006/main">
            <a:r>
              <a:t>16</a:t>
            </a:r>
          </a:p>
          <a:p xmlns:a="http://schemas.openxmlformats.org/drawingml/2006/main">
            <a:r>
              <a:t>01</a:t>
            </a:r>
          </a:p>
          <a:p xmlns:a="http://schemas.openxmlformats.org/drawingml/2006/main">
            <a:r>
              <a:t>Anwendungsfall wählen</a:t>
            </a:r>
          </a:p>
          <a:p xmlns:a="http://schemas.openxmlformats.org/drawingml/2006/main">
            <a:r>
              <a:t>Häufige Anfragearten und Erfolgskriterien festlegen.</a:t>
            </a:r>
          </a:p>
          <a:p xmlns:a="http://schemas.openxmlformats.org/drawingml/2006/main">
            <a:r>
              <a:t>02</a:t>
            </a:r>
          </a:p>
          <a:p xmlns:a="http://schemas.openxmlformats.org/drawingml/2006/main">
            <a:r>
              <a:t>Portal integrieren</a:t>
            </a:r>
          </a:p>
          <a:p xmlns:a="http://schemas.openxmlformats.org/drawingml/2006/main">
            <a:r>
              <a:t>Wissen, Statusquellen und einen Supportkanal anbinden.</a:t>
            </a:r>
          </a:p>
          <a:p xmlns:a="http://schemas.openxmlformats.org/drawingml/2006/main">
            <a:r>
              <a:t>03</a:t>
            </a:r>
          </a:p>
          <a:p xmlns:a="http://schemas.openxmlformats.org/drawingml/2006/main">
            <a:r>
              <a:t>Im Alltag prüfen</a:t>
            </a:r>
          </a:p>
          <a:p xmlns:a="http://schemas.openxmlformats.org/drawingml/2006/main">
            <a:r>
              <a:t>Antwortqualität, Übergaben und Bearbeitungszeit messen.</a:t>
            </a:r>
          </a:p>
          <a:p xmlns:a="http://schemas.openxmlformats.org/drawingml/2006/main">
            <a:r>
              <a:t>04</a:t>
            </a:r>
          </a:p>
          <a:p xmlns:a="http://schemas.openxmlformats.org/drawingml/2006/main">
            <a:r>
              <a:t>Übergeben und entscheiden</a:t>
            </a:r>
          </a:p>
          <a:p xmlns:a="http://schemas.openxmlformats.org/drawingml/2006/main">
            <a:r>
              <a:t>Skills, Code und Betrieb dokumentieren, Ausbau vereinbaren.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Vergleichen Sie gleiche Anfragearten vor und während des Pilots. Erfassen Sie sinnvoll vorgefilterte Anfragen getrennt von vollständig gelösten Fällen. Messen Sie manuelle Rückfragen, Bearbeitungszeit, Antwortqualität, erfolgreiche menschliche Übergaben und Nutzerfeedback. Beziehen Sie Wissenspflege, Betrieb, KI-Verbrauch und Supportzeiten ein. Die direkte Wahl zum Menschen darf keine versteckte Hürde erhalten. Eine belastbare ROI-Rechnung erfordert eigene Kunden- und Pilotdaten.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Vor dem Pilot eine Vergleichsbasis erfassen. Gleiche Anfragearten vor und während des Pilots betrachten und Zeitaufwand zur Pflege der Wissensbasis, KI-/Providerkosten sowie Supportzeiten einbeziehen. Vorfilterung ist von vollständig gelösten Anfragen zu trennen. Direktwahl zum Menschen darf keine versteckte Hürde erhalten. Die 80-Prozent-Marke bleibt ein Ziel, bis eigene Daten vorliegen. Keine ROI-Rechnung ohne Kundendaten.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Vorgeschlagene Messgrößen, noch keine gemessenen Projektergebnisse.</a:t>
            </a:r>
          </a:p>
          <a:p xmlns:a="http://schemas.openxmlformats.org/drawingml/2006/main">
            <a:r>
              <a:t/>
            </a:r>
          </a:p>
          <a:p xmlns:a="http://schemas.openxmlformats.org/drawingml/2006/main">
            <a:r>
              <a:t>DETAILS DER BISHERIGEN FOLIE</a:t>
            </a:r>
          </a:p>
          <a:p xmlns:a="http://schemas.openxmlformats.org/drawingml/2006/main">
            <a:r>
              <a:t>ENTSCHEIDUNGSGRUNDLAGE</a:t>
            </a:r>
          </a:p>
          <a:p xmlns:a="http://schemas.openxmlformats.org/drawingml/2006/main">
            <a:r>
              <a:t>Was der Pilot messen soll</a:t>
            </a:r>
          </a:p>
          <a:p xmlns:a="http://schemas.openxmlformats.org/drawingml/2006/main">
            <a:r>
              <a:t>CSP by kieks.me</a:t>
            </a:r>
          </a:p>
          <a:p xmlns:a="http://schemas.openxmlformats.org/drawingml/2006/main">
            <a:r>
              <a:t>17</a:t>
            </a:r>
          </a:p>
          <a:p xmlns:a="http://schemas.openxmlformats.org/drawingml/2006/main">
            <a:r>
              <a:t>Entlastung</a:t>
            </a:r>
          </a:p>
          <a:p xmlns:a="http://schemas.openxmlformats.org/drawingml/2006/main">
            <a:r>
              <a:t>Anteil sinnvoll vorgefilterter Anfragen</a:t>
            </a:r>
          </a:p>
          <a:p xmlns:a="http://schemas.openxmlformats.org/drawingml/2006/main">
            <a:r>
              <a:t>Manuelle Rückfragen je Anfrage</a:t>
            </a:r>
          </a:p>
          <a:p xmlns:a="http://schemas.openxmlformats.org/drawingml/2006/main">
            <a:r>
              <a:t>Bearbeitungszeit im Serviceteam</a:t>
            </a:r>
          </a:p>
          <a:p xmlns:a="http://schemas.openxmlformats.org/drawingml/2006/main">
            <a:r>
              <a:t>Qualität und Erreichbarkeit</a:t>
            </a:r>
          </a:p>
          <a:p xmlns:a="http://schemas.openxmlformats.org/drawingml/2006/main">
            <a:r>
              <a:t>Korrekte Antworten aus den Quellen</a:t>
            </a:r>
          </a:p>
          <a:p xmlns:a="http://schemas.openxmlformats.org/drawingml/2006/main">
            <a:r>
              <a:t>Erfolgreiche menschliche Übergaben</a:t>
            </a:r>
          </a:p>
          <a:p xmlns:a="http://schemas.openxmlformats.org/drawingml/2006/main">
            <a:r>
              <a:t>Rückmeldung der Nutzer</a:t>
            </a:r>
          </a:p>
          <a:p xmlns:a="http://schemas.openxmlformats.org/drawingml/2006/main">
            <a:r>
              <a:t>Der Vergleich beginnt mit Ihrer heutigen Situation.</a:t>
            </a:r>
          </a:p>
          <a:p xmlns:a="http://schemas.openxmlformats.org/drawingml/2006/main">
            <a:r>
              <a:t>Einsparpotenzial bewerten wir inklusive Betrieb,</a:t>
            </a:r>
          </a:p>
          <a:p xmlns:a="http://schemas.openxmlformats.org/drawingml/2006/main">
            <a:r>
              <a:t>Modellkosten und Pflege der Wissensbasis.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Schließen Sie den Kundenpitch mit einer konkreten Anfrage ab. Klären Sie in einem kurzen Termin, welche wiederkehrende Anfrage häufig vorkommt, welche Quellen vorhanden sind und welcher menschliche Supportkanal erreichbar sein soll. Ziel ist ein begrenzter Pilotumfang. Für interne Zuhörer können Sie mit der nächsten Folie fortfahren; Preise, technische Details und Messgrenzen dienen als Anhang für Rückfragen.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Kundenpitch hier abschließen. Den nächsten Termin an einer konkreten Anfrageart aufhängen: Was kommt häufig vor, welche Quellen sind vorhanden, welcher menschliche Supportkanal soll erreichbar sein? Ziel des Gesprächs ist ein begrenzter Pilotumfang, nicht sofort ein vollständiger Rollout. Bei Kollegen mit Folie 19 fortfahren. Quellen- und technischen Anhang nur bei Rückfragen nutzen.</a:t>
            </a:r>
          </a:p>
          <a:p xmlns:a="http://schemas.openxmlformats.org/drawingml/2006/main">
            <a:r>
              <a:t/>
            </a:r>
          </a:p>
          <a:p xmlns:a="http://schemas.openxmlformats.org/drawingml/2006/main">
            <a:r>
              <a:t>Quellen / Grundlage:</a:t>
            </a:r>
          </a:p>
          <a:p xmlns:a="http://schemas.openxmlformats.org/drawingml/2006/main">
            <a:r>
              <a:t>https://github.com/kieksme/csp-brand/blob/main/brand/README.md</a:t>
            </a:r>
          </a:p>
          <a:p xmlns:a="http://schemas.openxmlformats.org/drawingml/2006/main">
            <a:r>
              <a:t>https://csp-brand-kieksme.netlify.app/</a:t>
            </a:r>
          </a:p>
          <a:p xmlns:a="http://schemas.openxmlformats.org/drawingml/2006/main">
            <a:r>
              <a:t/>
            </a:r>
          </a:p>
          <a:p xmlns:a="http://schemas.openxmlformats.org/drawingml/2006/main">
            <a:r>
              <a:t>DETAILS DER BISHERIGEN FOLIE</a:t>
            </a:r>
          </a:p>
          <a:p xmlns:a="http://schemas.openxmlformats.org/drawingml/2006/main">
            <a:r>
              <a:t>NÄCHSTER SCHRITT</a:t>
            </a:r>
          </a:p>
          <a:p xmlns:a="http://schemas.openxmlformats.org/drawingml/2006/main">
            <a:r>
              <a:t>Ihr erster Anwendungsfall</a:t>
            </a:r>
          </a:p>
          <a:p xmlns:a="http://schemas.openxmlformats.org/drawingml/2006/main">
            <a:r>
              <a:t>CSP by kieks.me</a:t>
            </a:r>
          </a:p>
          <a:p xmlns:a="http://schemas.openxmlformats.org/drawingml/2006/main">
            <a:r>
              <a:t>18</a:t>
            </a:r>
          </a:p>
          <a:p xmlns:a="http://schemas.openxmlformats.org/drawingml/2006/main">
            <a:r>
              <a:t>Welche wiederkehrende Serviceanfrage</a:t>
            </a:r>
          </a:p>
          <a:p xmlns:a="http://schemas.openxmlformats.org/drawingml/2006/main">
            <a:r>
              <a:t>soll Ihr Team zuerst entlasten?</a:t>
            </a:r>
          </a:p>
          <a:p xmlns:a="http://schemas.openxmlformats.org/drawingml/2006/main">
            <a:r>
              <a:t>Ein kurzer Termin klärt Quellen, Supportkanal</a:t>
            </a:r>
          </a:p>
          <a:p xmlns:a="http://schemas.openxmlformats.org/drawingml/2006/main">
            <a:r>
              <a:t>und den passenden Pilotumfang.</a:t>
            </a:r>
          </a:p>
          <a:p xmlns:a="http://schemas.openxmlformats.org/drawingml/2006/main">
            <a:r>
              <a:t>kontakt@kieks.me</a:t>
            </a:r>
          </a:p>
          <a:p xmlns:a="http://schemas.openxmlformats.org/drawingml/2006/main">
            <a:r>
              <a:t>csp-brand-kieksme.netlify.app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Diese Folie ist für Kollegen gedacht. Schlagen Sie ein erstes Pilotprojekt mit benanntem Ansprechpartner vor. Plugins und UI können wiederverwendet werden; tatsächlicher Wiederverwendungsgrad und Kundenanpassungen sind pro Projekt zu prüfen. Planen Sie Betrieb, Tests und Wissenspflege ausdrücklich ein. Erfahrungen fließen in die Skills zurück. Erst nach eigenen Ergebnissen wird über wiederholbare Leistungen und weitere Kundenprojekte entschieden. Das ist ein Vorschlag, kein bereits beschlossenes Vertriebsmodell.</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Nur für den internen Pitch. Vorschlag: einen verantwortlichen Ansprechpartner und ein erstes Pilotprojekt benennen. Die gemeinsame Produktbasis und UI reduzieren doppelte Entwicklungsarbeit, der tatsächliche Wiederverwendungsgrad ist noch pro Projekt zu prüfen. Leistungen als Projekt anbieten und Aufwand für Betrieb, Tests sowie Wissenspflege ausdrücklich einplanen. Das ist ein Entscheidungsvorschlag, kein bereits beschlossenes Vertriebsmodell.</a:t>
            </a:r>
          </a:p>
          <a:p xmlns:a="http://schemas.openxmlformats.org/drawingml/2006/main">
            <a:r>
              <a:t/>
            </a:r>
          </a:p>
          <a:p xmlns:a="http://schemas.openxmlformats.org/drawingml/2006/main">
            <a:r>
              <a:t>Quellen / Grundlage:</a:t>
            </a:r>
          </a:p>
          <a:p xmlns:a="http://schemas.openxmlformats.org/drawingml/2006/main">
            <a:r>
              <a:t>https://github.com/kieksme/csp-brand/tree/main/packages/ui</a:t>
            </a:r>
          </a:p>
          <a:p xmlns:a="http://schemas.openxmlformats.org/drawingml/2006/main">
            <a:r>
              <a:t>https://github.com/kieksme/csp-brand/blob/main/docs/handover.md</a:t>
            </a:r>
          </a:p>
          <a:p xmlns:a="http://schemas.openxmlformats.org/drawingml/2006/main">
            <a:r>
              <a:t>https://github.com/kieksme/csp-brand/blob/main/brand/README.md</a:t>
            </a:r>
          </a:p>
          <a:p xmlns:a="http://schemas.openxmlformats.org/drawingml/2006/main">
            <a:r>
              <a:t>Interner Entscheidungsvorschlag.</a:t>
            </a:r>
          </a:p>
          <a:p xmlns:a="http://schemas.openxmlformats.org/drawingml/2006/main">
            <a:r>
              <a:t/>
            </a:r>
          </a:p>
          <a:p xmlns:a="http://schemas.openxmlformats.org/drawingml/2006/main">
            <a:r>
              <a:t>DETAILS DER BISHERIGEN FOLIE</a:t>
            </a:r>
          </a:p>
          <a:p xmlns:a="http://schemas.openxmlformats.org/drawingml/2006/main">
            <a:r>
              <a:t>ZUSATZFOLIE FÜR KOLLEGEN</a:t>
            </a:r>
          </a:p>
          <a:p xmlns:a="http://schemas.openxmlformats.org/drawingml/2006/main">
            <a:r>
              <a:t>Für die interne Diskussion</a:t>
            </a:r>
          </a:p>
          <a:p xmlns:a="http://schemas.openxmlformats.org/drawingml/2006/main">
            <a:r>
              <a:t>CSP by kieks.me</a:t>
            </a:r>
          </a:p>
          <a:p xmlns:a="http://schemas.openxmlformats.org/drawingml/2006/main">
            <a:r>
              <a:t>19</a:t>
            </a:r>
          </a:p>
          <a:p xmlns:a="http://schemas.openxmlformats.org/drawingml/2006/main">
            <a:r>
              <a:t>Gemeinsame Produktbasis</a:t>
            </a:r>
          </a:p>
          <a:p xmlns:a="http://schemas.openxmlformats.org/drawingml/2006/main">
            <a:r>
              <a:t>Plugins und UI wiederverwenden.</a:t>
            </a:r>
          </a:p>
          <a:p xmlns:a="http://schemas.openxmlformats.org/drawingml/2006/main">
            <a:r>
              <a:t>Kundenanpassungen gezielt abgrenzen.</a:t>
            </a:r>
          </a:p>
          <a:p xmlns:a="http://schemas.openxmlformats.org/drawingml/2006/main">
            <a:r>
              <a:t>Erfahrungen in Skills dokumentieren.</a:t>
            </a:r>
          </a:p>
          <a:p xmlns:a="http://schemas.openxmlformats.org/drawingml/2006/main">
            <a:r>
              <a:t>Verantwortung im Pilot</a:t>
            </a:r>
          </a:p>
          <a:p xmlns:a="http://schemas.openxmlformats.org/drawingml/2006/main">
            <a:r>
              <a:t>Projektumfang und Ansprechpartner</a:t>
            </a:r>
          </a:p>
          <a:p xmlns:a="http://schemas.openxmlformats.org/drawingml/2006/main">
            <a:r>
              <a:t>benennen. Integration testen.</a:t>
            </a:r>
          </a:p>
          <a:p xmlns:a="http://schemas.openxmlformats.org/drawingml/2006/main">
            <a:r>
              <a:t>Betrieb und Wissenspflege klären.</a:t>
            </a:r>
          </a:p>
          <a:p xmlns:a="http://schemas.openxmlformats.org/drawingml/2006/main">
            <a:r>
              <a:t>Vorschlag: ein Pilotprojekt als Referenz für das Angebot.</a:t>
            </a:r>
          </a:p>
          <a:p xmlns:a="http://schemas.openxmlformats.org/drawingml/2006/main">
            <a:r>
              <a:t>Zuerst eigene Ergebnisse gewinnen. Danach entscheiden wir</a:t>
            </a:r>
          </a:p>
          <a:p xmlns:a="http://schemas.openxmlformats.org/drawingml/2006/main">
            <a:r>
              <a:t>über wiederholbare Leistungen und weitere Kundenprojekte.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geprüfte Produktbaseline ist CSP 0.13.4. React-PWA und Fastify bilden die Basis mit Plugin-SDK. OpenAI, Azure OpenAI und Ollama sind konfigurierbare Anbieter. KI-Antworten können falsch sein. Teams, Slack und Telegram benötigen das Chat-Plugin, Persistenz sowie die jeweiligen Apps und Zugänge. Authentifizierung, Datenhaltung, Datenschutz und Betrieb hängen von der Integration ab. Vor Kundenstart müssen Live-Verbindungen und Antwortqualität geprüft werden. Keine allgemeine Compliance-Zertifizierung behaupten.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Baseline: CSP 0.13.4, geprüfter Katalog vom 13.10.2026. React/PWA und Fastify mit Plugin-SDK. OpenAI, Azure OpenAI und Ollama sind konfigurierbare Modellanbieter. KI-Antworten können fehlerhaft sein. KI-Chat führt keine eigenständige Ticket- oder Alert-Aktion aus. Teams, Slack und Telegram brauchen Chat-Plugin und Persistenz sowie providerbezogene Apps/Zugänge. Authentifizierung und anonyme Sitzungen hängen von der konkreten Integration ab. Provider-Live-Verbindungen und Datenschutz-/Betriebskonzept müssen vor Kundenstart geprüft werden. Auf dieser Folie keine zugesicherte Zertifizierung oder allgemeine DSGVO-Konformität behaupten.</a:t>
            </a:r>
          </a:p>
          <a:p xmlns:a="http://schemas.openxmlformats.org/drawingml/2006/main">
            <a:r>
              <a:t/>
            </a:r>
          </a:p>
          <a:p xmlns:a="http://schemas.openxmlformats.org/drawingml/2006/main">
            <a:r>
              <a:t>Quellen / Grundlage:</a:t>
            </a:r>
          </a:p>
          <a:p xmlns:a="http://schemas.openxmlformats.org/drawingml/2006/main">
            <a:r>
              <a:t>https://github.com/kieksme/csp</a:t>
            </a:r>
          </a:p>
          <a:p xmlns:a="http://schemas.openxmlformats.org/drawingml/2006/main">
            <a:r>
              <a:t>https://github.com/kieksme/csp/blob/main/docs/plugins.md</a:t>
            </a:r>
          </a:p>
          <a:p xmlns:a="http://schemas.openxmlformats.org/drawingml/2006/main">
            <a:r>
              <a:t>https://github.com/kieksme/csp/blob/main/docs/chat.md</a:t>
            </a:r>
          </a:p>
          <a:p xmlns:a="http://schemas.openxmlformats.org/drawingml/2006/main">
            <a:r>
              <a:t>https://github.com/kieksme/csp/blob/main/docs/teams-support.md</a:t>
            </a:r>
          </a:p>
          <a:p xmlns:a="http://schemas.openxmlformats.org/drawingml/2006/main">
            <a:r>
              <a:t>https://github.com/kieksme/csp/blob/main/docs/slack-support.md</a:t>
            </a:r>
          </a:p>
          <a:p xmlns:a="http://schemas.openxmlformats.org/drawingml/2006/main">
            <a:r>
              <a:t>https://github.com/kieksme/csp/blob/main/docs/telegram-support.md</a:t>
            </a:r>
          </a:p>
          <a:p xmlns:a="http://schemas.openxmlformats.org/drawingml/2006/main">
            <a:r>
              <a:t/>
            </a:r>
          </a:p>
          <a:p xmlns:a="http://schemas.openxmlformats.org/drawingml/2006/main">
            <a:r>
              <a:t>DETAILS DER BISHERIGEN FOLIE</a:t>
            </a:r>
          </a:p>
          <a:p xmlns:a="http://schemas.openxmlformats.org/drawingml/2006/main">
            <a:r>
              <a:t>ANHANG FÜR RÜCKFRAGEN</a:t>
            </a:r>
          </a:p>
          <a:p xmlns:a="http://schemas.openxmlformats.org/drawingml/2006/main">
            <a:r>
              <a:t>Technische Basis und Integrationsgrenzen</a:t>
            </a:r>
          </a:p>
          <a:p xmlns:a="http://schemas.openxmlformats.org/drawingml/2006/main">
            <a:r>
              <a:t>CSP by kieks.me</a:t>
            </a:r>
          </a:p>
          <a:p xmlns:a="http://schemas.openxmlformats.org/drawingml/2006/main">
            <a:r>
              <a:t>20</a:t>
            </a:r>
          </a:p>
          <a:p xmlns:a="http://schemas.openxmlformats.org/drawingml/2006/main">
            <a:r>
              <a:t>Produktbasis</a:t>
            </a:r>
          </a:p>
          <a:p xmlns:a="http://schemas.openxmlformats.org/drawingml/2006/main">
            <a:r>
              <a:t>React-PWA, Fastify und Plugin-SDK</a:t>
            </a:r>
          </a:p>
          <a:p xmlns:a="http://schemas.openxmlformats.org/drawingml/2006/main">
            <a:r>
              <a:t>Modellanbieter nach Konfiguration</a:t>
            </a:r>
          </a:p>
          <a:p xmlns:a="http://schemas.openxmlformats.org/drawingml/2006/main">
            <a:r>
              <a:t>Eigene Inhalte und Live-Quellen</a:t>
            </a:r>
          </a:p>
          <a:p xmlns:a="http://schemas.openxmlformats.org/drawingml/2006/main">
            <a:r>
              <a:t>Vor dem Kundenstart</a:t>
            </a:r>
          </a:p>
          <a:p xmlns:a="http://schemas.openxmlformats.org/drawingml/2006/main">
            <a:r>
              <a:t>Zugänge und Live-Verbindungen testen</a:t>
            </a:r>
          </a:p>
          <a:p xmlns:a="http://schemas.openxmlformats.org/drawingml/2006/main">
            <a:r>
              <a:t>Supportzeiten und Datenhaltung klären</a:t>
            </a:r>
          </a:p>
          <a:p xmlns:a="http://schemas.openxmlformats.org/drawingml/2006/main">
            <a:r>
              <a:t>Antwortqualität im Pilot prüfen</a:t>
            </a:r>
          </a:p>
          <a:p xmlns:a="http://schemas.openxmlformats.org/drawingml/2006/main">
            <a:r>
              <a:t>Die KI führt keine eigenständigen Ticket- oder Alert-Aktionen aus.</a:t>
            </a:r>
          </a:p>
          <a:p xmlns:a="http://schemas.openxmlformats.org/drawingml/2006/main">
            <a:r>
              <a:t>Produktbaseline: CSP 0.13.4. Quellen und Integrationsdetails</a:t>
            </a:r>
          </a:p>
          <a:p xmlns:a="http://schemas.openxmlformats.org/drawingml/2006/main">
            <a:r>
              <a:t>stehen in den jeweiligen Sprechernotizen.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Preisbeispiele sind Momentaufnahmen in Originalwährung und kein Vergleich gleichwertiger Pakete. Zendesk Suite Team kostet 55 USD pro Agent und Monat bei jährlicher Zahlung; Resolution-Modelle sind accountabhängig. Freshdesk Omni Growth: 29 USD jährlich, einmalig 500 Freddy-Sessions pro Account, weitere 100 für 49 USD. Intercom Essential: 29 USD in jährlicher Ansicht plus 0,99 USD pro Fin-Outcome; Procedures mit Übergabe können zählen. Crisp Essentials: 95 USD pro Workspace mit zehn Plätzen, dediziertes Ticketing erst in Plus. Vor Beschaffung neu prüfen.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Listenpreise in Originalwährung, Stand 14.10.2026. Zendesk Suite Team: 55 USD monatlich bei jährlicher Zahlung; Resolution-Tiers accountabhängig. Freshdesk Omni Growth: 29 USD jährlich; 500 KI-Sessions einmalig pro Account, weitere 100 für 49 USD. Intercom Essential: 29 USD in jährlicher Ansicht, Fin 0,99 USD pro Outcome. Crisp Essentials: 95 USD mit zehn Plätzen; Ticketing im Plus für 295 USD mit 20 Plätzen. Kein Vergleich gleichwertiger Pakete oder Gesamtkosten.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https://support.zendesk.com/hc/en-us/articles/11207423976986-Increasing-your-resolution-allowance</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ANHANG · SAAS-PREISBEISPIELE</a:t>
            </a:r>
          </a:p>
          <a:p xmlns:a="http://schemas.openxmlformats.org/drawingml/2006/main">
            <a:r>
              <a:t>Preislogik: die Einheit macht den Unterschied</a:t>
            </a:r>
          </a:p>
          <a:p xmlns:a="http://schemas.openxmlformats.org/drawingml/2006/main">
            <a:r>
              <a:t>CSP by kieks.me</a:t>
            </a:r>
          </a:p>
          <a:p xmlns:a="http://schemas.openxmlformats.org/drawingml/2006/main">
            <a:r>
              <a:t>21</a:t>
            </a:r>
          </a:p>
          <a:p xmlns:a="http://schemas.openxmlformats.org/drawingml/2006/main">
            <a:r>
              <a:t>Stand 14.10.2026 · Keine gleichwertigen Pakete, Steuern oder Gesamtkosten. Vor Kauf neu prüfen.</a:t>
            </a:r>
          </a:p>
          <a:p xmlns:a="http://schemas.openxmlformats.org/drawingml/2006/main">
            <a:r>
              <a:t>Beispiel | Öffentlicher Einstieg | KI / relevante Grenze</a:t>
            </a:r>
          </a:p>
          <a:p xmlns:a="http://schemas.openxmlformats.org/drawingml/2006/main">
            <a:r>
              <a:t>Zendesk Suite Team | 55 USD / Agent / Monat</a:t>
            </a:r>
          </a:p>
          <a:p xmlns:a="http://schemas.openxmlformats.org/drawingml/2006/main">
            <a:r>
              <a:t>bei jährlicher Zahlung | Resolution-Modell und</a:t>
            </a:r>
          </a:p>
          <a:p xmlns:a="http://schemas.openxmlformats.org/drawingml/2006/main">
            <a:r>
              <a:t>Add-ons accountabhängig</a:t>
            </a:r>
          </a:p>
          <a:p xmlns:a="http://schemas.openxmlformats.org/drawingml/2006/main">
            <a:r>
              <a:t>Freshdesk Omni</a:t>
            </a:r>
          </a:p>
          <a:p xmlns:a="http://schemas.openxmlformats.org/drawingml/2006/main">
            <a:r>
              <a:t>Growth | 29 USD / Agent / Monat</a:t>
            </a:r>
          </a:p>
          <a:p xmlns:a="http://schemas.openxmlformats.org/drawingml/2006/main">
            <a:r>
              <a:t>bei jährlicher Zahlung | 500 Sessions einmalig;</a:t>
            </a:r>
          </a:p>
          <a:p xmlns:a="http://schemas.openxmlformats.org/drawingml/2006/main">
            <a:r>
              <a:t>danach 49 USD / 100</a:t>
            </a:r>
          </a:p>
          <a:p xmlns:a="http://schemas.openxmlformats.org/drawingml/2006/main">
            <a:r>
              <a:t>Intercom Essential</a:t>
            </a:r>
          </a:p>
          <a:p xmlns:a="http://schemas.openxmlformats.org/drawingml/2006/main">
            <a:r>
              <a:t>+ Fin | 29 USD / Sitz / Monat</a:t>
            </a:r>
          </a:p>
          <a:p xmlns:a="http://schemas.openxmlformats.org/drawingml/2006/main">
            <a:r>
              <a:t>in jährlicher Preisansicht | Fin: 0,99 USD / Outcome;</a:t>
            </a:r>
          </a:p>
          <a:p xmlns:a="http://schemas.openxmlformats.org/drawingml/2006/main">
            <a:r>
              <a:t>Definition beachten</a:t>
            </a:r>
          </a:p>
          <a:p xmlns:a="http://schemas.openxmlformats.org/drawingml/2006/main">
            <a:r>
              <a:t>Crisp Essentials | 95 USD / Workspace / Monat</a:t>
            </a:r>
          </a:p>
          <a:p xmlns:a="http://schemas.openxmlformats.org/drawingml/2006/main">
            <a:r>
              <a:t>10 Plätze enthalten | KI-Credits; dediziertes</a:t>
            </a:r>
          </a:p>
          <a:p xmlns:a="http://schemas.openxmlformats.org/drawingml/2006/main">
            <a:r>
              <a:t>Ticketing erst im Plus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Freie Software beseitigt keine Infrastruktur- und Betriebsaufwände. Zammad ist im Eigenbetrieb ohne Softwarelizenzgebühr nutzbar; Managed AI optional 0,03 EUR pro Call. Chatwoot CE ist kostenlos, Captain in Self-Hosted Premium Support ab 19 USD pro Agent und Monat jährlich. FreeScout hat ein kostenloses AI Integration Module und einmalig bezahlte Erweiterungen. GLPI bietet freien Code und kommerzielle Network-/Cloud-Optionen. Updates, Backups, Monitoring, Modelle und Wissenspflege brauchen Budget. Lizenzgrenzen sind in den bisherigen Quellen dokumentiert.</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Softwarekosten sind nicht Gesamtkosten. Zammad ist im Eigenbetrieb lizenzkostenfrei; Managed AI optional 0,03 EUR pro Call. Chatwoot CE ist frei, Captain gehört zu bezahlten Plänen. FreeScout bietet ein kostenloses KI-Modul und einmalig bezahlte Erweiterungen. GLPI bietet freien Code und optionale Network-/Cloud-Angebote. Betrieb, Modelle, Updates, Sicherheit und Backups brauchen Budget. Keine allgemeine Kostenüberlegenheit von CSP behaupten.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https://zammad.com/en/pricing</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https://www.glpi-project.org/en/glpi-gpl-3-0/</a:t>
            </a:r>
          </a:p>
          <a:p xmlns:a="http://schemas.openxmlformats.org/drawingml/2006/main">
            <a:r>
              <a:t>https://www.glpi-project.org/en/pricing/</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ANHANG · EIGENBETRIEB</a:t>
            </a:r>
          </a:p>
          <a:p xmlns:a="http://schemas.openxmlformats.org/drawingml/2006/main">
            <a:r>
              <a:t>Open Source kann ohne Lizenzabo starten</a:t>
            </a:r>
          </a:p>
          <a:p xmlns:a="http://schemas.openxmlformats.org/drawingml/2006/main">
            <a:r>
              <a:t>CSP by kieks.me</a:t>
            </a:r>
          </a:p>
          <a:p xmlns:a="http://schemas.openxmlformats.org/drawingml/2006/main">
            <a:r>
              <a:t>22</a:t>
            </a:r>
          </a:p>
          <a:p xmlns:a="http://schemas.openxmlformats.org/drawingml/2006/main">
            <a:r>
              <a:t>Stand 14.10.2026 · Betrieb, Wartung und Anbieter-Verbrauch sind auch bei freien Produkten Kosten.</a:t>
            </a:r>
          </a:p>
          <a:p xmlns:a="http://schemas.openxmlformats.org/drawingml/2006/main">
            <a:r>
              <a:t>Angebot | Freier Kern im Eigenbetrieb | Optionale Kosten</a:t>
            </a:r>
          </a:p>
          <a:p xmlns:a="http://schemas.openxmlformats.org/drawingml/2006/main">
            <a:r>
              <a:t>Zammad | Keine Softwarelizenzgebühr</a:t>
            </a:r>
          </a:p>
          <a:p xmlns:a="http://schemas.openxmlformats.org/drawingml/2006/main">
            <a:r>
              <a:t>AGPLv3 | Support / Cloud; Managed AI</a:t>
            </a:r>
          </a:p>
          <a:p xmlns:a="http://schemas.openxmlformats.org/drawingml/2006/main">
            <a:r>
              <a:t>0,03 EUR / AI Call</a:t>
            </a:r>
          </a:p>
          <a:p xmlns:a="http://schemas.openxmlformats.org/drawingml/2006/main">
            <a:r>
              <a:t>Chatwoot CE | Kostenlose Community Edition</a:t>
            </a:r>
          </a:p>
          <a:p xmlns:a="http://schemas.openxmlformats.org/drawingml/2006/main">
            <a:r>
              <a:t>MIT-Community-Code | Captain: Premium Support</a:t>
            </a:r>
          </a:p>
          <a:p xmlns:a="http://schemas.openxmlformats.org/drawingml/2006/main">
            <a:r>
              <a:t>19 USD / Agent / M., jährlich</a:t>
            </a:r>
          </a:p>
          <a:p xmlns:a="http://schemas.openxmlformats.org/drawingml/2006/main">
            <a:r>
              <a:t>FreeScout | Kostenloser Helpdesk;</a:t>
            </a:r>
          </a:p>
          <a:p xmlns:a="http://schemas.openxmlformats.org/drawingml/2006/main">
            <a:r>
              <a:t>AI Integration Module gratis | Bezahlte Module einmalig;</a:t>
            </a:r>
          </a:p>
          <a:p xmlns:a="http://schemas.openxmlformats.org/drawingml/2006/main">
            <a:r>
              <a:t>Modellverbrauch separat</a:t>
            </a:r>
          </a:p>
          <a:p xmlns:a="http://schemas.openxmlformats.org/drawingml/2006/main">
            <a:r>
              <a:t>GLPI | Freie Software</a:t>
            </a:r>
          </a:p>
          <a:p xmlns:a="http://schemas.openxmlformats.org/drawingml/2006/main">
            <a:r>
              <a:t>GPL-3.0-or-later | Network-Support / Cloud;</a:t>
            </a:r>
          </a:p>
          <a:p xmlns:a="http://schemas.openxmlformats.org/drawingml/2006/main">
            <a:r>
              <a:t>Umfang nach Angebot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JSM Cloud ist agenten- und planabhängig; Free bis drei Agents. Premium/Enterprise enthalten ein VSA-Kontingent, Mehrnutzung beginnt bei 0,30 USD pro unterstütztem Gespräch. ServiceNow Advanced und Prime werden individuell angeboten; laut Preisübersicht sind Virtual-Agent-Gespräche unbegrenzt enthalten. Copilot Studio: 200 USD monatlich für 25.000 Credits, alternativ PAYG. Power Pages separat: Einstiegsstufe jährlich 200 USD monatlich für 100 angemeldete Nutzer pro Website. Anonyme Nutzung wird anders berechnet. Keine automatische Gesamtsumme bilden.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Keine pauschale Microsoft-Gesamtsumme: authentifizierte, anonyme und PAYG-Nutzung unterscheiden. Credits sind keine Gespräche. JSM Premium/Enterprise enthalten 1.000 unterstützte Gespräche monatlich bzw. 12.000 jährlich; Mehrnutzung ab 0,30 USD pro Gespräch, volumenabhängig. ServiceNow Advanced/Prime nur nach Angebot, Virtual-Agent-Gespräche laut Preisübersicht unbegrenzt. Kein erfundener Agentenpreis.</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ANHANG · BESCHAFFUNG</a:t>
            </a:r>
          </a:p>
          <a:p xmlns:a="http://schemas.openxmlformats.org/drawingml/2006/main">
            <a:r>
              <a:t>Enterprise und Baukasten separat kalkulieren</a:t>
            </a:r>
          </a:p>
          <a:p xmlns:a="http://schemas.openxmlformats.org/drawingml/2006/main">
            <a:r>
              <a:t>CSP by kieks.me</a:t>
            </a:r>
          </a:p>
          <a:p xmlns:a="http://schemas.openxmlformats.org/drawingml/2006/main">
            <a:r>
              <a:t>23</a:t>
            </a:r>
          </a:p>
          <a:p xmlns:a="http://schemas.openxmlformats.org/drawingml/2006/main">
            <a:r>
              <a:t>Stand 14.10.2026 · * Einstiegsstufe, jährliche Abrechnung. JSM: unterstützte Gespräche; Kontingent gilt.</a:t>
            </a:r>
          </a:p>
          <a:p xmlns:a="http://schemas.openxmlformats.org/drawingml/2006/main">
            <a:r>
              <a:t>Angebot | Lizenz / Angebot | KI- oder Portal-Einheit</a:t>
            </a:r>
          </a:p>
          <a:p xmlns:a="http://schemas.openxmlformats.org/drawingml/2006/main">
            <a:r>
              <a:t>JSM Cloud /</a:t>
            </a:r>
          </a:p>
          <a:p xmlns:a="http://schemas.openxmlformats.org/drawingml/2006/main">
            <a:r>
              <a:t>Service Collection | Agenten- und Planmodell;</a:t>
            </a:r>
          </a:p>
          <a:p xmlns:a="http://schemas.openxmlformats.org/drawingml/2006/main">
            <a:r>
              <a:t>Free bis zu 3 Agents | VSA: Premium / Enterprise;</a:t>
            </a:r>
          </a:p>
          <a:p xmlns:a="http://schemas.openxmlformats.org/drawingml/2006/main">
            <a:r>
              <a:t>ab 0,30 USD / Gespräch extra</a:t>
            </a:r>
          </a:p>
          <a:p xmlns:a="http://schemas.openxmlformats.org/drawingml/2006/main">
            <a:r>
              <a:t>ServiceNow CSM | Individuelles Angebot</a:t>
            </a:r>
          </a:p>
          <a:p xmlns:a="http://schemas.openxmlformats.org/drawingml/2006/main">
            <a:r>
              <a:t>Advanced / Prime | Virtual-Agent-Gespräche</a:t>
            </a:r>
          </a:p>
          <a:p xmlns:a="http://schemas.openxmlformats.org/drawingml/2006/main">
            <a:r>
              <a:t>laut Paketen unbegrenzt</a:t>
            </a:r>
          </a:p>
          <a:p xmlns:a="http://schemas.openxmlformats.org/drawingml/2006/main">
            <a:r>
              <a:t>Copilot Studio | 200 USD / Monat für</a:t>
            </a:r>
          </a:p>
          <a:p xmlns:a="http://schemas.openxmlformats.org/drawingml/2006/main">
            <a:r>
              <a:t>25.000 Credits; auch PAYG | Credits je Aktion;</a:t>
            </a:r>
          </a:p>
          <a:p xmlns:a="http://schemas.openxmlformats.org/drawingml/2006/main">
            <a:r>
              <a:t>kein Gesprächspreis</a:t>
            </a:r>
          </a:p>
          <a:p xmlns:a="http://schemas.openxmlformats.org/drawingml/2006/main">
            <a:r>
              <a:t>Power Pages | Separat: 200 USD / Monat</a:t>
            </a:r>
          </a:p>
          <a:p xmlns:a="http://schemas.openxmlformats.org/drawingml/2006/main">
            <a:r>
              <a:t>für 100 angemeldete Nutzer* | Aktive Nutzer je Website;</a:t>
            </a:r>
          </a:p>
          <a:p xmlns:a="http://schemas.openxmlformats.org/drawingml/2006/main">
            <a:r>
              <a:t>anonyme Nutzung separat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Der CSP-Zielwert von 80 Prozent beschreibt Vorfilterung und bleibt ungemessen. Fin-Outcomes, Freddy-Sessions, JSM-Intents und Credits sind unterschiedlich definiert; sie sind keine gemeinsame Leistungskennzahl. Hersteller-Prozentangaben sind keine unabhängigen Benchmarks. Die Recherche vom 14.10.2026 umfasst elf Angebote und keine eigenen Konkurrenzinstallationen oder verhandelten Angebote. Der beiliegende Recherchebericht und die Notizen dokumentieren Quellen, Preisbedingungen und offene Fragen. Eine Kostensenkung muss im Pilot einschließlich Betrieb und Pflege belegt werden.</a:t>
            </a:r>
          </a:p>
          <a:p xmlns:a="http://schemas.openxmlformats.org/drawingml/2006/main">
            <a:r>
              <a:t/>
            </a:r>
          </a:p>
          <a:p xmlns:a="http://schemas.openxmlformats.org/drawingml/2006/main">
            <a:r>
              <a:t>WEITERE DETAILS UND QUELLEN</a:t>
            </a:r>
          </a:p>
          <a:p xmlns:a="http://schemas.openxmlformats.org/drawingml/2006/main">
            <a:r>
              <a:t/>
            </a:r>
          </a:p>
          <a:p xmlns:a="http://schemas.openxmlformats.org/drawingml/2006/main">
            <a:r>
              <a:t>Primärquellen zu elf Angeboten, Stand 14.10.2026. Keine Installationen oder unabhängigen Tests. Quellen zu Preisen und Funktionen stehen in den jeweiligen Notizen und im Recherchebericht. Fin-Outcomes können abgeschlossene Procedures mit Übergabe umfassen; Freddy-Sessions, JSM-Intents und Credits sind anders definiert als CSP-Vorfilterung. Herstellerangaben sind keine unabhängigen Benchmarks. Menschliche Erreichbarkeit hängt von Kanal und Servicezeiten ab. CSP-ROI ist noch ungemessen.</a:t>
            </a:r>
          </a:p>
          <a:p xmlns:a="http://schemas.openxmlformats.org/drawingml/2006/main">
            <a:r>
              <a:t/>
            </a:r>
          </a:p>
          <a:p xmlns:a="http://schemas.openxmlformats.org/drawingml/2006/main">
            <a:r>
              <a:t>Recherche: 14.10.2026. Keine eigenen Wettbewerbertests oder Angebote.</a:t>
            </a:r>
          </a:p>
          <a:p xmlns:a="http://schemas.openxmlformats.org/drawingml/2006/main">
            <a:r>
              <a:t>Primärquellen:</a:t>
            </a:r>
          </a:p>
          <a:p xmlns:a="http://schemas.openxmlformats.org/drawingml/2006/main">
            <a:r>
              <a:t>https://www.zendesk.com/pricing/</a:t>
            </a:r>
          </a:p>
          <a:p xmlns:a="http://schemas.openxmlformats.org/drawingml/2006/main">
            <a:r>
              <a:t>https://www.freshworks.com/freshdesk/omni/pricing/</a:t>
            </a:r>
          </a:p>
          <a:p xmlns:a="http://schemas.openxmlformats.org/drawingml/2006/main">
            <a:r>
              <a:t>https://www.intercom.com/pricing</a:t>
            </a:r>
          </a:p>
          <a:p xmlns:a="http://schemas.openxmlformats.org/drawingml/2006/main">
            <a:r>
              <a:t>https://crisp.chat/en/pricing/</a:t>
            </a:r>
          </a:p>
          <a:p xmlns:a="http://schemas.openxmlformats.org/drawingml/2006/main">
            <a:r>
              <a:t>https://www.atlassian.com/collections/service/pricing?bundle=jira-service-management</a:t>
            </a:r>
          </a:p>
          <a:p xmlns:a="http://schemas.openxmlformats.org/drawingml/2006/main">
            <a:r>
              <a:t>https://www.servicenow.com/products/customer-service-management/pricing.html</a:t>
            </a:r>
          </a:p>
          <a:p xmlns:a="http://schemas.openxmlformats.org/drawingml/2006/main">
            <a:r>
              <a:t>https://www.microsoft.com/en-us/copilot/pricing/copilot-studio</a:t>
            </a:r>
          </a:p>
          <a:p xmlns:a="http://schemas.openxmlformats.org/drawingml/2006/main">
            <a:r>
              <a:t>https://learn.microsoft.com/en-us/power-platform/admin/powerapps-flow-licensing-faq</a:t>
            </a:r>
          </a:p>
          <a:p xmlns:a="http://schemas.openxmlformats.org/drawingml/2006/main">
            <a:r>
              <a:t>https://zammad.com/en/pricing</a:t>
            </a:r>
          </a:p>
          <a:p xmlns:a="http://schemas.openxmlformats.org/drawingml/2006/main">
            <a:r>
              <a:t>https://zammad.com/en/company/press/zammad-introduces-ai-features-with-free-choice-of-large-language-model</a:t>
            </a:r>
          </a:p>
          <a:p xmlns:a="http://schemas.openxmlformats.org/drawingml/2006/main">
            <a:r>
              <a:t>https://www.chatwoot.com/pricing/self-hosted-plans</a:t>
            </a:r>
          </a:p>
          <a:p xmlns:a="http://schemas.openxmlformats.org/drawingml/2006/main">
            <a:r>
              <a:t>https://app.chatwoot.com/hc/user-guide/articles/1755284287-how-to-enable-captain-on-self_hosted-installations</a:t>
            </a:r>
          </a:p>
          <a:p xmlns:a="http://schemas.openxmlformats.org/drawingml/2006/main">
            <a:r>
              <a:t>https://freescout.net/modules-faq/</a:t>
            </a:r>
          </a:p>
          <a:p xmlns:a="http://schemas.openxmlformats.org/drawingml/2006/main">
            <a:r>
              <a:t>https://www.freescout.net/module/ai-integration/</a:t>
            </a:r>
          </a:p>
          <a:p xmlns:a="http://schemas.openxmlformats.org/drawingml/2006/main">
            <a:r>
              <a:t>https://www.glpi-project.org/en/</a:t>
            </a:r>
          </a:p>
          <a:p xmlns:a="http://schemas.openxmlformats.org/drawingml/2006/main">
            <a:r>
              <a:t>https://www.glpi-project.org/en/glpi-gpl-3-0/</a:t>
            </a:r>
          </a:p>
          <a:p xmlns:a="http://schemas.openxmlformats.org/drawingml/2006/main">
            <a:r>
              <a:t>https://www.glpi-project.org/en/pricing/</a:t>
            </a:r>
          </a:p>
          <a:p xmlns:a="http://schemas.openxmlformats.org/drawingml/2006/main">
            <a:r>
              <a:t>https://github.com/kieksme/csp-brand/blob/main/brand/README.md</a:t>
            </a:r>
          </a:p>
          <a:p xmlns:a="http://schemas.openxmlformats.org/drawingml/2006/main">
            <a:r>
              <a:t/>
            </a:r>
          </a:p>
          <a:p xmlns:a="http://schemas.openxmlformats.org/drawingml/2006/main">
            <a:r>
              <a:t>Detaillierte Recherche: docs/pitch/competition-research-2026-10-14.md</a:t>
            </a:r>
          </a:p>
          <a:p xmlns:a="http://schemas.openxmlformats.org/drawingml/2006/main">
            <a:r>
              <a:t/>
            </a:r>
          </a:p>
          <a:p xmlns:a="http://schemas.openxmlformats.org/drawingml/2006/main">
            <a:r>
              <a:t>DETAILS DER BISHERIGEN FOLIE</a:t>
            </a:r>
          </a:p>
          <a:p xmlns:a="http://schemas.openxmlformats.org/drawingml/2006/main">
            <a:r>
              <a:t>ANHANG · QUELLEN UND GRENZEN</a:t>
            </a:r>
          </a:p>
          <a:p xmlns:a="http://schemas.openxmlformats.org/drawingml/2006/main">
            <a:r>
              <a:t>Zielwerte brauchen vergleichbare Messungen</a:t>
            </a:r>
          </a:p>
          <a:p xmlns:a="http://schemas.openxmlformats.org/drawingml/2006/main">
            <a:r>
              <a:t>CSP by kieks.me</a:t>
            </a:r>
          </a:p>
          <a:p xmlns:a="http://schemas.openxmlformats.org/drawingml/2006/main">
            <a:r>
              <a:t>24</a:t>
            </a:r>
          </a:p>
          <a:p xmlns:a="http://schemas.openxmlformats.org/drawingml/2006/main">
            <a:r>
              <a:t>80 % sind unser Ziel für Vorfilterung.</a:t>
            </a:r>
          </a:p>
          <a:p xmlns:a="http://schemas.openxmlformats.org/drawingml/2006/main">
            <a:r>
              <a:t>Noch keine eigene Messung. Keine Lösungsquote</a:t>
            </a:r>
          </a:p>
          <a:p xmlns:a="http://schemas.openxmlformats.org/drawingml/2006/main">
            <a:r>
              <a:t>und keine garantierte Kostensenkung.</a:t>
            </a:r>
          </a:p>
          <a:p xmlns:a="http://schemas.openxmlformats.org/drawingml/2006/main">
            <a:r>
              <a:t>Im Pilot getrennt erfassen:</a:t>
            </a:r>
          </a:p>
          <a:p xmlns:a="http://schemas.openxmlformats.org/drawingml/2006/main">
            <a:r>
              <a:t>Vorfilterung · vollständig gelöste Anfragen · Antwortqualität</a:t>
            </a:r>
          </a:p>
          <a:p xmlns:a="http://schemas.openxmlformats.org/drawingml/2006/main">
            <a:r>
              <a:t>Menschliche Übergaben · Teamaufwand · gesamte Betriebskosten</a:t>
            </a:r>
          </a:p>
          <a:p xmlns:a="http://schemas.openxmlformats.org/drawingml/2006/main">
            <a:r>
              <a:t>11 Angebote · Herstellerquellen vom 14.10.2026 · Links in Notizen; vollständige Recherche liegt bei.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d85e731e274c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86271d8f2b46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b4e3900a014c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18dfcf3bba40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efbfdeb1fd45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10ed22c2c54d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A08392-F31E-48D3-9D5C-BCB6BA8F35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CF0018-5B48-4BF3-B20D-665AA95435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D527FF-AC4F-4EF2-9F8C-0F64CE5A117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6F660C-65BF-4D04-979B-5BCFFE79EE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623BD87-4D06-42B9-B8DF-D0FE85CAF8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2EA143-9072-4043-B8EE-5B58FE092E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4B0F92-7EF2-41C5-A332-164ED71479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462294-AEE9-43FE-872D-01933C998FA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9042F6-EA1B-4D91-ADFB-AEFA777C86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5FFAC4-EF71-4696-A682-BE401A5029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e2ccf1ed484c60" /><Relationship Type="http://schemas.openxmlformats.org/officeDocument/2006/relationships/slideLayout" Target="/ppt/slideLayouts/slideLayout1.xml" Id="Ra82e2ff56edc456b" /><Relationship Type="http://schemas.openxmlformats.org/officeDocument/2006/relationships/slideLayout" Target="/ppt/slideLayouts/slideLayout2.xml" Id="Rfad03a732f604e70" /><Relationship Type="http://schemas.openxmlformats.org/officeDocument/2006/relationships/slideLayout" Target="/ppt/slideLayouts/slideLayout3.xml" Id="R493fa753b5cb4ce0" /><Relationship Type="http://schemas.openxmlformats.org/officeDocument/2006/relationships/slideLayout" Target="/ppt/slideLayouts/slideLayout4.xml" Id="R2f7214a602bb4e57" /><Relationship Type="http://schemas.openxmlformats.org/officeDocument/2006/relationships/slideLayout" Target="/ppt/slideLayouts/slideLayout5.xml" Id="R30b4fbdc374544af" /><Relationship Type="http://schemas.openxmlformats.org/officeDocument/2006/relationships/slideLayout" Target="/ppt/slideLayouts/slideLayout6.xml" Id="R0c7282784b8a44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2e2ff56edc456b"/>
    <p:sldLayoutId xmlns:r="http://schemas.openxmlformats.org/officeDocument/2006/relationships" id="2147483650" r:id="Rfad03a732f604e70"/>
    <p:sldLayoutId xmlns:r="http://schemas.openxmlformats.org/officeDocument/2006/relationships" id="2147483651" r:id="R493fa753b5cb4ce0"/>
    <p:sldLayoutId xmlns:r="http://schemas.openxmlformats.org/officeDocument/2006/relationships" id="2147483652" r:id="R2f7214a602bb4e57"/>
    <p:sldLayoutId xmlns:r="http://schemas.openxmlformats.org/officeDocument/2006/relationships" id="2147483653" r:id="R30b4fbdc374544af"/>
    <p:sldLayoutId xmlns:r="http://schemas.openxmlformats.org/officeDocument/2006/relationships" id="2147483654" r:id="R0c7282784b8a44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c804ba7ab74841" /><Relationship Type="http://schemas.openxmlformats.org/officeDocument/2006/relationships/image" Target="/ppt/media/image.png" Id="R6d5c27f3147e4ee7" /><Relationship Type="http://schemas.openxmlformats.org/officeDocument/2006/relationships/notesSlide" Target="/ppt/notesSlides/notesSlide1.xml" Id="Rebeb19c2d26a41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2e8375f88f4feb" /><Relationship Type="http://schemas.openxmlformats.org/officeDocument/2006/relationships/notesSlide" Target="/ppt/notesSlides/notesSlide2.xml" Id="Rfb225157947842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32ce66dcf1427e" /><Relationship Type="http://schemas.openxmlformats.org/officeDocument/2006/relationships/image" Target="/ppt/media/image2.png" Id="R476df243821f46df" /><Relationship Type="http://schemas.openxmlformats.org/officeDocument/2006/relationships/notesSlide" Target="/ppt/notesSlides/notesSlide3.xml" Id="R07963c07d99d41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ab3b56d6f9449d" /><Relationship Type="http://schemas.openxmlformats.org/officeDocument/2006/relationships/notesSlide" Target="/ppt/notesSlides/notesSlide4.xml" Id="Ra00c3fd3ae9b4f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92d2b9fd184b3e" /><Relationship Type="http://schemas.openxmlformats.org/officeDocument/2006/relationships/notesSlide" Target="/ppt/notesSlides/notesSlide5.xml" Id="R0d1ff50746844e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1c2af830474fb9" /><Relationship Type="http://schemas.openxmlformats.org/officeDocument/2006/relationships/notesSlide" Target="/ppt/notesSlides/notesSlide6.xml" Id="R07aa935b780545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c7684b1af642e8" /><Relationship Type="http://schemas.openxmlformats.org/officeDocument/2006/relationships/notesSlide" Target="/ppt/notesSlides/notesSlide7.xml" Id="R662ecf399af44c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37475a519a421a" /><Relationship Type="http://schemas.openxmlformats.org/officeDocument/2006/relationships/notesSlide" Target="/ppt/notesSlides/notesSlide8.xml" Id="R1499f180da6042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e6ccc3ec884d0b" /><Relationship Type="http://schemas.openxmlformats.org/officeDocument/2006/relationships/notesSlide" Target="/ppt/notesSlides/notesSlide9.xml" Id="Rba3b449ed1eb43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f2b5d4643a3413d" /><Relationship Type="http://schemas.openxmlformats.org/officeDocument/2006/relationships/notesSlide" Target="/ppt/notesSlides/notesSlide10.xml" Id="R4f9a307e581141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f45ca1b6754938" /><Relationship Type="http://schemas.openxmlformats.org/officeDocument/2006/relationships/notesSlide" Target="/ppt/notesSlides/notesSlide11.xml" Id="Re59a95086f4d49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6dea2a9d8845d4" /><Relationship Type="http://schemas.openxmlformats.org/officeDocument/2006/relationships/notesSlide" Target="/ppt/notesSlides/notesSlide12.xml" Id="R6d459cb93b1241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9bbfd64055f47b9" /><Relationship Type="http://schemas.openxmlformats.org/officeDocument/2006/relationships/notesSlide" Target="/ppt/notesSlides/notesSlide13.xml" Id="Rde2e5c7eb9864d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9aacbadf7cf43e4" /><Relationship Type="http://schemas.openxmlformats.org/officeDocument/2006/relationships/notesSlide" Target="/ppt/notesSlides/notesSlide14.xml" Id="R1c387a04b62949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5707141c224343" /><Relationship Type="http://schemas.openxmlformats.org/officeDocument/2006/relationships/image" Target="/ppt/media/image3.png" Id="R8bc51531e9964728" /><Relationship Type="http://schemas.openxmlformats.org/officeDocument/2006/relationships/notesSlide" Target="/ppt/notesSlides/notesSlide15.xml" Id="Rbb8d08c7a3324f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1ba5375fb1b4a17" /><Relationship Type="http://schemas.openxmlformats.org/officeDocument/2006/relationships/notesSlide" Target="/ppt/notesSlides/notesSlide16.xml" Id="R6332b533636c42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0f7189d79cc4d72" /><Relationship Type="http://schemas.openxmlformats.org/officeDocument/2006/relationships/notesSlide" Target="/ppt/notesSlides/notesSlide17.xml" Id="Rec1a7d8ca00945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3476f4d9fdc4ae7" /><Relationship Type="http://schemas.openxmlformats.org/officeDocument/2006/relationships/hyperlink" Target="mailto:kontakt@kieks.me" TargetMode="External" Id="R295f8e2a85fd4813" /><Relationship Type="http://schemas.openxmlformats.org/officeDocument/2006/relationships/hyperlink" Target="https://csp-brand-kieksme.netlify.app/" TargetMode="External" Id="Rce3cd43ddd9a480f" /><Relationship Type="http://schemas.openxmlformats.org/officeDocument/2006/relationships/notesSlide" Target="/ppt/notesSlides/notesSlide18.xml" Id="Ra7428c96059f45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97802122444905" /><Relationship Type="http://schemas.openxmlformats.org/officeDocument/2006/relationships/notesSlide" Target="/ppt/notesSlides/notesSlide19.xml" Id="Rbec4327cbb204e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3c9d1b1410e4c9c" /><Relationship Type="http://schemas.openxmlformats.org/officeDocument/2006/relationships/notesSlide" Target="/ppt/notesSlides/notesSlide20.xml" Id="R5a0819d877ef44d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b74e725bf5b42a8" /><Relationship Type="http://schemas.openxmlformats.org/officeDocument/2006/relationships/notesSlide" Target="/ppt/notesSlides/notesSlide21.xml" Id="Re9df7037a3444fd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2681d6c15e7455b" /><Relationship Type="http://schemas.openxmlformats.org/officeDocument/2006/relationships/notesSlide" Target="/ppt/notesSlides/notesSlide22.xml" Id="R5678b7366aef4d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8ef343bffef4a36" /><Relationship Type="http://schemas.openxmlformats.org/officeDocument/2006/relationships/notesSlide" Target="/ppt/notesSlides/notesSlide23.xml" Id="R8f02815c4e24455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9ce265d9acd4190" /><Relationship Type="http://schemas.openxmlformats.org/officeDocument/2006/relationships/notesSlide" Target="/ppt/notesSlides/notesSlide24.xml" Id="R5ca90e61569d4919" /></Relationships>
</file>

<file path=ppt/slides/slide1.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DA5F0F54-7D1A-4B68-82A2-E7C05F2B5252}"/>
              </a:ext>
            </a:extLst>
          </p:cNvPr>
          <p:cNvPicPr>
            <a:picLocks xmlns:a="http://schemas.openxmlformats.org/drawingml/2006/main" noChangeAspect="1"/>
          </p:cNvPicPr>
          <p:nvPr/>
        </p:nvPicPr>
        <p:blipFill>
          <a:blip xmlns:r="http://schemas.openxmlformats.org/officeDocument/2006/relationships" xmlns:a="http://schemas.openxmlformats.org/drawingml/2006/main" r:embed="R6d5c27f3147e4ee7"/>
          <a:stretch xmlns:a="http://schemas.openxmlformats.org/drawingml/2006/main"/>
        </p:blipFill>
        <p:spPr>
          <a:xfrm xmlns:a="http://schemas.openxmlformats.org/drawingml/2006/main">
            <a:off x="685800" y="546222"/>
            <a:ext cx="2667000" cy="774456"/>
          </a:xfrm>
          <a:prstGeom xmlns:a="http://schemas.openxmlformats.org/drawingml/2006/main" prst="rect">
            <a:avLst/>
          </a:prstGeom>
        </p:spPr>
      </p:pic>
      <p:sp>
        <p:nvSpPr>
          <p:cNvPr id="3" name="deck-title">
            <a:extLst xmlns:a="http://schemas.openxmlformats.org/drawingml/2006/main">
              <a:ext uri="{FF2B5EF4-FFF2-40B4-BE49-F238E27FC236}">
                <a16:creationId xmlns:a16="http://schemas.microsoft.com/office/drawing/2014/main" id="{FDC0250C-3526-4E1A-A43E-C8B3ABDA3479}"/>
              </a:ext>
            </a:extLst>
          </p:cNvPr>
          <p:cNvSpPr>
            <a:spLocks xmlns:a="http://schemas.openxmlformats.org/drawingml/2006/main" noGrp="1"/>
          </p:cNvSpPr>
          <p:nvPr/>
        </p:nvSpPr>
        <p:spPr>
          <a:xfrm xmlns:a="http://schemas.openxmlformats.org/drawingml/2006/main">
            <a:off x="685800" y="265747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7FAF9"/>
                </a:solidFill>
                <a:latin typeface="Arial"/>
                <a:ea typeface="Arial"/>
                <a:cs typeface="Arial"/>
              </a:defRPr>
            </a:defPPr>
          </a:lstStyle>
          <a:p xmlns:a="http://schemas.openxmlformats.org/drawingml/2006/main">
            <a:pPr>
              <a:buNone/>
              <a:defRPr sz="5850" b="1">
                <a:solidFill>
                  <a:srgbClr val="F7FAF9"/>
                </a:solidFill>
                <a:latin typeface="Arial"/>
                <a:ea typeface="Arial"/>
                <a:cs typeface="Arial"/>
              </a:defRPr>
            </a:pPr>
            <a:r>
              <a:rPr sz="5850" b="1">
                <a:solidFill>
                  <a:srgbClr val="F7FAF9"/>
                </a:solidFill>
                <a:latin typeface="Arial"/>
                <a:ea typeface="Arial"/>
                <a:cs typeface="Arial"/>
              </a:rPr>
              <a:t>Kundenservice</a:t>
            </a:r>
          </a:p>
          <a:p xmlns:a="http://schemas.openxmlformats.org/drawingml/2006/main">
            <a:pPr>
              <a:buNone/>
              <a:defRPr sz="5850" b="1">
                <a:solidFill>
                  <a:srgbClr val="F7FAF9"/>
                </a:solidFill>
                <a:latin typeface="Arial"/>
                <a:ea typeface="Arial"/>
                <a:cs typeface="Arial"/>
              </a:defRPr>
            </a:pPr>
            <a:r>
              <a:rPr sz="5850" b="1">
                <a:solidFill>
                  <a:srgbClr val="F7FAF9"/>
                </a:solidFill>
                <a:latin typeface="Arial"/>
                <a:ea typeface="Arial"/>
                <a:cs typeface="Arial"/>
              </a:rPr>
              <a:t>mit freier Wahl</a:t>
            </a:r>
          </a:p>
        </p:txBody>
      </p:sp>
      <p:sp>
        <p:nvSpPr>
          <p:cNvPr id="6" name="body">
            <a:extLst xmlns:a="http://schemas.openxmlformats.org/drawingml/2006/main">
              <a:ext uri="{FF2B5EF4-FFF2-40B4-BE49-F238E27FC236}">
                <a16:creationId xmlns:a16="http://schemas.microsoft.com/office/drawing/2014/main" id="{331DF948-1DA2-4CD1-9D23-3571E60C75C0}"/>
              </a:ext>
            </a:extLst>
          </p:cNvPr>
          <p:cNvSpPr>
            <a:spLocks xmlns:a="http://schemas.openxmlformats.org/drawingml/2006/main" noGrp="1"/>
          </p:cNvSpPr>
          <p:nvPr/>
        </p:nvSpPr>
        <p:spPr>
          <a:xfrm xmlns:a="http://schemas.openxmlformats.org/drawingml/2006/main">
            <a:off x="685800" y="193357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5F36B"/>
                </a:solidFill>
                <a:latin typeface="Arial"/>
                <a:ea typeface="Arial"/>
                <a:cs typeface="Arial"/>
              </a:defRPr>
            </a:defPPr>
          </a:lstStyle>
          <a:p xmlns:a="http://schemas.openxmlformats.org/drawingml/2006/main">
            <a:pPr>
              <a:defRPr sz="1875" b="1">
                <a:solidFill>
                  <a:srgbClr val="D5F36B"/>
                </a:solidFill>
                <a:latin typeface="Arial"/>
                <a:ea typeface="Arial"/>
                <a:cs typeface="Arial"/>
              </a:defRPr>
            </a:pPr>
            <a:r>
              <a:rPr sz="1875" b="1">
                <a:solidFill>
                  <a:srgbClr val="D5F36B"/>
                </a:solidFill>
                <a:latin typeface="Arial"/>
                <a:ea typeface="Arial"/>
                <a:cs typeface="Arial"/>
              </a:rPr>
              <a:t>Customer Service Portal</a:t>
            </a:r>
          </a:p>
        </p:txBody>
      </p:sp>
      <p:sp>
        <p:nvSpPr>
          <p:cNvPr id="7" name="body">
            <a:extLst xmlns:a="http://schemas.openxmlformats.org/drawingml/2006/main">
              <a:ext uri="{FF2B5EF4-FFF2-40B4-BE49-F238E27FC236}">
                <a16:creationId xmlns:a16="http://schemas.microsoft.com/office/drawing/2014/main" id="{9C781D0B-5029-4986-BB7E-16AF89546797}"/>
              </a:ext>
            </a:extLst>
          </p:cNvPr>
          <p:cNvSpPr>
            <a:spLocks xmlns:a="http://schemas.openxmlformats.org/drawingml/2006/main" noGrp="1"/>
          </p:cNvSpPr>
          <p:nvPr/>
        </p:nvSpPr>
        <p:spPr>
          <a:xfrm xmlns:a="http://schemas.openxmlformats.org/drawingml/2006/main">
            <a:off x="723900" y="5095875"/>
            <a:ext cx="1078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7FAF9"/>
                </a:solidFill>
                <a:latin typeface="Arial"/>
                <a:ea typeface="Arial"/>
                <a:cs typeface="Arial"/>
              </a:defRPr>
            </a:defPPr>
          </a:lstStyle>
          <a:p xmlns:a="http://schemas.openxmlformats.org/drawingml/2006/main">
            <a:pPr>
              <a:defRPr sz="2400" b="0">
                <a:solidFill>
                  <a:srgbClr val="F7FAF9"/>
                </a:solidFill>
                <a:latin typeface="Arial"/>
                <a:ea typeface="Arial"/>
                <a:cs typeface="Arial"/>
              </a:defRPr>
            </a:pPr>
            <a:r>
              <a:rPr sz="2400" b="0">
                <a:solidFill>
                  <a:srgbClr val="F7FAF9"/>
                </a:solidFill>
                <a:latin typeface="Arial"/>
                <a:ea typeface="Arial"/>
                <a:cs typeface="Arial"/>
              </a:rPr>
              <a:t>Open Source. Einrichtung. Integration.</a:t>
            </a:r>
          </a:p>
        </p:txBody>
      </p:sp>
    </p:spTree>
    <p:extLst>
      <p:ext uri="{BB962C8B-B14F-4D97-AF65-F5344CB8AC3E}">
        <p14:creationId xmlns:p14="http://schemas.microsoft.com/office/powerpoint/2010/main" val="410014145"/>
      </p:ext>
    </p:extLst>
  </p:cSld>
</p:sld>
</file>

<file path=ppt/slides/slide2.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A60D2533-8237-430E-92E3-F40C8347014D}"/>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AUSGANGSLAGE</a:t>
            </a:r>
          </a:p>
        </p:txBody>
      </p:sp>
      <p:sp>
        <p:nvSpPr>
          <p:cNvPr id="2" name="slide-title">
            <a:extLst xmlns:a="http://schemas.openxmlformats.org/drawingml/2006/main">
              <a:ext uri="{FF2B5EF4-FFF2-40B4-BE49-F238E27FC236}">
                <a16:creationId xmlns:a16="http://schemas.microsoft.com/office/drawing/2014/main" id="{8B1A2D95-270A-48E5-A7EA-7EADF047C4C8}"/>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Drei typische Servicefragen</a:t>
            </a:r>
          </a:p>
        </p:txBody>
      </p:sp>
      <p:sp>
        <p:nvSpPr>
          <p:cNvPr id="3" name="footer">
            <a:extLst xmlns:a="http://schemas.openxmlformats.org/drawingml/2006/main">
              <a:ext uri="{FF2B5EF4-FFF2-40B4-BE49-F238E27FC236}">
                <a16:creationId xmlns:a16="http://schemas.microsoft.com/office/drawing/2014/main" id="{65A96F84-7782-4982-87C2-B2A4341A4DD1}"/>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88AD0977-FC32-4FD5-93A7-60A6B8157B4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02</a:t>
            </a:r>
          </a:p>
        </p:txBody>
      </p:sp>
      <p:sp>
        <p:nvSpPr>
          <p:cNvPr id="10" name="body">
            <a:extLst xmlns:a="http://schemas.openxmlformats.org/drawingml/2006/main">
              <a:ext uri="{FF2B5EF4-FFF2-40B4-BE49-F238E27FC236}">
                <a16:creationId xmlns:a16="http://schemas.microsoft.com/office/drawing/2014/main" id="{9DBEA10E-3167-42C9-9689-8B55BD019AE7}"/>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Ist mein System gestört?</a:t>
            </a:r>
          </a:p>
        </p:txBody>
      </p:sp>
      <p:sp>
        <p:nvSpPr>
          <p:cNvPr id="11" name="body">
            <a:extLst xmlns:a="http://schemas.openxmlformats.org/drawingml/2006/main">
              <a:ext uri="{FF2B5EF4-FFF2-40B4-BE49-F238E27FC236}">
                <a16:creationId xmlns:a16="http://schemas.microsoft.com/office/drawing/2014/main" id="{D7E54D38-34A2-44BE-89F8-991242664554}"/>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Wer ist zuständig?</a:t>
            </a:r>
          </a:p>
        </p:txBody>
      </p:sp>
      <p:sp>
        <p:nvSpPr>
          <p:cNvPr id="12" name="body">
            <a:extLst xmlns:a="http://schemas.openxmlformats.org/drawingml/2006/main">
              <a:ext uri="{FF2B5EF4-FFF2-40B4-BE49-F238E27FC236}">
                <a16:creationId xmlns:a16="http://schemas.microsoft.com/office/drawing/2014/main" id="{8D569003-8B0F-403A-AB98-29A6F507E806}"/>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Wo finde ich Hilfe?</a:t>
            </a:r>
          </a:p>
        </p:txBody>
      </p:sp>
    </p:spTree>
    <p:extLst>
      <p:ext uri="{BB962C8B-B14F-4D97-AF65-F5344CB8AC3E}">
        <p14:creationId xmlns:p14="http://schemas.microsoft.com/office/powerpoint/2010/main" val="1931143498"/>
      </p:ext>
    </p:extLst>
  </p:cSld>
</p:sld>
</file>

<file path=ppt/slides/slide3.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C6F918D0-E972-4625-8177-0187969E46A3}"/>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DAS PRODUKT</a:t>
            </a:r>
          </a:p>
        </p:txBody>
      </p:sp>
      <p:sp>
        <p:nvSpPr>
          <p:cNvPr id="2" name="slide-title">
            <a:extLst xmlns:a="http://schemas.openxmlformats.org/drawingml/2006/main">
              <a:ext uri="{FF2B5EF4-FFF2-40B4-BE49-F238E27FC236}">
                <a16:creationId xmlns:a16="http://schemas.microsoft.com/office/drawing/2014/main" id="{72BAA53F-2852-49F4-BF42-C5EA9549AC2D}"/>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Ein Portal für den Service</a:t>
            </a:r>
          </a:p>
        </p:txBody>
      </p:sp>
      <p:sp>
        <p:nvSpPr>
          <p:cNvPr id="3" name="footer">
            <a:extLst xmlns:a="http://schemas.openxmlformats.org/drawingml/2006/main">
              <a:ext uri="{FF2B5EF4-FFF2-40B4-BE49-F238E27FC236}">
                <a16:creationId xmlns:a16="http://schemas.microsoft.com/office/drawing/2014/main" id="{4AD7C092-0373-479F-932F-CAFBB2831BE2}"/>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50A169DA-F848-4A02-AE64-32E22903EE91}"/>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03</a:t>
            </a:r>
          </a:p>
        </p:txBody>
      </p:sp>
      <p:pic>
        <p:nvPicPr>
          <p:cNvPr id="7" name="">
            <a:extLst xmlns:a="http://schemas.openxmlformats.org/drawingml/2006/main">
              <a:ext uri="{FF2B5EF4-FFF2-40B4-BE49-F238E27FC236}">
                <a16:creationId xmlns:a16="http://schemas.microsoft.com/office/drawing/2014/main" id="{3C71EA12-3DA9-4704-8D0D-7E5698303EFC}"/>
              </a:ext>
            </a:extLst>
          </p:cNvPr>
          <p:cNvPicPr>
            <a:picLocks xmlns:a="http://schemas.openxmlformats.org/drawingml/2006/main" noChangeAspect="1"/>
          </p:cNvPicPr>
          <p:nvPr/>
        </p:nvPicPr>
        <p:blipFill>
          <a:blip xmlns:r="http://schemas.openxmlformats.org/officeDocument/2006/relationships" xmlns:a="http://schemas.openxmlformats.org/drawingml/2006/main" r:embed="R476df243821f46df"/>
          <a:stretch xmlns:a="http://schemas.openxmlformats.org/drawingml/2006/main"/>
        </p:blipFill>
        <p:spPr>
          <a:xfrm xmlns:a="http://schemas.openxmlformats.org/drawingml/2006/main">
            <a:off x="5520542" y="1838325"/>
            <a:ext cx="5418117" cy="417195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57B06892-EF33-4943-AC15-872DC5146AB9}"/>
              </a:ext>
            </a:extLst>
          </p:cNvPr>
          <p:cNvSpPr>
            <a:spLocks xmlns:a="http://schemas.openxmlformats.org/drawingml/2006/main" noGrp="1"/>
          </p:cNvSpPr>
          <p:nvPr/>
        </p:nvSpPr>
        <p:spPr>
          <a:xfrm xmlns:a="http://schemas.openxmlformats.org/drawingml/2006/main">
            <a:off x="685800" y="2286000"/>
            <a:ext cx="3810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Kontakt</a:t>
            </a:r>
          </a:p>
        </p:txBody>
      </p:sp>
      <p:sp>
        <p:nvSpPr>
          <p:cNvPr id="11" name="body">
            <a:extLst xmlns:a="http://schemas.openxmlformats.org/drawingml/2006/main">
              <a:ext uri="{FF2B5EF4-FFF2-40B4-BE49-F238E27FC236}">
                <a16:creationId xmlns:a16="http://schemas.microsoft.com/office/drawing/2014/main" id="{48F2B009-CDC0-4528-AE7D-8CC4A7180936}"/>
              </a:ext>
            </a:extLst>
          </p:cNvPr>
          <p:cNvSpPr>
            <a:spLocks xmlns:a="http://schemas.openxmlformats.org/drawingml/2006/main" noGrp="1"/>
          </p:cNvSpPr>
          <p:nvPr/>
        </p:nvSpPr>
        <p:spPr>
          <a:xfrm xmlns:a="http://schemas.openxmlformats.org/drawingml/2006/main">
            <a:off x="685800" y="2971800"/>
            <a:ext cx="3810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Bereitschaft</a:t>
            </a:r>
          </a:p>
        </p:txBody>
      </p:sp>
      <p:sp>
        <p:nvSpPr>
          <p:cNvPr id="12" name="body">
            <a:extLst xmlns:a="http://schemas.openxmlformats.org/drawingml/2006/main">
              <a:ext uri="{FF2B5EF4-FFF2-40B4-BE49-F238E27FC236}">
                <a16:creationId xmlns:a16="http://schemas.microsoft.com/office/drawing/2014/main" id="{3ECB8065-DE2D-4379-A601-4C6F2AF16662}"/>
              </a:ext>
            </a:extLst>
          </p:cNvPr>
          <p:cNvSpPr>
            <a:spLocks xmlns:a="http://schemas.openxmlformats.org/drawingml/2006/main" noGrp="1"/>
          </p:cNvSpPr>
          <p:nvPr/>
        </p:nvSpPr>
        <p:spPr>
          <a:xfrm xmlns:a="http://schemas.openxmlformats.org/drawingml/2006/main">
            <a:off x="685800" y="3657600"/>
            <a:ext cx="3810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Status</a:t>
            </a:r>
          </a:p>
        </p:txBody>
      </p:sp>
      <p:sp>
        <p:nvSpPr>
          <p:cNvPr id="13" name="body">
            <a:extLst xmlns:a="http://schemas.openxmlformats.org/drawingml/2006/main">
              <a:ext uri="{FF2B5EF4-FFF2-40B4-BE49-F238E27FC236}">
                <a16:creationId xmlns:a16="http://schemas.microsoft.com/office/drawing/2014/main" id="{BDE8A82F-5EE0-4E6D-A95D-3C94A3E3D6AE}"/>
              </a:ext>
            </a:extLst>
          </p:cNvPr>
          <p:cNvSpPr>
            <a:spLocks xmlns:a="http://schemas.openxmlformats.org/drawingml/2006/main" noGrp="1"/>
          </p:cNvSpPr>
          <p:nvPr/>
        </p:nvSpPr>
        <p:spPr>
          <a:xfrm xmlns:a="http://schemas.openxmlformats.org/drawingml/2006/main">
            <a:off x="685800" y="4343400"/>
            <a:ext cx="3810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Wissen</a:t>
            </a:r>
          </a:p>
        </p:txBody>
      </p:sp>
      <p:sp>
        <p:nvSpPr>
          <p:cNvPr id="14" name="body">
            <a:extLst xmlns:a="http://schemas.openxmlformats.org/drawingml/2006/main">
              <a:ext uri="{FF2B5EF4-FFF2-40B4-BE49-F238E27FC236}">
                <a16:creationId xmlns:a16="http://schemas.microsoft.com/office/drawing/2014/main" id="{26B726DF-D567-4A2A-B870-E7F030DF2076}"/>
              </a:ext>
            </a:extLst>
          </p:cNvPr>
          <p:cNvSpPr>
            <a:spLocks xmlns:a="http://schemas.openxmlformats.org/drawingml/2006/main" noGrp="1"/>
          </p:cNvSpPr>
          <p:nvPr/>
        </p:nvSpPr>
        <p:spPr>
          <a:xfrm xmlns:a="http://schemas.openxmlformats.org/drawingml/2006/main">
            <a:off x="5162550" y="6000750"/>
            <a:ext cx="6305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763"/>
                </a:solidFill>
                <a:latin typeface="Arial"/>
                <a:ea typeface="Arial"/>
                <a:cs typeface="Arial"/>
              </a:defRPr>
            </a:defPPr>
          </a:lstStyle>
          <a:p xmlns:a="http://schemas.openxmlformats.org/drawingml/2006/main">
            <a:pPr>
              <a:defRPr sz="1425" b="0">
                <a:solidFill>
                  <a:srgbClr val="526763"/>
                </a:solidFill>
                <a:latin typeface="Arial"/>
                <a:ea typeface="Arial"/>
                <a:cs typeface="Arial"/>
              </a:defRPr>
            </a:pPr>
            <a:r>
              <a:rPr sz="1425" b="0">
                <a:solidFill>
                  <a:srgbClr val="526763"/>
                </a:solidFill>
                <a:latin typeface="Arial"/>
                <a:ea typeface="Arial"/>
                <a:cs typeface="Arial"/>
              </a:rPr>
              <a:t>Synthetische Produktdemo</a:t>
            </a:r>
          </a:p>
        </p:txBody>
      </p:sp>
    </p:spTree>
    <p:extLst>
      <p:ext uri="{BB962C8B-B14F-4D97-AF65-F5344CB8AC3E}">
        <p14:creationId xmlns:p14="http://schemas.microsoft.com/office/powerpoint/2010/main" val="1444707450"/>
      </p:ext>
    </p:extLst>
  </p:cSld>
</p:sld>
</file>

<file path=ppt/slides/slide4.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623B9E88-3205-49E4-8B78-1DC95ECDDA0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buNone/>
              <a:defRPr sz="1275" b="1">
                <a:solidFill>
                  <a:srgbClr val="D5F36B"/>
                </a:solidFill>
                <a:latin typeface="Arial"/>
                <a:ea typeface="Arial"/>
                <a:cs typeface="Arial"/>
              </a:defRPr>
            </a:pPr>
            <a:r>
              <a:rPr sz="1275" b="1">
                <a:solidFill>
                  <a:srgbClr val="D5F36B"/>
                </a:solidFill>
                <a:latin typeface="Arial"/>
                <a:ea typeface="Arial"/>
                <a:cs typeface="Arial"/>
              </a:rPr>
              <a:t>ENTLASTUNG</a:t>
            </a:r>
          </a:p>
        </p:txBody>
      </p:sp>
      <p:sp>
        <p:nvSpPr>
          <p:cNvPr id="2" name="slide-title">
            <a:extLst xmlns:a="http://schemas.openxmlformats.org/drawingml/2006/main">
              <a:ext uri="{FF2B5EF4-FFF2-40B4-BE49-F238E27FC236}">
                <a16:creationId xmlns:a16="http://schemas.microsoft.com/office/drawing/2014/main" id="{C01C91DD-2F3B-445F-9C3D-8E4B86DA7859}"/>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buNone/>
              <a:defRPr sz="3600" b="1">
                <a:solidFill>
                  <a:srgbClr val="F7FAF9"/>
                </a:solidFill>
                <a:latin typeface="Arial"/>
                <a:ea typeface="Arial"/>
                <a:cs typeface="Arial"/>
              </a:defRPr>
            </a:pPr>
            <a:r>
              <a:rPr sz="3600" b="1">
                <a:solidFill>
                  <a:srgbClr val="F7FAF9"/>
                </a:solidFill>
                <a:latin typeface="Arial"/>
                <a:ea typeface="Arial"/>
                <a:cs typeface="Arial"/>
              </a:rPr>
              <a:t>KI-Vorfilterung als Ziel</a:t>
            </a:r>
          </a:p>
        </p:txBody>
      </p:sp>
      <p:sp>
        <p:nvSpPr>
          <p:cNvPr id="3" name="footer">
            <a:extLst xmlns:a="http://schemas.openxmlformats.org/drawingml/2006/main">
              <a:ext uri="{FF2B5EF4-FFF2-40B4-BE49-F238E27FC236}">
                <a16:creationId xmlns:a16="http://schemas.microsoft.com/office/drawing/2014/main" id="{AEB34D1F-C0A1-49C6-BEA3-1939799899E4}"/>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CBC0436-0922-4DDF-9499-F8B8FA56ED3F}"/>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04</a:t>
            </a:r>
          </a:p>
        </p:txBody>
      </p:sp>
      <p:sp>
        <p:nvSpPr>
          <p:cNvPr id="11" name="body">
            <a:extLst xmlns:a="http://schemas.openxmlformats.org/drawingml/2006/main">
              <a:ext uri="{FF2B5EF4-FFF2-40B4-BE49-F238E27FC236}">
                <a16:creationId xmlns:a16="http://schemas.microsoft.com/office/drawing/2014/main" id="{52B51ED1-378D-49A1-B1CB-3FF07BB70F5C}"/>
              </a:ext>
            </a:extLst>
          </p:cNvPr>
          <p:cNvSpPr>
            <a:spLocks xmlns:a="http://schemas.openxmlformats.org/drawingml/2006/main" noGrp="1"/>
          </p:cNvSpPr>
          <p:nvPr/>
        </p:nvSpPr>
        <p:spPr>
          <a:xfrm xmlns:a="http://schemas.openxmlformats.org/drawingml/2006/main">
            <a:off x="685800" y="2190750"/>
            <a:ext cx="5429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0" b="1">
                <a:solidFill>
                  <a:srgbClr val="D5F36B"/>
                </a:solidFill>
                <a:latin typeface="Arial"/>
                <a:ea typeface="Arial"/>
                <a:cs typeface="Arial"/>
              </a:defRPr>
            </a:defPPr>
          </a:lstStyle>
          <a:p xmlns:a="http://schemas.openxmlformats.org/drawingml/2006/main">
            <a:pPr>
              <a:defRPr sz="12750" b="1">
                <a:solidFill>
                  <a:srgbClr val="D5F36B"/>
                </a:solidFill>
                <a:latin typeface="Arial"/>
                <a:ea typeface="Arial"/>
                <a:cs typeface="Arial"/>
              </a:defRPr>
            </a:pPr>
            <a:r>
              <a:rPr sz="12750" b="1">
                <a:solidFill>
                  <a:srgbClr val="D5F36B"/>
                </a:solidFill>
                <a:latin typeface="Arial"/>
                <a:ea typeface="Arial"/>
                <a:cs typeface="Arial"/>
              </a:rPr>
              <a:t>80 %</a:t>
            </a:r>
          </a:p>
        </p:txBody>
      </p:sp>
      <p:sp>
        <p:nvSpPr>
          <p:cNvPr id="12" name="body">
            <a:extLst xmlns:a="http://schemas.openxmlformats.org/drawingml/2006/main">
              <a:ext uri="{FF2B5EF4-FFF2-40B4-BE49-F238E27FC236}">
                <a16:creationId xmlns:a16="http://schemas.microsoft.com/office/drawing/2014/main" id="{ED452339-82FC-43CF-A066-D3DB0FA27915}"/>
              </a:ext>
            </a:extLst>
          </p:cNvPr>
          <p:cNvSpPr>
            <a:spLocks xmlns:a="http://schemas.openxmlformats.org/drawingml/2006/main" noGrp="1"/>
          </p:cNvSpPr>
          <p:nvPr/>
        </p:nvSpPr>
        <p:spPr>
          <a:xfrm xmlns:a="http://schemas.openxmlformats.org/drawingml/2006/main">
            <a:off x="781050" y="4371975"/>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7FAF9"/>
                </a:solidFill>
                <a:latin typeface="Arial"/>
                <a:ea typeface="Arial"/>
                <a:cs typeface="Arial"/>
              </a:defRPr>
            </a:defPPr>
          </a:lstStyle>
          <a:p xmlns:a="http://schemas.openxmlformats.org/drawingml/2006/main">
            <a:pPr>
              <a:defRPr sz="2400" b="1">
                <a:solidFill>
                  <a:srgbClr val="F7FAF9"/>
                </a:solidFill>
                <a:latin typeface="Arial"/>
                <a:ea typeface="Arial"/>
                <a:cs typeface="Arial"/>
              </a:defRPr>
            </a:pPr>
            <a:r>
              <a:rPr sz="2400" b="1">
                <a:solidFill>
                  <a:srgbClr val="F7FAF9"/>
                </a:solidFill>
                <a:latin typeface="Arial"/>
                <a:ea typeface="Arial"/>
                <a:cs typeface="Arial"/>
              </a:rPr>
              <a:t>Zielwert für Vorfilterung</a:t>
            </a:r>
          </a:p>
        </p:txBody>
      </p:sp>
      <p:sp>
        <p:nvSpPr>
          <p:cNvPr id="13" name="body">
            <a:extLst xmlns:a="http://schemas.openxmlformats.org/drawingml/2006/main">
              <a:ext uri="{FF2B5EF4-FFF2-40B4-BE49-F238E27FC236}">
                <a16:creationId xmlns:a16="http://schemas.microsoft.com/office/drawing/2014/main" id="{B08060D4-8A7A-4422-B80E-CEFF63D87D1F}"/>
              </a:ext>
            </a:extLst>
          </p:cNvPr>
          <p:cNvSpPr>
            <a:spLocks xmlns:a="http://schemas.openxmlformats.org/drawingml/2006/main" noGrp="1"/>
          </p:cNvSpPr>
          <p:nvPr/>
        </p:nvSpPr>
        <p:spPr>
          <a:xfrm xmlns:a="http://schemas.openxmlformats.org/drawingml/2006/main">
            <a:off x="781050" y="53911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BCFC7"/>
                </a:solidFill>
                <a:latin typeface="Arial"/>
                <a:ea typeface="Arial"/>
                <a:cs typeface="Arial"/>
              </a:defRPr>
            </a:defPPr>
          </a:lstStyle>
          <a:p xmlns:a="http://schemas.openxmlformats.org/drawingml/2006/main">
            <a:pPr>
              <a:defRPr sz="1875" b="0">
                <a:solidFill>
                  <a:srgbClr val="BBCFC7"/>
                </a:solidFill>
                <a:latin typeface="Arial"/>
                <a:ea typeface="Arial"/>
                <a:cs typeface="Arial"/>
              </a:defRPr>
            </a:pPr>
            <a:r>
              <a:rPr sz="1875" b="0">
                <a:solidFill>
                  <a:srgbClr val="BBCFC7"/>
                </a:solidFill>
                <a:latin typeface="Arial"/>
                <a:ea typeface="Arial"/>
                <a:cs typeface="Arial"/>
              </a:rPr>
              <a:t>Noch keine eigene Messung</a:t>
            </a:r>
          </a:p>
        </p:txBody>
      </p:sp>
      <p:sp>
        <p:nvSpPr>
          <p:cNvPr id="14" name="body">
            <a:extLst xmlns:a="http://schemas.openxmlformats.org/drawingml/2006/main">
              <a:ext uri="{FF2B5EF4-FFF2-40B4-BE49-F238E27FC236}">
                <a16:creationId xmlns:a16="http://schemas.microsoft.com/office/drawing/2014/main" id="{0A48CF77-466D-456C-9F10-8D8D57445803}"/>
              </a:ext>
            </a:extLst>
          </p:cNvPr>
          <p:cNvSpPr>
            <a:spLocks xmlns:a="http://schemas.openxmlformats.org/drawingml/2006/main" noGrp="1"/>
          </p:cNvSpPr>
          <p:nvPr/>
        </p:nvSpPr>
        <p:spPr>
          <a:xfrm xmlns:a="http://schemas.openxmlformats.org/drawingml/2006/main">
            <a:off x="6572250" y="2686050"/>
            <a:ext cx="49339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AF9"/>
                </a:solidFill>
                <a:latin typeface="Arial"/>
                <a:ea typeface="Arial"/>
                <a:cs typeface="Arial"/>
              </a:defRPr>
            </a:defPPr>
          </a:lstStyle>
          <a:p xmlns:a="http://schemas.openxmlformats.org/drawingml/2006/main">
            <a:pPr>
              <a:defRPr sz="3675" b="1">
                <a:solidFill>
                  <a:srgbClr val="F7FAF9"/>
                </a:solidFill>
                <a:latin typeface="Arial"/>
                <a:ea typeface="Arial"/>
                <a:cs typeface="Arial"/>
              </a:defRPr>
            </a:pPr>
            <a:r>
              <a:rPr sz="3675" b="1">
                <a:solidFill>
                  <a:srgbClr val="F7FAF9"/>
                </a:solidFill>
                <a:latin typeface="Arial"/>
                <a:ea typeface="Arial"/>
                <a:cs typeface="Arial"/>
              </a:rPr>
              <a:t>Entlastung</a:t>
            </a:r>
          </a:p>
          <a:p xmlns:a="http://schemas.openxmlformats.org/drawingml/2006/main">
            <a:pPr>
              <a:defRPr sz="3675" b="1">
                <a:solidFill>
                  <a:srgbClr val="F7FAF9"/>
                </a:solidFill>
                <a:latin typeface="Arial"/>
                <a:ea typeface="Arial"/>
                <a:cs typeface="Arial"/>
              </a:defRPr>
            </a:pPr>
            <a:r>
              <a:rPr sz="3675" b="1">
                <a:solidFill>
                  <a:srgbClr val="F7FAF9"/>
                </a:solidFill>
                <a:latin typeface="Arial"/>
                <a:ea typeface="Arial"/>
                <a:cs typeface="Arial"/>
              </a:rPr>
              <a:t>im Pilot prüfen</a:t>
            </a:r>
          </a:p>
        </p:txBody>
      </p:sp>
    </p:spTree>
    <p:extLst>
      <p:ext uri="{BB962C8B-B14F-4D97-AF65-F5344CB8AC3E}">
        <p14:creationId xmlns:p14="http://schemas.microsoft.com/office/powerpoint/2010/main" val="1712389765"/>
      </p:ext>
    </p:extLst>
  </p:cSld>
</p:sld>
</file>

<file path=ppt/slides/slide5.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15B330FA-0607-4D38-AA34-F7EA8FB8514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FREIE WAHL</a:t>
            </a:r>
          </a:p>
        </p:txBody>
      </p:sp>
      <p:sp>
        <p:nvSpPr>
          <p:cNvPr id="2" name="slide-title">
            <a:extLst xmlns:a="http://schemas.openxmlformats.org/drawingml/2006/main">
              <a:ext uri="{FF2B5EF4-FFF2-40B4-BE49-F238E27FC236}">
                <a16:creationId xmlns:a16="http://schemas.microsoft.com/office/drawing/2014/main" id="{E22DFA14-8B2A-466D-BA64-6FBA0285D71F}"/>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KI oder direkt zum Menschen</a:t>
            </a:r>
          </a:p>
        </p:txBody>
      </p:sp>
      <p:sp>
        <p:nvSpPr>
          <p:cNvPr id="3" name="footer">
            <a:extLst xmlns:a="http://schemas.openxmlformats.org/drawingml/2006/main">
              <a:ext uri="{FF2B5EF4-FFF2-40B4-BE49-F238E27FC236}">
                <a16:creationId xmlns:a16="http://schemas.microsoft.com/office/drawing/2014/main" id="{00CD6F91-9A12-4021-960C-DE0D5DAFFD6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00038804-65D0-4BEE-9B91-62BA32B8C3F0}"/>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05</a:t>
            </a:r>
          </a:p>
        </p:txBody>
      </p:sp>
      <p:sp>
        <p:nvSpPr>
          <p:cNvPr id="12" name="body">
            <a:extLst xmlns:a="http://schemas.openxmlformats.org/drawingml/2006/main">
              <a:ext uri="{FF2B5EF4-FFF2-40B4-BE49-F238E27FC236}">
                <a16:creationId xmlns:a16="http://schemas.microsoft.com/office/drawing/2014/main" id="{9BAC030B-1209-453C-AC44-107A70F7A277}"/>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KI jederzeit überspringen</a:t>
            </a:r>
          </a:p>
        </p:txBody>
      </p:sp>
      <p:sp>
        <p:nvSpPr>
          <p:cNvPr id="13" name="body">
            <a:extLst xmlns:a="http://schemas.openxmlformats.org/drawingml/2006/main">
              <a:ext uri="{FF2B5EF4-FFF2-40B4-BE49-F238E27FC236}">
                <a16:creationId xmlns:a16="http://schemas.microsoft.com/office/drawing/2014/main" id="{EB4023F2-220F-4331-A76D-E9CE763D135E}"/>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Hotline oder menschliche Chat-Übernahme</a:t>
            </a:r>
          </a:p>
        </p:txBody>
      </p:sp>
      <p:sp>
        <p:nvSpPr>
          <p:cNvPr id="14" name="body">
            <a:extLst xmlns:a="http://schemas.openxmlformats.org/drawingml/2006/main">
              <a:ext uri="{FF2B5EF4-FFF2-40B4-BE49-F238E27FC236}">
                <a16:creationId xmlns:a16="http://schemas.microsoft.com/office/drawing/2014/main" id="{C6F6FFC3-3FBF-418C-A298-0AEDB593084E}"/>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Eingerichteter Supportkanal · vereinbarte Servicezeiten</a:t>
            </a:r>
          </a:p>
        </p:txBody>
      </p:sp>
    </p:spTree>
    <p:extLst>
      <p:ext uri="{BB962C8B-B14F-4D97-AF65-F5344CB8AC3E}">
        <p14:creationId xmlns:p14="http://schemas.microsoft.com/office/powerpoint/2010/main" val="1954968968"/>
      </p:ext>
    </p:extLst>
  </p:cSld>
</p:sld>
</file>

<file path=ppt/slides/slide6.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CC36D894-930E-4AE5-89CF-9480FDA0D6C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FUNKTIONSUMFANG</a:t>
            </a:r>
          </a:p>
        </p:txBody>
      </p:sp>
      <p:sp>
        <p:nvSpPr>
          <p:cNvPr id="2" name="slide-title">
            <a:extLst xmlns:a="http://schemas.openxmlformats.org/drawingml/2006/main">
              <a:ext uri="{FF2B5EF4-FFF2-40B4-BE49-F238E27FC236}">
                <a16:creationId xmlns:a16="http://schemas.microsoft.com/office/drawing/2014/main" id="{8B2A425F-D0D3-4A09-A936-F4A7D682D531}"/>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Acht Plugins</a:t>
            </a:r>
          </a:p>
        </p:txBody>
      </p:sp>
      <p:sp>
        <p:nvSpPr>
          <p:cNvPr id="3" name="footer">
            <a:extLst xmlns:a="http://schemas.openxmlformats.org/drawingml/2006/main">
              <a:ext uri="{FF2B5EF4-FFF2-40B4-BE49-F238E27FC236}">
                <a16:creationId xmlns:a16="http://schemas.microsoft.com/office/drawing/2014/main" id="{BB42E6B0-F477-4145-9CBE-DEA395ADDBE9}"/>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E1E92BD3-E4B7-4384-B902-4A3BAB2C58AC}"/>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06</a:t>
            </a:r>
          </a:p>
        </p:txBody>
      </p:sp>
      <p:sp>
        <p:nvSpPr>
          <p:cNvPr id="23" name="body">
            <a:extLst xmlns:a="http://schemas.openxmlformats.org/drawingml/2006/main">
              <a:ext uri="{FF2B5EF4-FFF2-40B4-BE49-F238E27FC236}">
                <a16:creationId xmlns:a16="http://schemas.microsoft.com/office/drawing/2014/main" id="{7E26F6A1-5AC7-4758-84B0-E0D208DA5069}"/>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Kontakt · SIGNL4 · Uptime Kuma</a:t>
            </a:r>
          </a:p>
        </p:txBody>
      </p:sp>
      <p:sp>
        <p:nvSpPr>
          <p:cNvPr id="24" name="body">
            <a:extLst xmlns:a="http://schemas.openxmlformats.org/drawingml/2006/main">
              <a:ext uri="{FF2B5EF4-FFF2-40B4-BE49-F238E27FC236}">
                <a16:creationId xmlns:a16="http://schemas.microsoft.com/office/drawing/2014/main" id="{A471E240-7853-4898-A490-30FCE3D29FA1}"/>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Inhalte &amp; FAQ · KI-Chat</a:t>
            </a:r>
          </a:p>
        </p:txBody>
      </p:sp>
      <p:sp>
        <p:nvSpPr>
          <p:cNvPr id="25" name="body">
            <a:extLst xmlns:a="http://schemas.openxmlformats.org/drawingml/2006/main">
              <a:ext uri="{FF2B5EF4-FFF2-40B4-BE49-F238E27FC236}">
                <a16:creationId xmlns:a16="http://schemas.microsoft.com/office/drawing/2014/main" id="{D8197ED8-0BE1-4543-A0D7-3929833F9CAF}"/>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Teams · Slack · Telegram</a:t>
            </a:r>
          </a:p>
        </p:txBody>
      </p:sp>
      <p:sp>
        <p:nvSpPr>
          <p:cNvPr id="26" name="body">
            <a:extLst xmlns:a="http://schemas.openxmlformats.org/drawingml/2006/main">
              <a:ext uri="{FF2B5EF4-FFF2-40B4-BE49-F238E27FC236}">
                <a16:creationId xmlns:a16="http://schemas.microsoft.com/office/drawing/2014/main" id="{08A7DBAC-B7CE-4500-A6E9-838D74F7D16A}"/>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Live-Anbindungen im Kundenprojekt prüfen</a:t>
            </a:r>
          </a:p>
        </p:txBody>
      </p:sp>
    </p:spTree>
    <p:extLst>
      <p:ext uri="{BB962C8B-B14F-4D97-AF65-F5344CB8AC3E}">
        <p14:creationId xmlns:p14="http://schemas.microsoft.com/office/powerpoint/2010/main" val="1753115893"/>
      </p:ext>
    </p:extLst>
  </p:cSld>
</p:sld>
</file>

<file path=ppt/slides/slide7.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DAE1659A-B583-49EB-89F8-08F070CDCEE5}"/>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buNone/>
              <a:defRPr sz="1275" b="1">
                <a:solidFill>
                  <a:srgbClr val="D5F36B"/>
                </a:solidFill>
                <a:latin typeface="Arial"/>
                <a:ea typeface="Arial"/>
                <a:cs typeface="Arial"/>
              </a:defRPr>
            </a:pPr>
            <a:r>
              <a:rPr sz="1275" b="1">
                <a:solidFill>
                  <a:srgbClr val="D5F36B"/>
                </a:solidFill>
                <a:latin typeface="Arial"/>
                <a:ea typeface="Arial"/>
                <a:cs typeface="Arial"/>
              </a:rPr>
              <a:t>GESCHÄFTSMODELL</a:t>
            </a:r>
          </a:p>
        </p:txBody>
      </p:sp>
      <p:sp>
        <p:nvSpPr>
          <p:cNvPr id="2" name="slide-title">
            <a:extLst xmlns:a="http://schemas.openxmlformats.org/drawingml/2006/main">
              <a:ext uri="{FF2B5EF4-FFF2-40B4-BE49-F238E27FC236}">
                <a16:creationId xmlns:a16="http://schemas.microsoft.com/office/drawing/2014/main" id="{D0A54664-93BE-40CE-AB5C-F92BEB75F010}"/>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buNone/>
              <a:defRPr sz="3600" b="1">
                <a:solidFill>
                  <a:srgbClr val="F7FAF9"/>
                </a:solidFill>
                <a:latin typeface="Arial"/>
                <a:ea typeface="Arial"/>
                <a:cs typeface="Arial"/>
              </a:defRPr>
            </a:pPr>
            <a:r>
              <a:rPr sz="3600" b="1">
                <a:solidFill>
                  <a:srgbClr val="F7FAF9"/>
                </a:solidFill>
                <a:latin typeface="Arial"/>
                <a:ea typeface="Arial"/>
                <a:cs typeface="Arial"/>
              </a:rPr>
              <a:t>Open Source. Projektangebot.</a:t>
            </a:r>
          </a:p>
        </p:txBody>
      </p:sp>
      <p:sp>
        <p:nvSpPr>
          <p:cNvPr id="3" name="footer">
            <a:extLst xmlns:a="http://schemas.openxmlformats.org/drawingml/2006/main">
              <a:ext uri="{FF2B5EF4-FFF2-40B4-BE49-F238E27FC236}">
                <a16:creationId xmlns:a16="http://schemas.microsoft.com/office/drawing/2014/main" id="{34022E7C-3C96-42D2-87A7-80767753EA0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C9F7480-1430-4EB0-ACC8-928D180138F0}"/>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07</a:t>
            </a:r>
          </a:p>
        </p:txBody>
      </p:sp>
      <p:sp>
        <p:nvSpPr>
          <p:cNvPr id="11" name="body">
            <a:extLst xmlns:a="http://schemas.openxmlformats.org/drawingml/2006/main">
              <a:ext uri="{FF2B5EF4-FFF2-40B4-BE49-F238E27FC236}">
                <a16:creationId xmlns:a16="http://schemas.microsoft.com/office/drawing/2014/main" id="{132E3800-A960-4418-891D-DA87FAC41594}"/>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F36B"/>
                </a:solidFill>
                <a:latin typeface="Arial"/>
                <a:ea typeface="Arial"/>
                <a:cs typeface="Arial"/>
              </a:defRPr>
            </a:defPPr>
          </a:lstStyle>
          <a:p xmlns:a="http://schemas.openxmlformats.org/drawingml/2006/main">
            <a:pPr>
              <a:defRPr sz="3150" b="1">
                <a:solidFill>
                  <a:srgbClr val="D5F36B"/>
                </a:solidFill>
                <a:latin typeface="Arial"/>
                <a:ea typeface="Arial"/>
                <a:cs typeface="Arial"/>
              </a:defRPr>
            </a:pPr>
            <a:r>
              <a:rPr sz="3150" b="1">
                <a:solidFill>
                  <a:srgbClr val="D5F36B"/>
                </a:solidFill>
                <a:latin typeface="Arial"/>
                <a:ea typeface="Arial"/>
                <a:cs typeface="Arial"/>
              </a:rPr>
              <a:t>MIT-Produktcode</a:t>
            </a:r>
          </a:p>
        </p:txBody>
      </p:sp>
      <p:sp>
        <p:nvSpPr>
          <p:cNvPr id="12" name="body">
            <a:extLst xmlns:a="http://schemas.openxmlformats.org/drawingml/2006/main">
              <a:ext uri="{FF2B5EF4-FFF2-40B4-BE49-F238E27FC236}">
                <a16:creationId xmlns:a16="http://schemas.microsoft.com/office/drawing/2014/main" id="{3FEA183E-FD17-444C-8C60-FB5F395B4365}"/>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F36B"/>
                </a:solidFill>
                <a:latin typeface="Arial"/>
                <a:ea typeface="Arial"/>
                <a:cs typeface="Arial"/>
              </a:defRPr>
            </a:defPPr>
          </a:lstStyle>
          <a:p xmlns:a="http://schemas.openxmlformats.org/drawingml/2006/main">
            <a:pPr>
              <a:defRPr sz="3150" b="1">
                <a:solidFill>
                  <a:srgbClr val="D5F36B"/>
                </a:solidFill>
                <a:latin typeface="Arial"/>
                <a:ea typeface="Arial"/>
                <a:cs typeface="Arial"/>
              </a:defRPr>
            </a:pPr>
            <a:r>
              <a:rPr sz="3150" b="1">
                <a:solidFill>
                  <a:srgbClr val="D5F36B"/>
                </a:solidFill>
                <a:latin typeface="Arial"/>
                <a:ea typeface="Arial"/>
                <a:cs typeface="Arial"/>
              </a:rPr>
              <a:t>Einrichtung · Integration · Übergabe</a:t>
            </a:r>
          </a:p>
        </p:txBody>
      </p:sp>
      <p:sp>
        <p:nvSpPr>
          <p:cNvPr id="13" name="body">
            <a:extLst xmlns:a="http://schemas.openxmlformats.org/drawingml/2006/main">
              <a:ext uri="{FF2B5EF4-FFF2-40B4-BE49-F238E27FC236}">
                <a16:creationId xmlns:a16="http://schemas.microsoft.com/office/drawing/2014/main" id="{B746A2F8-8139-48D1-8158-FFDDC2D464DE}"/>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F36B"/>
                </a:solidFill>
                <a:latin typeface="Arial"/>
                <a:ea typeface="Arial"/>
                <a:cs typeface="Arial"/>
              </a:defRPr>
            </a:defPPr>
          </a:lstStyle>
          <a:p xmlns:a="http://schemas.openxmlformats.org/drawingml/2006/main">
            <a:pPr>
              <a:defRPr sz="3150" b="1">
                <a:solidFill>
                  <a:srgbClr val="D5F36B"/>
                </a:solidFill>
                <a:latin typeface="Arial"/>
                <a:ea typeface="Arial"/>
                <a:cs typeface="Arial"/>
              </a:defRPr>
            </a:pPr>
            <a:r>
              <a:rPr sz="3150" b="1">
                <a:solidFill>
                  <a:srgbClr val="D5F36B"/>
                </a:solidFill>
                <a:latin typeface="Arial"/>
                <a:ea typeface="Arial"/>
                <a:cs typeface="Arial"/>
              </a:rPr>
              <a:t>Kein verpflichtendes CSP-Abo</a:t>
            </a:r>
          </a:p>
        </p:txBody>
      </p:sp>
      <p:sp>
        <p:nvSpPr>
          <p:cNvPr id="14" name="body">
            <a:extLst xmlns:a="http://schemas.openxmlformats.org/drawingml/2006/main">
              <a:ext uri="{FF2B5EF4-FFF2-40B4-BE49-F238E27FC236}">
                <a16:creationId xmlns:a16="http://schemas.microsoft.com/office/drawing/2014/main" id="{AC7A56BA-45BD-41E8-98B3-5DD9FB3B7AD8}"/>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BCFC7"/>
                </a:solidFill>
                <a:latin typeface="Arial"/>
                <a:ea typeface="Arial"/>
                <a:cs typeface="Arial"/>
              </a:defRPr>
            </a:defPPr>
          </a:lstStyle>
          <a:p xmlns:a="http://schemas.openxmlformats.org/drawingml/2006/main">
            <a:pPr>
              <a:defRPr sz="1575" b="0">
                <a:solidFill>
                  <a:srgbClr val="BBCFC7"/>
                </a:solidFill>
                <a:latin typeface="Arial"/>
                <a:ea typeface="Arial"/>
                <a:cs typeface="Arial"/>
              </a:defRPr>
            </a:pPr>
            <a:r>
              <a:rPr sz="1575" b="0">
                <a:solidFill>
                  <a:srgbClr val="BBCFC7"/>
                </a:solidFill>
                <a:latin typeface="Arial"/>
                <a:ea typeface="Arial"/>
                <a:cs typeface="Arial"/>
              </a:rPr>
              <a:t>Betrieb und Fremdkosten separat</a:t>
            </a:r>
          </a:p>
        </p:txBody>
      </p:sp>
    </p:spTree>
    <p:extLst>
      <p:ext uri="{BB962C8B-B14F-4D97-AF65-F5344CB8AC3E}">
        <p14:creationId xmlns:p14="http://schemas.microsoft.com/office/powerpoint/2010/main" val="1736793590"/>
      </p:ext>
    </p:extLst>
  </p:cSld>
</p:sld>
</file>

<file path=ppt/slides/slide8.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20D1C0A1-7012-4CFA-857C-302DD4ED8257}"/>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KOSTEN UND LEISTUNGSUMFANG</a:t>
            </a:r>
          </a:p>
        </p:txBody>
      </p:sp>
      <p:sp>
        <p:nvSpPr>
          <p:cNvPr id="2" name="slide-title">
            <a:extLst xmlns:a="http://schemas.openxmlformats.org/drawingml/2006/main">
              <a:ext uri="{FF2B5EF4-FFF2-40B4-BE49-F238E27FC236}">
                <a16:creationId xmlns:a16="http://schemas.microsoft.com/office/drawing/2014/main" id="{6DC3476E-5C61-48F0-A176-C43E857CE151}"/>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Kosten vor dem Start klären</a:t>
            </a:r>
          </a:p>
        </p:txBody>
      </p:sp>
      <p:sp>
        <p:nvSpPr>
          <p:cNvPr id="3" name="footer">
            <a:extLst xmlns:a="http://schemas.openxmlformats.org/drawingml/2006/main">
              <a:ext uri="{FF2B5EF4-FFF2-40B4-BE49-F238E27FC236}">
                <a16:creationId xmlns:a16="http://schemas.microsoft.com/office/drawing/2014/main" id="{1ED92ADA-02FD-4BA9-90FA-065B1129A3B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7850E0CA-47D9-4786-9D16-ABC978ED31C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08</a:t>
            </a:r>
          </a:p>
        </p:txBody>
      </p:sp>
      <p:sp>
        <p:nvSpPr>
          <p:cNvPr id="12" name="body">
            <a:extLst xmlns:a="http://schemas.openxmlformats.org/drawingml/2006/main">
              <a:ext uri="{FF2B5EF4-FFF2-40B4-BE49-F238E27FC236}">
                <a16:creationId xmlns:a16="http://schemas.microsoft.com/office/drawing/2014/main" id="{13661719-3803-4EAF-A063-07F07E671C23}"/>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Projektumfang vereinbaren</a:t>
            </a:r>
          </a:p>
        </p:txBody>
      </p:sp>
      <p:sp>
        <p:nvSpPr>
          <p:cNvPr id="13" name="body">
            <a:extLst xmlns:a="http://schemas.openxmlformats.org/drawingml/2006/main">
              <a:ext uri="{FF2B5EF4-FFF2-40B4-BE49-F238E27FC236}">
                <a16:creationId xmlns:a16="http://schemas.microsoft.com/office/drawing/2014/main" id="{038E63A0-F65C-493F-9332-7FBB94C438ED}"/>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Betrieb und Anbieter separat kalkulieren</a:t>
            </a:r>
          </a:p>
        </p:txBody>
      </p:sp>
    </p:spTree>
    <p:extLst>
      <p:ext uri="{BB962C8B-B14F-4D97-AF65-F5344CB8AC3E}">
        <p14:creationId xmlns:p14="http://schemas.microsoft.com/office/powerpoint/2010/main" val="1765851340"/>
      </p:ext>
    </p:extLst>
  </p:cSld>
</p:sld>
</file>

<file path=ppt/slides/slide9.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E05D85F9-4C29-4599-9226-49B307BA5137}"/>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WETTBEWERBSLANDSCHAFT</a:t>
            </a:r>
          </a:p>
        </p:txBody>
      </p:sp>
      <p:sp>
        <p:nvSpPr>
          <p:cNvPr id="2" name="slide-title">
            <a:extLst xmlns:a="http://schemas.openxmlformats.org/drawingml/2006/main">
              <a:ext uri="{FF2B5EF4-FFF2-40B4-BE49-F238E27FC236}">
                <a16:creationId xmlns:a16="http://schemas.microsoft.com/office/drawing/2014/main" id="{FD0B8BEC-B388-42AD-86B8-BBBA19DA9070}"/>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Drei Wege zum Serviceportal</a:t>
            </a:r>
          </a:p>
        </p:txBody>
      </p:sp>
      <p:sp>
        <p:nvSpPr>
          <p:cNvPr id="3" name="footer">
            <a:extLst xmlns:a="http://schemas.openxmlformats.org/drawingml/2006/main">
              <a:ext uri="{FF2B5EF4-FFF2-40B4-BE49-F238E27FC236}">
                <a16:creationId xmlns:a16="http://schemas.microsoft.com/office/drawing/2014/main" id="{2D37E6E5-8F19-4DB6-8354-A554B54B5605}"/>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CA7A3816-6DA4-413D-B56E-612A395D4A8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09</a:t>
            </a:r>
          </a:p>
        </p:txBody>
      </p:sp>
      <p:sp>
        <p:nvSpPr>
          <p:cNvPr id="16" name="body">
            <a:extLst xmlns:a="http://schemas.openxmlformats.org/drawingml/2006/main">
              <a:ext uri="{FF2B5EF4-FFF2-40B4-BE49-F238E27FC236}">
                <a16:creationId xmlns:a16="http://schemas.microsoft.com/office/drawing/2014/main" id="{326C8EBB-E3F9-4504-A910-AA3928AA97CC}"/>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Support-Suiten</a:t>
            </a:r>
          </a:p>
        </p:txBody>
      </p:sp>
      <p:sp>
        <p:nvSpPr>
          <p:cNvPr id="17" name="body">
            <a:extLst xmlns:a="http://schemas.openxmlformats.org/drawingml/2006/main">
              <a:ext uri="{FF2B5EF4-FFF2-40B4-BE49-F238E27FC236}">
                <a16:creationId xmlns:a16="http://schemas.microsoft.com/office/drawing/2014/main" id="{47AA7186-976A-445A-A2F6-E81053905FFD}"/>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ITSM &amp; Plattformen</a:t>
            </a:r>
          </a:p>
        </p:txBody>
      </p:sp>
      <p:sp>
        <p:nvSpPr>
          <p:cNvPr id="18" name="body">
            <a:extLst xmlns:a="http://schemas.openxmlformats.org/drawingml/2006/main">
              <a:ext uri="{FF2B5EF4-FFF2-40B4-BE49-F238E27FC236}">
                <a16:creationId xmlns:a16="http://schemas.microsoft.com/office/drawing/2014/main" id="{27312F61-09E0-4C74-BF17-BD042D4D16DE}"/>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Open Source</a:t>
            </a:r>
          </a:p>
        </p:txBody>
      </p:sp>
      <p:sp>
        <p:nvSpPr>
          <p:cNvPr id="19" name="body">
            <a:extLst xmlns:a="http://schemas.openxmlformats.org/drawingml/2006/main">
              <a:ext uri="{FF2B5EF4-FFF2-40B4-BE49-F238E27FC236}">
                <a16:creationId xmlns:a16="http://schemas.microsoft.com/office/drawing/2014/main" id="{6CC93087-18BC-42ED-8D15-07DBD30C204A}"/>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11 Angebote geprüft · Stand 14.10.2026</a:t>
            </a:r>
          </a:p>
        </p:txBody>
      </p:sp>
    </p:spTree>
    <p:extLst>
      <p:ext uri="{BB962C8B-B14F-4D97-AF65-F5344CB8AC3E}">
        <p14:creationId xmlns:p14="http://schemas.microsoft.com/office/powerpoint/2010/main" val="1172112025"/>
      </p:ext>
    </p:extLst>
  </p:cSld>
</p:sld>
</file>

<file path=ppt/slides/slide10.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224A6B2-BAB3-4967-A8F0-9266C3A5FB25}"/>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VERGLEICH · SAAS</a:t>
            </a:r>
          </a:p>
        </p:txBody>
      </p:sp>
      <p:sp>
        <p:nvSpPr>
          <p:cNvPr id="2" name="slide-title">
            <a:extLst xmlns:a="http://schemas.openxmlformats.org/drawingml/2006/main">
              <a:ext uri="{FF2B5EF4-FFF2-40B4-BE49-F238E27FC236}">
                <a16:creationId xmlns:a16="http://schemas.microsoft.com/office/drawing/2014/main" id="{7BC6B49A-E1D9-4756-A2E3-2A173F441EB1}"/>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Support-Suiten</a:t>
            </a:r>
          </a:p>
        </p:txBody>
      </p:sp>
      <p:sp>
        <p:nvSpPr>
          <p:cNvPr id="3" name="footer">
            <a:extLst xmlns:a="http://schemas.openxmlformats.org/drawingml/2006/main">
              <a:ext uri="{FF2B5EF4-FFF2-40B4-BE49-F238E27FC236}">
                <a16:creationId xmlns:a16="http://schemas.microsoft.com/office/drawing/2014/main" id="{4FBDDF1E-1018-431C-8E40-FBC6B5DFF217}"/>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6F8958DB-215F-429E-8FCF-A12B8057CA3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10</a:t>
            </a:r>
          </a:p>
        </p:txBody>
      </p:sp>
      <p:graphicFrame>
        <p:nvGraphicFramePr>
          <p:cNvPr id="8" name="">
            <a:extLst xmlns:a="http://schemas.openxmlformats.org/drawingml/2006/main">
              <a:ext uri="{FF2B5EF4-FFF2-40B4-BE49-F238E27FC236}">
                <a16:creationId xmlns:a16="http://schemas.microsoft.com/office/drawing/2014/main" id="{8F3542B5-F9A3-4367-9C23-14C7615FD8DC}"/>
              </a:ext>
            </a:extLst>
          </p:cNvPr>
          <p:cNvGraphicFramePr/>
          <p:nvPr/>
        </p:nvGraphicFramePr>
        <p:xfrm>
          <a:off xmlns:a="http://schemas.openxmlformats.org/drawingml/2006/main" x="685800" y="2076450"/>
          <a:ext xmlns:a="http://schemas.openxmlformats.org/drawingml/2006/main" cx="10820400" cy="3543300"/>
        </p:xfrm>
        <a:graphic xmlns:a="http://schemas.openxmlformats.org/drawingml/2006/main">
          <a:graphicData uri="http://schemas.openxmlformats.org/drawingml/2006/table">
            <a:tbl>
              <a:tblPr/>
              <a:tblGrid>
                <a:gridCol w="4095750"/>
                <a:gridCol w="6724650"/>
              </a:tblGrid>
              <a:tr h="590550">
                <a:tc>
                  <a:txBody>
                    <a:bodyPr wrap="square"/>
                    <a:lstStyle/>
                    <a:p>
                      <a:r>
                        <a:rPr sz="1875" b="1">
                          <a:solidFill>
                            <a:srgbClr val="FFFFFF"/>
                          </a:solidFill>
                          <a:latin typeface="Arial"/>
                          <a:ea typeface="Arial"/>
                          <a:cs typeface="Arial"/>
                        </a:rPr>
                        <a:t>Angebot</a:t>
                      </a:r>
                    </a:p>
                  </a:txBody>
                  <a:tcPr marL="190500" marR="190500" marT="76200" marB="762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lstStyle/>
                    <a:p>
                      <a:r>
                        <a:rPr sz="1875" b="1">
                          <a:solidFill>
                            <a:srgbClr val="FFFFFF"/>
                          </a:solidFill>
                          <a:latin typeface="Arial"/>
                          <a:ea typeface="Arial"/>
                          <a:cs typeface="Arial"/>
                        </a:rPr>
                        <a:t>Schwerpunkt</a:t>
                      </a:r>
                    </a:p>
                  </a:txBody>
                  <a:tcPr marL="190500" marR="190500" marT="76200" marB="762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590550">
                <a:tc>
                  <a:txBody>
                    <a:bodyPr wrap="square"/>
                    <a:lstStyle/>
                    <a:p>
                      <a:r>
                        <a:rPr sz="2175" b="1">
                          <a:solidFill>
                            <a:srgbClr val="102A2A"/>
                          </a:solidFill>
                          <a:latin typeface="Arial"/>
                          <a:ea typeface="Arial"/>
                          <a:cs typeface="Arial"/>
                        </a:rPr>
                        <a:t>Zendesk Suite</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Omnichannel-Support</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Freshdesk Omni</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Ticketing und Routing</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Intercom + Fin</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Inbox und KI-Agent</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Crisp + Hugo</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Shared Inbox und Livechat</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CSP</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E9F3CB"/>
                    </a:solidFill>
                  </a:tcPr>
                </a:tc>
                <a:tc>
                  <a:txBody>
                    <a:bodyPr wrap="square"/>
                    <a:lstStyle/>
                    <a:p>
                      <a:r>
                        <a:rPr sz="2175" b="0">
                          <a:solidFill>
                            <a:srgbClr val="102A2A"/>
                          </a:solidFill>
                          <a:latin typeface="Arial"/>
                          <a:ea typeface="Arial"/>
                          <a:cs typeface="Arial"/>
                        </a:rPr>
                        <a:t>Eigenes Servicequellen-Portal</a:t>
                      </a:r>
                    </a:p>
                  </a:txBody>
                  <a:tcPr marL="190500" marR="190500" marT="76200" marB="76200" anchor="ctr">
                    <a:lnR w="9525">
                      <a:solidFill>
                        <a:srgbClr val="DBE5DF"/>
                      </a:solidFill>
                      <a:prstDash val="solid"/>
                    </a:lnR>
                    <a:lnB w="9525">
                      <a:solidFill>
                        <a:srgbClr val="DBE5DF"/>
                      </a:solidFill>
                      <a:prstDash val="solid"/>
                    </a:lnB>
                    <a:solidFill>
                      <a:srgbClr val="E9F3CB"/>
                    </a:solidFill>
                  </a:tcPr>
                </a:tc>
              </a:tr>
            </a:tbl>
          </a:graphicData>
        </a:graphic>
      </p:graphicFrame>
      <p:sp>
        <p:nvSpPr>
          <p:cNvPr id="9" name="body">
            <a:extLst xmlns:a="http://schemas.openxmlformats.org/drawingml/2006/main">
              <a:ext uri="{FF2B5EF4-FFF2-40B4-BE49-F238E27FC236}">
                <a16:creationId xmlns:a16="http://schemas.microsoft.com/office/drawing/2014/main" id="{C68ADF85-1581-4EF4-8810-86FAD54DFB7F}"/>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CSP: MIT-Code und Skills · Ticketing bleibt extern</a:t>
            </a:r>
          </a:p>
        </p:txBody>
      </p:sp>
    </p:spTree>
    <p:extLst>
      <p:ext uri="{BB962C8B-B14F-4D97-AF65-F5344CB8AC3E}">
        <p14:creationId xmlns:p14="http://schemas.microsoft.com/office/powerpoint/2010/main" val="1863457400"/>
      </p:ext>
    </p:extLst>
  </p:cSld>
</p:sld>
</file>

<file path=ppt/slides/slide11.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847E64B-006A-46AE-BBB8-CFFFF7969BF3}"/>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VERGLEICH · ENTERPRISE &amp; BAUKASTEN</a:t>
            </a:r>
          </a:p>
        </p:txBody>
      </p:sp>
      <p:sp>
        <p:nvSpPr>
          <p:cNvPr id="2" name="slide-title">
            <a:extLst xmlns:a="http://schemas.openxmlformats.org/drawingml/2006/main">
              <a:ext uri="{FF2B5EF4-FFF2-40B4-BE49-F238E27FC236}">
                <a16:creationId xmlns:a16="http://schemas.microsoft.com/office/drawing/2014/main" id="{4ABE0900-FC6E-4A90-86FF-4A99E8832302}"/>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ITSM und Plattformen</a:t>
            </a:r>
          </a:p>
        </p:txBody>
      </p:sp>
      <p:sp>
        <p:nvSpPr>
          <p:cNvPr id="3" name="footer">
            <a:extLst xmlns:a="http://schemas.openxmlformats.org/drawingml/2006/main">
              <a:ext uri="{FF2B5EF4-FFF2-40B4-BE49-F238E27FC236}">
                <a16:creationId xmlns:a16="http://schemas.microsoft.com/office/drawing/2014/main" id="{4D9EED5F-4304-4687-9B60-A98E91B331BB}"/>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07EB5B29-C9C0-46D9-AD63-74710ED90AD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11</a:t>
            </a:r>
          </a:p>
        </p:txBody>
      </p:sp>
      <p:graphicFrame>
        <p:nvGraphicFramePr>
          <p:cNvPr id="8" name="">
            <a:extLst xmlns:a="http://schemas.openxmlformats.org/drawingml/2006/main">
              <a:ext uri="{FF2B5EF4-FFF2-40B4-BE49-F238E27FC236}">
                <a16:creationId xmlns:a16="http://schemas.microsoft.com/office/drawing/2014/main" id="{DE9A46A8-C3F9-4EAF-9F50-AD4ED0FA6295}"/>
              </a:ext>
            </a:extLst>
          </p:cNvPr>
          <p:cNvGraphicFramePr/>
          <p:nvPr/>
        </p:nvGraphicFramePr>
        <p:xfrm>
          <a:off xmlns:a="http://schemas.openxmlformats.org/drawingml/2006/main" x="685800" y="2076450"/>
          <a:ext xmlns:a="http://schemas.openxmlformats.org/drawingml/2006/main" cx="10820400" cy="2952750"/>
        </p:xfrm>
        <a:graphic xmlns:a="http://schemas.openxmlformats.org/drawingml/2006/main">
          <a:graphicData uri="http://schemas.openxmlformats.org/drawingml/2006/table">
            <a:tbl>
              <a:tblPr/>
              <a:tblGrid>
                <a:gridCol w="4095750"/>
                <a:gridCol w="6724650"/>
              </a:tblGrid>
              <a:tr h="590550">
                <a:tc>
                  <a:txBody>
                    <a:bodyPr wrap="square"/>
                    <a:lstStyle/>
                    <a:p>
                      <a:r>
                        <a:rPr sz="1875" b="1">
                          <a:solidFill>
                            <a:srgbClr val="FFFFFF"/>
                          </a:solidFill>
                          <a:latin typeface="Arial"/>
                          <a:ea typeface="Arial"/>
                          <a:cs typeface="Arial"/>
                        </a:rPr>
                        <a:t>Angebot</a:t>
                      </a:r>
                    </a:p>
                  </a:txBody>
                  <a:tcPr marL="190500" marR="190500" marT="76200" marB="762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lstStyle/>
                    <a:p>
                      <a:r>
                        <a:rPr sz="1875" b="1">
                          <a:solidFill>
                            <a:srgbClr val="FFFFFF"/>
                          </a:solidFill>
                          <a:latin typeface="Arial"/>
                          <a:ea typeface="Arial"/>
                          <a:cs typeface="Arial"/>
                        </a:rPr>
                        <a:t>Schwerpunkt</a:t>
                      </a:r>
                    </a:p>
                  </a:txBody>
                  <a:tcPr marL="190500" marR="190500" marT="76200" marB="762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590550">
                <a:tc>
                  <a:txBody>
                    <a:bodyPr wrap="square"/>
                    <a:lstStyle/>
                    <a:p>
                      <a:r>
                        <a:rPr sz="2175" b="1">
                          <a:solidFill>
                            <a:srgbClr val="102A2A"/>
                          </a:solidFill>
                          <a:latin typeface="Arial"/>
                          <a:ea typeface="Arial"/>
                          <a:cs typeface="Arial"/>
                        </a:rPr>
                        <a:t>JSM Cloud</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ITSM, Assets, Workflows</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ServiceNow CSM</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Enterprise-Serviceprozesse</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Copilot + Power Pages</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Agenten- und Portalbaukasten</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CSP</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E9F3CB"/>
                    </a:solidFill>
                  </a:tcPr>
                </a:tc>
                <a:tc>
                  <a:txBody>
                    <a:bodyPr wrap="square"/>
                    <a:lstStyle/>
                    <a:p>
                      <a:r>
                        <a:rPr sz="2175" b="0">
                          <a:solidFill>
                            <a:srgbClr val="102A2A"/>
                          </a:solidFill>
                          <a:latin typeface="Arial"/>
                          <a:ea typeface="Arial"/>
                          <a:cs typeface="Arial"/>
                        </a:rPr>
                        <a:t>Portal für vorhandene Quellen</a:t>
                      </a:r>
                    </a:p>
                  </a:txBody>
                  <a:tcPr marL="190500" marR="190500" marT="76200" marB="76200" anchor="ctr">
                    <a:lnR w="9525">
                      <a:solidFill>
                        <a:srgbClr val="DBE5DF"/>
                      </a:solidFill>
                      <a:prstDash val="solid"/>
                    </a:lnR>
                    <a:lnB w="9525">
                      <a:solidFill>
                        <a:srgbClr val="DBE5DF"/>
                      </a:solidFill>
                      <a:prstDash val="solid"/>
                    </a:lnB>
                    <a:solidFill>
                      <a:srgbClr val="E9F3CB"/>
                    </a:solidFill>
                  </a:tcPr>
                </a:tc>
              </a:tr>
            </a:tbl>
          </a:graphicData>
        </a:graphic>
      </p:graphicFrame>
      <p:sp>
        <p:nvSpPr>
          <p:cNvPr id="9" name="body">
            <a:extLst xmlns:a="http://schemas.openxmlformats.org/drawingml/2006/main">
              <a:ext uri="{FF2B5EF4-FFF2-40B4-BE49-F238E27FC236}">
                <a16:creationId xmlns:a16="http://schemas.microsoft.com/office/drawing/2014/main" id="{83C96D6A-1CF5-48EA-AC6B-630CAAE6E2BB}"/>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CSP ergänzt bestehende Systeme</a:t>
            </a:r>
          </a:p>
        </p:txBody>
      </p:sp>
    </p:spTree>
    <p:extLst>
      <p:ext uri="{BB962C8B-B14F-4D97-AF65-F5344CB8AC3E}">
        <p14:creationId xmlns:p14="http://schemas.microsoft.com/office/powerpoint/2010/main" val="975330849"/>
      </p:ext>
    </p:extLst>
  </p:cSld>
</p:sld>
</file>

<file path=ppt/slides/slide12.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4FE3EA4-40AC-45C8-B302-09D01FBA4DC0}"/>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VERGLEICH · EIGENBETRIEB</a:t>
            </a:r>
          </a:p>
        </p:txBody>
      </p:sp>
      <p:sp>
        <p:nvSpPr>
          <p:cNvPr id="2" name="slide-title">
            <a:extLst xmlns:a="http://schemas.openxmlformats.org/drawingml/2006/main">
              <a:ext uri="{FF2B5EF4-FFF2-40B4-BE49-F238E27FC236}">
                <a16:creationId xmlns:a16="http://schemas.microsoft.com/office/drawing/2014/main" id="{5045ABCA-C9DF-42C4-A2D6-0271425BF3A0}"/>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Open-Source-Alternativen</a:t>
            </a:r>
          </a:p>
        </p:txBody>
      </p:sp>
      <p:sp>
        <p:nvSpPr>
          <p:cNvPr id="3" name="footer">
            <a:extLst xmlns:a="http://schemas.openxmlformats.org/drawingml/2006/main">
              <a:ext uri="{FF2B5EF4-FFF2-40B4-BE49-F238E27FC236}">
                <a16:creationId xmlns:a16="http://schemas.microsoft.com/office/drawing/2014/main" id="{A9C097E2-5DD0-4A4B-B011-19BAB6EA6C0D}"/>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959F9165-1160-4D2B-ABAD-20AADE0F860E}"/>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12</a:t>
            </a:r>
          </a:p>
        </p:txBody>
      </p:sp>
      <p:graphicFrame>
        <p:nvGraphicFramePr>
          <p:cNvPr id="8" name="">
            <a:extLst xmlns:a="http://schemas.openxmlformats.org/drawingml/2006/main">
              <a:ext uri="{FF2B5EF4-FFF2-40B4-BE49-F238E27FC236}">
                <a16:creationId xmlns:a16="http://schemas.microsoft.com/office/drawing/2014/main" id="{8CDDE53F-927C-49CF-A123-7A2F1ED4B2E5}"/>
              </a:ext>
            </a:extLst>
          </p:cNvPr>
          <p:cNvGraphicFramePr/>
          <p:nvPr/>
        </p:nvGraphicFramePr>
        <p:xfrm>
          <a:off xmlns:a="http://schemas.openxmlformats.org/drawingml/2006/main" x="685800" y="2076450"/>
          <a:ext xmlns:a="http://schemas.openxmlformats.org/drawingml/2006/main" cx="10820400" cy="3543300"/>
        </p:xfrm>
        <a:graphic xmlns:a="http://schemas.openxmlformats.org/drawingml/2006/main">
          <a:graphicData uri="http://schemas.openxmlformats.org/drawingml/2006/table">
            <a:tbl>
              <a:tblPr/>
              <a:tblGrid>
                <a:gridCol w="4095750"/>
                <a:gridCol w="6724650"/>
              </a:tblGrid>
              <a:tr h="590550">
                <a:tc>
                  <a:txBody>
                    <a:bodyPr wrap="square"/>
                    <a:lstStyle/>
                    <a:p>
                      <a:r>
                        <a:rPr sz="1875" b="1">
                          <a:solidFill>
                            <a:srgbClr val="FFFFFF"/>
                          </a:solidFill>
                          <a:latin typeface="Arial"/>
                          <a:ea typeface="Arial"/>
                          <a:cs typeface="Arial"/>
                        </a:rPr>
                        <a:t>Angebot</a:t>
                      </a:r>
                    </a:p>
                  </a:txBody>
                  <a:tcPr marL="190500" marR="190500" marT="76200" marB="762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lstStyle/>
                    <a:p>
                      <a:r>
                        <a:rPr sz="1875" b="1">
                          <a:solidFill>
                            <a:srgbClr val="FFFFFF"/>
                          </a:solidFill>
                          <a:latin typeface="Arial"/>
                          <a:ea typeface="Arial"/>
                          <a:cs typeface="Arial"/>
                        </a:rPr>
                        <a:t>Schwerpunkt</a:t>
                      </a:r>
                    </a:p>
                  </a:txBody>
                  <a:tcPr marL="190500" marR="190500" marT="76200" marB="762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590550">
                <a:tc>
                  <a:txBody>
                    <a:bodyPr wrap="square"/>
                    <a:lstStyle/>
                    <a:p>
                      <a:r>
                        <a:rPr sz="2175" b="1">
                          <a:solidFill>
                            <a:srgbClr val="102A2A"/>
                          </a:solidFill>
                          <a:latin typeface="Arial"/>
                          <a:ea typeface="Arial"/>
                          <a:cs typeface="Arial"/>
                        </a:rPr>
                        <a:t>Zammad</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Ticketzentrierter Helpdesk</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Chatwoot CE</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Shared Inbox und Livechat</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FreeScout</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Shared Mailbox</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GLPI</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ITSM und Assets</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CSP</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E9F3CB"/>
                    </a:solidFill>
                  </a:tcPr>
                </a:tc>
                <a:tc>
                  <a:txBody>
                    <a:bodyPr wrap="square"/>
                    <a:lstStyle/>
                    <a:p>
                      <a:r>
                        <a:rPr sz="2175" b="0">
                          <a:solidFill>
                            <a:srgbClr val="102A2A"/>
                          </a:solidFill>
                          <a:latin typeface="Arial"/>
                          <a:ea typeface="Arial"/>
                          <a:cs typeface="Arial"/>
                        </a:rPr>
                        <a:t>Status, Bereitschaft, Wissen</a:t>
                      </a:r>
                    </a:p>
                  </a:txBody>
                  <a:tcPr marL="190500" marR="190500" marT="76200" marB="76200" anchor="ctr">
                    <a:lnR w="9525">
                      <a:solidFill>
                        <a:srgbClr val="DBE5DF"/>
                      </a:solidFill>
                      <a:prstDash val="solid"/>
                    </a:lnR>
                    <a:lnB w="9525">
                      <a:solidFill>
                        <a:srgbClr val="DBE5DF"/>
                      </a:solidFill>
                      <a:prstDash val="solid"/>
                    </a:lnB>
                    <a:solidFill>
                      <a:srgbClr val="E9F3CB"/>
                    </a:solidFill>
                  </a:tcPr>
                </a:tc>
              </a:tr>
            </a:tbl>
          </a:graphicData>
        </a:graphic>
      </p:graphicFrame>
      <p:sp>
        <p:nvSpPr>
          <p:cNvPr id="9" name="body">
            <a:extLst xmlns:a="http://schemas.openxmlformats.org/drawingml/2006/main">
              <a:ext uri="{FF2B5EF4-FFF2-40B4-BE49-F238E27FC236}">
                <a16:creationId xmlns:a16="http://schemas.microsoft.com/office/drawing/2014/main" id="{9995899E-C69A-46EB-B6E9-E760C80DFDB3}"/>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Open Source allein ist kein exklusiver USP</a:t>
            </a:r>
          </a:p>
        </p:txBody>
      </p:sp>
    </p:spTree>
    <p:extLst>
      <p:ext uri="{BB962C8B-B14F-4D97-AF65-F5344CB8AC3E}">
        <p14:creationId xmlns:p14="http://schemas.microsoft.com/office/powerpoint/2010/main" val="326142092"/>
      </p:ext>
    </p:extLst>
  </p:cSld>
</p:sld>
</file>

<file path=ppt/slides/slide13.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1817CED3-11A9-4B95-A97E-AD29645246D1}"/>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buNone/>
              <a:defRPr sz="1275" b="1">
                <a:solidFill>
                  <a:srgbClr val="D5F36B"/>
                </a:solidFill>
                <a:latin typeface="Arial"/>
                <a:ea typeface="Arial"/>
                <a:cs typeface="Arial"/>
              </a:defRPr>
            </a:pPr>
            <a:r>
              <a:rPr sz="1275" b="1">
                <a:solidFill>
                  <a:srgbClr val="D5F36B"/>
                </a:solidFill>
                <a:latin typeface="Arial"/>
                <a:ea typeface="Arial"/>
                <a:cs typeface="Arial"/>
              </a:rPr>
              <a:t>CSP-POSITIONIERUNG</a:t>
            </a:r>
          </a:p>
        </p:txBody>
      </p:sp>
      <p:sp>
        <p:nvSpPr>
          <p:cNvPr id="2" name="slide-title">
            <a:extLst xmlns:a="http://schemas.openxmlformats.org/drawingml/2006/main">
              <a:ext uri="{FF2B5EF4-FFF2-40B4-BE49-F238E27FC236}">
                <a16:creationId xmlns:a16="http://schemas.microsoft.com/office/drawing/2014/main" id="{967A5CD7-FA76-4634-9A74-DDDA1CB58FFB}"/>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buNone/>
              <a:defRPr sz="3600" b="1">
                <a:solidFill>
                  <a:srgbClr val="F7FAF9"/>
                </a:solidFill>
                <a:latin typeface="Arial"/>
                <a:ea typeface="Arial"/>
                <a:cs typeface="Arial"/>
              </a:defRPr>
            </a:pPr>
            <a:r>
              <a:rPr sz="3600" b="1">
                <a:solidFill>
                  <a:srgbClr val="F7FAF9"/>
                </a:solidFill>
                <a:latin typeface="Arial"/>
                <a:ea typeface="Arial"/>
                <a:cs typeface="Arial"/>
              </a:rPr>
              <a:t>Der CSP-USP</a:t>
            </a:r>
          </a:p>
        </p:txBody>
      </p:sp>
      <p:sp>
        <p:nvSpPr>
          <p:cNvPr id="3" name="footer">
            <a:extLst xmlns:a="http://schemas.openxmlformats.org/drawingml/2006/main">
              <a:ext uri="{FF2B5EF4-FFF2-40B4-BE49-F238E27FC236}">
                <a16:creationId xmlns:a16="http://schemas.microsoft.com/office/drawing/2014/main" id="{4529DB2C-6460-4F77-BF4B-386794B151BB}"/>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65378771-A1F0-401D-B047-721407919763}"/>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13</a:t>
            </a:r>
          </a:p>
        </p:txBody>
      </p:sp>
      <p:sp>
        <p:nvSpPr>
          <p:cNvPr id="14" name="body">
            <a:extLst xmlns:a="http://schemas.openxmlformats.org/drawingml/2006/main">
              <a:ext uri="{FF2B5EF4-FFF2-40B4-BE49-F238E27FC236}">
                <a16:creationId xmlns:a16="http://schemas.microsoft.com/office/drawing/2014/main" id="{955AD95C-BFD4-455B-BC5E-4A93C8DE96B7}"/>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F36B"/>
                </a:solidFill>
                <a:latin typeface="Arial"/>
                <a:ea typeface="Arial"/>
                <a:cs typeface="Arial"/>
              </a:defRPr>
            </a:defPPr>
          </a:lstStyle>
          <a:p xmlns:a="http://schemas.openxmlformats.org/drawingml/2006/main">
            <a:pPr>
              <a:defRPr sz="3150" b="1">
                <a:solidFill>
                  <a:srgbClr val="D5F36B"/>
                </a:solidFill>
                <a:latin typeface="Arial"/>
                <a:ea typeface="Arial"/>
                <a:cs typeface="Arial"/>
              </a:defRPr>
            </a:pPr>
            <a:r>
              <a:rPr sz="3150" b="1">
                <a:solidFill>
                  <a:srgbClr val="D5F36B"/>
                </a:solidFill>
                <a:latin typeface="Arial"/>
                <a:ea typeface="Arial"/>
                <a:cs typeface="Arial"/>
              </a:rPr>
              <a:t>Ihr Portal</a:t>
            </a:r>
          </a:p>
        </p:txBody>
      </p:sp>
      <p:sp>
        <p:nvSpPr>
          <p:cNvPr id="15" name="body">
            <a:extLst xmlns:a="http://schemas.openxmlformats.org/drawingml/2006/main">
              <a:ext uri="{FF2B5EF4-FFF2-40B4-BE49-F238E27FC236}">
                <a16:creationId xmlns:a16="http://schemas.microsoft.com/office/drawing/2014/main" id="{9A7EA973-6DCF-4300-A448-13488AB7F0A6}"/>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F36B"/>
                </a:solidFill>
                <a:latin typeface="Arial"/>
                <a:ea typeface="Arial"/>
                <a:cs typeface="Arial"/>
              </a:defRPr>
            </a:defPPr>
          </a:lstStyle>
          <a:p xmlns:a="http://schemas.openxmlformats.org/drawingml/2006/main">
            <a:pPr>
              <a:defRPr sz="3150" b="1">
                <a:solidFill>
                  <a:srgbClr val="D5F36B"/>
                </a:solidFill>
                <a:latin typeface="Arial"/>
                <a:ea typeface="Arial"/>
                <a:cs typeface="Arial"/>
              </a:defRPr>
            </a:pPr>
            <a:r>
              <a:rPr sz="3150" b="1">
                <a:solidFill>
                  <a:srgbClr val="D5F36B"/>
                </a:solidFill>
                <a:latin typeface="Arial"/>
                <a:ea typeface="Arial"/>
                <a:cs typeface="Arial"/>
              </a:rPr>
              <a:t>Ihre Servicequellen</a:t>
            </a:r>
          </a:p>
        </p:txBody>
      </p:sp>
      <p:sp>
        <p:nvSpPr>
          <p:cNvPr id="16" name="body">
            <a:extLst xmlns:a="http://schemas.openxmlformats.org/drawingml/2006/main">
              <a:ext uri="{FF2B5EF4-FFF2-40B4-BE49-F238E27FC236}">
                <a16:creationId xmlns:a16="http://schemas.microsoft.com/office/drawing/2014/main" id="{5C4DBE10-445D-4AFC-B223-2148CE956A72}"/>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F36B"/>
                </a:solidFill>
                <a:latin typeface="Arial"/>
                <a:ea typeface="Arial"/>
                <a:cs typeface="Arial"/>
              </a:defRPr>
            </a:defPPr>
          </a:lstStyle>
          <a:p xmlns:a="http://schemas.openxmlformats.org/drawingml/2006/main">
            <a:pPr>
              <a:defRPr sz="3150" b="1">
                <a:solidFill>
                  <a:srgbClr val="D5F36B"/>
                </a:solidFill>
                <a:latin typeface="Arial"/>
                <a:ea typeface="Arial"/>
                <a:cs typeface="Arial"/>
              </a:defRPr>
            </a:pPr>
            <a:r>
              <a:rPr sz="3150" b="1">
                <a:solidFill>
                  <a:srgbClr val="D5F36B"/>
                </a:solidFill>
                <a:latin typeface="Arial"/>
                <a:ea typeface="Arial"/>
                <a:cs typeface="Arial"/>
              </a:rPr>
              <a:t>Code und Skills für Ihr Team</a:t>
            </a:r>
          </a:p>
        </p:txBody>
      </p:sp>
      <p:sp>
        <p:nvSpPr>
          <p:cNvPr id="17" name="body">
            <a:extLst xmlns:a="http://schemas.openxmlformats.org/drawingml/2006/main">
              <a:ext uri="{FF2B5EF4-FFF2-40B4-BE49-F238E27FC236}">
                <a16:creationId xmlns:a16="http://schemas.microsoft.com/office/drawing/2014/main" id="{C5883867-FD1C-4D75-9294-B9D0B65587FE}"/>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BCFC7"/>
                </a:solidFill>
                <a:latin typeface="Arial"/>
                <a:ea typeface="Arial"/>
                <a:cs typeface="Arial"/>
              </a:defRPr>
            </a:defPPr>
          </a:lstStyle>
          <a:p xmlns:a="http://schemas.openxmlformats.org/drawingml/2006/main">
            <a:pPr>
              <a:defRPr sz="1575" b="0">
                <a:solidFill>
                  <a:srgbClr val="BBCFC7"/>
                </a:solidFill>
                <a:latin typeface="Arial"/>
                <a:ea typeface="Arial"/>
                <a:cs typeface="Arial"/>
              </a:defRPr>
            </a:pPr>
            <a:r>
              <a:rPr sz="1575" b="0">
                <a:solidFill>
                  <a:srgbClr val="BBCFC7"/>
                </a:solidFill>
                <a:latin typeface="Arial"/>
                <a:ea typeface="Arial"/>
                <a:cs typeface="Arial"/>
              </a:rPr>
              <a:t>Kein verpflichtendes CSP-Abo · Fremdkosten separat</a:t>
            </a:r>
          </a:p>
        </p:txBody>
      </p:sp>
    </p:spTree>
    <p:extLst>
      <p:ext uri="{BB962C8B-B14F-4D97-AF65-F5344CB8AC3E}">
        <p14:creationId xmlns:p14="http://schemas.microsoft.com/office/powerpoint/2010/main" val="1124935380"/>
      </p:ext>
    </p:extLst>
  </p:cSld>
</p:sld>
</file>

<file path=ppt/slides/slide14.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4BE53F7A-5C25-48B9-A9F7-EBEBD5E8C15F}"/>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KAUFENTSCHEIDUNG</a:t>
            </a:r>
          </a:p>
        </p:txBody>
      </p:sp>
      <p:sp>
        <p:nvSpPr>
          <p:cNvPr id="2" name="slide-title">
            <a:extLst xmlns:a="http://schemas.openxmlformats.org/drawingml/2006/main">
              <a:ext uri="{FF2B5EF4-FFF2-40B4-BE49-F238E27FC236}">
                <a16:creationId xmlns:a16="http://schemas.microsoft.com/office/drawing/2014/main" id="{54384A48-8F68-44E4-AB03-ECBA311534F6}"/>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Wann CSP passt</a:t>
            </a:r>
          </a:p>
        </p:txBody>
      </p:sp>
      <p:sp>
        <p:nvSpPr>
          <p:cNvPr id="3" name="footer">
            <a:extLst xmlns:a="http://schemas.openxmlformats.org/drawingml/2006/main">
              <a:ext uri="{FF2B5EF4-FFF2-40B4-BE49-F238E27FC236}">
                <a16:creationId xmlns:a16="http://schemas.microsoft.com/office/drawing/2014/main" id="{4FD5DDA3-7978-4BEB-8222-897940CCBCC7}"/>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D280AF3B-683B-4BED-ACB2-C25D2092C79D}"/>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14</a:t>
            </a:r>
          </a:p>
        </p:txBody>
      </p:sp>
      <p:sp>
        <p:nvSpPr>
          <p:cNvPr id="11" name="body">
            <a:extLst xmlns:a="http://schemas.openxmlformats.org/drawingml/2006/main">
              <a:ext uri="{FF2B5EF4-FFF2-40B4-BE49-F238E27FC236}">
                <a16:creationId xmlns:a16="http://schemas.microsoft.com/office/drawing/2014/main" id="{B77824D8-BA04-4B69-9A81-9942A07625E0}"/>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Vorhandene Servicequellen</a:t>
            </a:r>
          </a:p>
        </p:txBody>
      </p:sp>
      <p:sp>
        <p:nvSpPr>
          <p:cNvPr id="12" name="body">
            <a:extLst xmlns:a="http://schemas.openxmlformats.org/drawingml/2006/main">
              <a:ext uri="{FF2B5EF4-FFF2-40B4-BE49-F238E27FC236}">
                <a16:creationId xmlns:a16="http://schemas.microsoft.com/office/drawing/2014/main" id="{D08AE0E6-B162-41D2-81B7-F30572C87933}"/>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Eigener Kundeneinstieg</a:t>
            </a:r>
          </a:p>
        </p:txBody>
      </p:sp>
      <p:sp>
        <p:nvSpPr>
          <p:cNvPr id="13" name="body">
            <a:extLst xmlns:a="http://schemas.openxmlformats.org/drawingml/2006/main">
              <a:ext uri="{FF2B5EF4-FFF2-40B4-BE49-F238E27FC236}">
                <a16:creationId xmlns:a16="http://schemas.microsoft.com/office/drawing/2014/main" id="{1CF0B6CC-A6B2-45FB-9555-063E509AE728}"/>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Weiterentwicklung im Kundenteam</a:t>
            </a:r>
          </a:p>
        </p:txBody>
      </p:sp>
      <p:sp>
        <p:nvSpPr>
          <p:cNvPr id="14" name="body">
            <a:extLst xmlns:a="http://schemas.openxmlformats.org/drawingml/2006/main">
              <a:ext uri="{FF2B5EF4-FFF2-40B4-BE49-F238E27FC236}">
                <a16:creationId xmlns:a16="http://schemas.microsoft.com/office/drawing/2014/main" id="{2F73B754-6577-410A-A1C2-057C46E90646}"/>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Für umfassendes Ticketing und ITSM: spezialisierte Suite</a:t>
            </a:r>
          </a:p>
        </p:txBody>
      </p:sp>
    </p:spTree>
    <p:extLst>
      <p:ext uri="{BB962C8B-B14F-4D97-AF65-F5344CB8AC3E}">
        <p14:creationId xmlns:p14="http://schemas.microsoft.com/office/powerpoint/2010/main" val="177700277"/>
      </p:ext>
    </p:extLst>
  </p:cSld>
</p:sld>
</file>

<file path=ppt/slides/slide15.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CDE34397-6400-4A21-B2ED-2B3C5385FF8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ÜBERGABE UND CORPORATE IDENTITY</a:t>
            </a:r>
          </a:p>
        </p:txBody>
      </p:sp>
      <p:sp>
        <p:nvSpPr>
          <p:cNvPr id="2" name="slide-title">
            <a:extLst xmlns:a="http://schemas.openxmlformats.org/drawingml/2006/main">
              <a:ext uri="{FF2B5EF4-FFF2-40B4-BE49-F238E27FC236}">
                <a16:creationId xmlns:a16="http://schemas.microsoft.com/office/drawing/2014/main" id="{37324E6B-E4CA-4826-B7D1-4810C7F0E8F5}"/>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Ihr Team entwickelt weiter</a:t>
            </a:r>
          </a:p>
        </p:txBody>
      </p:sp>
      <p:sp>
        <p:nvSpPr>
          <p:cNvPr id="3" name="footer">
            <a:extLst xmlns:a="http://schemas.openxmlformats.org/drawingml/2006/main">
              <a:ext uri="{FF2B5EF4-FFF2-40B4-BE49-F238E27FC236}">
                <a16:creationId xmlns:a16="http://schemas.microsoft.com/office/drawing/2014/main" id="{78EABA90-BF7C-4247-B944-E2B8EDA38E87}"/>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A4CB562C-623A-4284-8DA1-EEC9838EC829}"/>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15</a:t>
            </a:r>
          </a:p>
        </p:txBody>
      </p:sp>
      <p:pic>
        <p:nvPicPr>
          <p:cNvPr id="7" name="">
            <a:extLst xmlns:a="http://schemas.openxmlformats.org/drawingml/2006/main">
              <a:ext uri="{FF2B5EF4-FFF2-40B4-BE49-F238E27FC236}">
                <a16:creationId xmlns:a16="http://schemas.microsoft.com/office/drawing/2014/main" id="{CFEE0EE7-155C-430B-8BEA-E400B268176E}"/>
              </a:ext>
            </a:extLst>
          </p:cNvPr>
          <p:cNvPicPr>
            <a:picLocks xmlns:a="http://schemas.openxmlformats.org/drawingml/2006/main" noChangeAspect="1"/>
          </p:cNvPicPr>
          <p:nvPr/>
        </p:nvPicPr>
        <p:blipFill>
          <a:blip xmlns:r="http://schemas.openxmlformats.org/officeDocument/2006/relationships" xmlns:a="http://schemas.openxmlformats.org/drawingml/2006/main" r:embed="R8bc51531e9964728"/>
          <a:stretch xmlns:a="http://schemas.openxmlformats.org/drawingml/2006/main"/>
        </p:blipFill>
        <p:spPr>
          <a:xfrm xmlns:a="http://schemas.openxmlformats.org/drawingml/2006/main">
            <a:off x="6019800" y="2105025"/>
            <a:ext cx="5486400" cy="3810000"/>
          </a:xfrm>
          <a:prstGeom xmlns:a="http://schemas.openxmlformats.org/drawingml/2006/main" prst="rect">
            <a:avLst/>
          </a:prstGeom>
        </p:spPr>
      </p:pic>
      <p:sp>
        <p:nvSpPr>
          <p:cNvPr id="10" name="body">
            <a:extLst xmlns:a="http://schemas.openxmlformats.org/drawingml/2006/main">
              <a:ext uri="{FF2B5EF4-FFF2-40B4-BE49-F238E27FC236}">
                <a16:creationId xmlns:a16="http://schemas.microsoft.com/office/drawing/2014/main" id="{F8680E22-8125-40CE-8BC3-EC92ECD5613B}"/>
              </a:ext>
            </a:extLst>
          </p:cNvPr>
          <p:cNvSpPr>
            <a:spLocks xmlns:a="http://schemas.openxmlformats.org/drawingml/2006/main" noGrp="1"/>
          </p:cNvSpPr>
          <p:nvPr/>
        </p:nvSpPr>
        <p:spPr>
          <a:xfrm xmlns:a="http://schemas.openxmlformats.org/drawingml/2006/main">
            <a:off x="685800" y="228600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6B64"/>
                </a:solidFill>
                <a:latin typeface="Arial"/>
                <a:ea typeface="Arial"/>
                <a:cs typeface="Arial"/>
              </a:defRPr>
            </a:defPPr>
          </a:lstStyle>
          <a:p xmlns:a="http://schemas.openxmlformats.org/drawingml/2006/main">
            <a:pPr>
              <a:defRPr sz="2700" b="1">
                <a:solidFill>
                  <a:srgbClr val="006B64"/>
                </a:solidFill>
                <a:latin typeface="Arial"/>
                <a:ea typeface="Arial"/>
                <a:cs typeface="Arial"/>
              </a:defRPr>
            </a:pPr>
            <a:r>
              <a:rPr sz="2700" b="1">
                <a:solidFill>
                  <a:srgbClr val="006B64"/>
                </a:solidFill>
                <a:latin typeface="Arial"/>
                <a:ea typeface="Arial"/>
                <a:cs typeface="Arial"/>
              </a:rPr>
              <a:t>Code + Entwicklungs-Skills</a:t>
            </a:r>
          </a:p>
        </p:txBody>
      </p:sp>
      <p:sp>
        <p:nvSpPr>
          <p:cNvPr id="11" name="body">
            <a:extLst xmlns:a="http://schemas.openxmlformats.org/drawingml/2006/main">
              <a:ext uri="{FF2B5EF4-FFF2-40B4-BE49-F238E27FC236}">
                <a16:creationId xmlns:a16="http://schemas.microsoft.com/office/drawing/2014/main" id="{D5EB6EC4-D394-401F-A95C-A8C8F2FA8522}"/>
              </a:ext>
            </a:extLst>
          </p:cNvPr>
          <p:cNvSpPr>
            <a:spLocks xmlns:a="http://schemas.openxmlformats.org/drawingml/2006/main" noGrp="1"/>
          </p:cNvSpPr>
          <p:nvPr/>
        </p:nvSpPr>
        <p:spPr>
          <a:xfrm xmlns:a="http://schemas.openxmlformats.org/drawingml/2006/main">
            <a:off x="685800" y="335280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06B64"/>
                </a:solidFill>
                <a:latin typeface="Arial"/>
                <a:ea typeface="Arial"/>
                <a:cs typeface="Arial"/>
              </a:defRPr>
            </a:defPPr>
          </a:lstStyle>
          <a:p xmlns:a="http://schemas.openxmlformats.org/drawingml/2006/main">
            <a:pPr>
              <a:defRPr sz="2700" b="1">
                <a:solidFill>
                  <a:srgbClr val="006B64"/>
                </a:solidFill>
                <a:latin typeface="Arial"/>
                <a:ea typeface="Arial"/>
                <a:cs typeface="Arial"/>
              </a:defRPr>
            </a:pPr>
            <a:r>
              <a:rPr sz="2700" b="1">
                <a:solidFill>
                  <a:srgbClr val="006B64"/>
                </a:solidFill>
                <a:latin typeface="Arial"/>
                <a:ea typeface="Arial"/>
                <a:cs typeface="Arial"/>
              </a:rPr>
              <a:t>Gemeinsame UI und CI-Tokens</a:t>
            </a:r>
          </a:p>
        </p:txBody>
      </p:sp>
      <p:sp>
        <p:nvSpPr>
          <p:cNvPr id="12" name="body">
            <a:extLst xmlns:a="http://schemas.openxmlformats.org/drawingml/2006/main">
              <a:ext uri="{FF2B5EF4-FFF2-40B4-BE49-F238E27FC236}">
                <a16:creationId xmlns:a16="http://schemas.microsoft.com/office/drawing/2014/main" id="{86FE87CC-8630-45C8-9029-61E90DFF225C}"/>
              </a:ext>
            </a:extLst>
          </p:cNvPr>
          <p:cNvSpPr>
            <a:spLocks xmlns:a="http://schemas.openxmlformats.org/drawingml/2006/main" noGrp="1"/>
          </p:cNvSpPr>
          <p:nvPr/>
        </p:nvSpPr>
        <p:spPr>
          <a:xfrm xmlns:a="http://schemas.openxmlformats.org/drawingml/2006/main">
            <a:off x="6038850" y="6000750"/>
            <a:ext cx="542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763"/>
                </a:solidFill>
                <a:latin typeface="Arial"/>
                <a:ea typeface="Arial"/>
                <a:cs typeface="Arial"/>
              </a:defRPr>
            </a:defPPr>
          </a:lstStyle>
          <a:p xmlns:a="http://schemas.openxmlformats.org/drawingml/2006/main">
            <a:pPr>
              <a:defRPr sz="1425" b="0">
                <a:solidFill>
                  <a:srgbClr val="526763"/>
                </a:solidFill>
                <a:latin typeface="Arial"/>
                <a:ea typeface="Arial"/>
                <a:cs typeface="Arial"/>
              </a:defRPr>
            </a:pPr>
            <a:r>
              <a:rPr sz="1425" b="0">
                <a:solidFill>
                  <a:srgbClr val="526763"/>
                </a:solidFill>
                <a:latin typeface="Arial"/>
                <a:ea typeface="Arial"/>
                <a:cs typeface="Arial"/>
              </a:rPr>
              <a:t>@kieksme/csp-ui</a:t>
            </a:r>
          </a:p>
        </p:txBody>
      </p:sp>
    </p:spTree>
    <p:extLst>
      <p:ext uri="{BB962C8B-B14F-4D97-AF65-F5344CB8AC3E}">
        <p14:creationId xmlns:p14="http://schemas.microsoft.com/office/powerpoint/2010/main" val="579980888"/>
      </p:ext>
    </p:extLst>
  </p:cSld>
</p:sld>
</file>

<file path=ppt/slides/slide16.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8BFD12A8-4C1E-454F-A346-2B03738EEC7A}"/>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VORGEHEN</a:t>
            </a:r>
          </a:p>
        </p:txBody>
      </p:sp>
      <p:sp>
        <p:nvSpPr>
          <p:cNvPr id="2" name="slide-title">
            <a:extLst xmlns:a="http://schemas.openxmlformats.org/drawingml/2006/main">
              <a:ext uri="{FF2B5EF4-FFF2-40B4-BE49-F238E27FC236}">
                <a16:creationId xmlns:a16="http://schemas.microsoft.com/office/drawing/2014/main" id="{3EF61AB0-3109-4296-8B9E-2B7301374233}"/>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Der Pilot</a:t>
            </a:r>
          </a:p>
        </p:txBody>
      </p:sp>
      <p:sp>
        <p:nvSpPr>
          <p:cNvPr id="3" name="footer">
            <a:extLst xmlns:a="http://schemas.openxmlformats.org/drawingml/2006/main">
              <a:ext uri="{FF2B5EF4-FFF2-40B4-BE49-F238E27FC236}">
                <a16:creationId xmlns:a16="http://schemas.microsoft.com/office/drawing/2014/main" id="{BEA4B8B2-3D5B-499D-B9D5-354C80A87518}"/>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2488DF00-1F1C-4134-A080-C7E2A87BC176}"/>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16</a:t>
            </a:r>
          </a:p>
        </p:txBody>
      </p:sp>
      <p:sp>
        <p:nvSpPr>
          <p:cNvPr id="18" name="body">
            <a:extLst xmlns:a="http://schemas.openxmlformats.org/drawingml/2006/main">
              <a:ext uri="{FF2B5EF4-FFF2-40B4-BE49-F238E27FC236}">
                <a16:creationId xmlns:a16="http://schemas.microsoft.com/office/drawing/2014/main" id="{44020CAF-7370-4B6F-AED2-580FBFA9E825}"/>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01  Anwendungsfall wählen</a:t>
            </a:r>
          </a:p>
        </p:txBody>
      </p:sp>
      <p:sp>
        <p:nvSpPr>
          <p:cNvPr id="19" name="body">
            <a:extLst xmlns:a="http://schemas.openxmlformats.org/drawingml/2006/main">
              <a:ext uri="{FF2B5EF4-FFF2-40B4-BE49-F238E27FC236}">
                <a16:creationId xmlns:a16="http://schemas.microsoft.com/office/drawing/2014/main" id="{904CFC1F-C750-4100-B4FE-B1AAFD7E4E7D}"/>
              </a:ext>
            </a:extLst>
          </p:cNvPr>
          <p:cNvSpPr>
            <a:spLocks xmlns:a="http://schemas.openxmlformats.org/drawingml/2006/main" noGrp="1"/>
          </p:cNvSpPr>
          <p:nvPr/>
        </p:nvSpPr>
        <p:spPr>
          <a:xfrm xmlns:a="http://schemas.openxmlformats.org/drawingml/2006/main">
            <a:off x="685800" y="3057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02  Quellen und Support anbinden</a:t>
            </a:r>
          </a:p>
        </p:txBody>
      </p:sp>
      <p:sp>
        <p:nvSpPr>
          <p:cNvPr id="20" name="body">
            <a:extLst xmlns:a="http://schemas.openxmlformats.org/drawingml/2006/main">
              <a:ext uri="{FF2B5EF4-FFF2-40B4-BE49-F238E27FC236}">
                <a16:creationId xmlns:a16="http://schemas.microsoft.com/office/drawing/2014/main" id="{16E1EA31-7B54-4EF0-95F4-C3F2C2FB7206}"/>
              </a:ext>
            </a:extLst>
          </p:cNvPr>
          <p:cNvSpPr>
            <a:spLocks xmlns:a="http://schemas.openxmlformats.org/drawingml/2006/main" noGrp="1"/>
          </p:cNvSpPr>
          <p:nvPr/>
        </p:nvSpPr>
        <p:spPr>
          <a:xfrm xmlns:a="http://schemas.openxmlformats.org/drawingml/2006/main">
            <a:off x="685800" y="38290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03  Im Alltag messen</a:t>
            </a:r>
          </a:p>
        </p:txBody>
      </p:sp>
      <p:sp>
        <p:nvSpPr>
          <p:cNvPr id="21" name="body">
            <a:extLst xmlns:a="http://schemas.openxmlformats.org/drawingml/2006/main">
              <a:ext uri="{FF2B5EF4-FFF2-40B4-BE49-F238E27FC236}">
                <a16:creationId xmlns:a16="http://schemas.microsoft.com/office/drawing/2014/main" id="{68C9F21D-2AFA-4CEB-AC65-0121E763DBFC}"/>
              </a:ext>
            </a:extLst>
          </p:cNvPr>
          <p:cNvSpPr>
            <a:spLocks xmlns:a="http://schemas.openxmlformats.org/drawingml/2006/main" noGrp="1"/>
          </p:cNvSpPr>
          <p:nvPr/>
        </p:nvSpPr>
        <p:spPr>
          <a:xfrm xmlns:a="http://schemas.openxmlformats.org/drawingml/2006/main">
            <a:off x="685800" y="46005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04  Übergeben und entscheiden</a:t>
            </a:r>
          </a:p>
        </p:txBody>
      </p:sp>
    </p:spTree>
    <p:extLst>
      <p:ext uri="{BB962C8B-B14F-4D97-AF65-F5344CB8AC3E}">
        <p14:creationId xmlns:p14="http://schemas.microsoft.com/office/powerpoint/2010/main" val="833777140"/>
      </p:ext>
    </p:extLst>
  </p:cSld>
</p:sld>
</file>

<file path=ppt/slides/slide17.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D0D91E9D-523C-460F-82CA-23D6254E9D38}"/>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ENTSCHEIDUNGSGRUNDLAGE</a:t>
            </a:r>
          </a:p>
        </p:txBody>
      </p:sp>
      <p:sp>
        <p:nvSpPr>
          <p:cNvPr id="2" name="slide-title">
            <a:extLst xmlns:a="http://schemas.openxmlformats.org/drawingml/2006/main">
              <a:ext uri="{FF2B5EF4-FFF2-40B4-BE49-F238E27FC236}">
                <a16:creationId xmlns:a16="http://schemas.microsoft.com/office/drawing/2014/main" id="{39E3684F-8390-421A-B139-3B5DE25165CB}"/>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Was wir messen</a:t>
            </a:r>
          </a:p>
        </p:txBody>
      </p:sp>
      <p:sp>
        <p:nvSpPr>
          <p:cNvPr id="3" name="footer">
            <a:extLst xmlns:a="http://schemas.openxmlformats.org/drawingml/2006/main">
              <a:ext uri="{FF2B5EF4-FFF2-40B4-BE49-F238E27FC236}">
                <a16:creationId xmlns:a16="http://schemas.microsoft.com/office/drawing/2014/main" id="{1E78D5A7-A248-4E72-B8FB-8E7EDCC6D3AB}"/>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DB531E28-5181-400A-A507-E7440FC462A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17</a:t>
            </a:r>
          </a:p>
        </p:txBody>
      </p:sp>
      <p:sp>
        <p:nvSpPr>
          <p:cNvPr id="12" name="body">
            <a:extLst xmlns:a="http://schemas.openxmlformats.org/drawingml/2006/main">
              <a:ext uri="{FF2B5EF4-FFF2-40B4-BE49-F238E27FC236}">
                <a16:creationId xmlns:a16="http://schemas.microsoft.com/office/drawing/2014/main" id="{F4BB4C7B-1108-4A15-82BE-4122EA9CF891}"/>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Teamaufwand</a:t>
            </a:r>
          </a:p>
        </p:txBody>
      </p:sp>
      <p:sp>
        <p:nvSpPr>
          <p:cNvPr id="13" name="body">
            <a:extLst xmlns:a="http://schemas.openxmlformats.org/drawingml/2006/main">
              <a:ext uri="{FF2B5EF4-FFF2-40B4-BE49-F238E27FC236}">
                <a16:creationId xmlns:a16="http://schemas.microsoft.com/office/drawing/2014/main" id="{5E5DB94E-EE78-4819-87E8-F6DE40ABE75C}"/>
              </a:ext>
            </a:extLst>
          </p:cNvPr>
          <p:cNvSpPr>
            <a:spLocks xmlns:a="http://schemas.openxmlformats.org/drawingml/2006/main" noGrp="1"/>
          </p:cNvSpPr>
          <p:nvPr/>
        </p:nvSpPr>
        <p:spPr>
          <a:xfrm xmlns:a="http://schemas.openxmlformats.org/drawingml/2006/main">
            <a:off x="685800" y="30575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Antwortqualität</a:t>
            </a:r>
          </a:p>
        </p:txBody>
      </p:sp>
      <p:sp>
        <p:nvSpPr>
          <p:cNvPr id="14" name="body">
            <a:extLst xmlns:a="http://schemas.openxmlformats.org/drawingml/2006/main">
              <a:ext uri="{FF2B5EF4-FFF2-40B4-BE49-F238E27FC236}">
                <a16:creationId xmlns:a16="http://schemas.microsoft.com/office/drawing/2014/main" id="{F666ACE5-E98C-4994-940A-2419C8EC0FF2}"/>
              </a:ext>
            </a:extLst>
          </p:cNvPr>
          <p:cNvSpPr>
            <a:spLocks xmlns:a="http://schemas.openxmlformats.org/drawingml/2006/main" noGrp="1"/>
          </p:cNvSpPr>
          <p:nvPr/>
        </p:nvSpPr>
        <p:spPr>
          <a:xfrm xmlns:a="http://schemas.openxmlformats.org/drawingml/2006/main">
            <a:off x="685800" y="38290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Menschliche Übergaben</a:t>
            </a:r>
          </a:p>
        </p:txBody>
      </p:sp>
      <p:sp>
        <p:nvSpPr>
          <p:cNvPr id="15" name="body">
            <a:extLst xmlns:a="http://schemas.openxmlformats.org/drawingml/2006/main">
              <a:ext uri="{FF2B5EF4-FFF2-40B4-BE49-F238E27FC236}">
                <a16:creationId xmlns:a16="http://schemas.microsoft.com/office/drawing/2014/main" id="{265B1505-BDB9-43BD-8894-ED8014A6D03B}"/>
              </a:ext>
            </a:extLst>
          </p:cNvPr>
          <p:cNvSpPr>
            <a:spLocks xmlns:a="http://schemas.openxmlformats.org/drawingml/2006/main" noGrp="1"/>
          </p:cNvSpPr>
          <p:nvPr/>
        </p:nvSpPr>
        <p:spPr>
          <a:xfrm xmlns:a="http://schemas.openxmlformats.org/drawingml/2006/main">
            <a:off x="685800" y="46005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06B64"/>
                </a:solidFill>
                <a:latin typeface="Arial"/>
                <a:ea typeface="Arial"/>
                <a:cs typeface="Arial"/>
              </a:defRPr>
            </a:defPPr>
          </a:lstStyle>
          <a:p xmlns:a="http://schemas.openxmlformats.org/drawingml/2006/main">
            <a:pPr>
              <a:defRPr sz="3000" b="1">
                <a:solidFill>
                  <a:srgbClr val="006B64"/>
                </a:solidFill>
                <a:latin typeface="Arial"/>
                <a:ea typeface="Arial"/>
                <a:cs typeface="Arial"/>
              </a:defRPr>
            </a:pPr>
            <a:r>
              <a:rPr sz="3000" b="1">
                <a:solidFill>
                  <a:srgbClr val="006B64"/>
                </a:solidFill>
                <a:latin typeface="Arial"/>
                <a:ea typeface="Arial"/>
                <a:cs typeface="Arial"/>
              </a:rPr>
              <a:t>Gesamte Betriebskosten</a:t>
            </a:r>
          </a:p>
        </p:txBody>
      </p:sp>
    </p:spTree>
    <p:extLst>
      <p:ext uri="{BB962C8B-B14F-4D97-AF65-F5344CB8AC3E}">
        <p14:creationId xmlns:p14="http://schemas.microsoft.com/office/powerpoint/2010/main" val="590920031"/>
      </p:ext>
    </p:extLst>
  </p:cSld>
</p:sld>
</file>

<file path=ppt/slides/slide18.xml><?xml version="1.0" encoding="utf-8"?>
<p:sld xmlns:p="http://schemas.openxmlformats.org/presentationml/2006/main">
  <p:cSld>
    <p:bg>
      <p:bgPr>
        <a:solidFill xmlns:a="http://schemas.openxmlformats.org/drawingml/2006/main">
          <a:srgbClr val="102A2A"/>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52A3E800-6E29-4DF8-B962-29FC631979BE}"/>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D5F36B"/>
                </a:solidFill>
                <a:latin typeface="Arial"/>
                <a:ea typeface="Arial"/>
                <a:cs typeface="Arial"/>
              </a:defRPr>
            </a:defPPr>
          </a:lstStyle>
          <a:p xmlns:a="http://schemas.openxmlformats.org/drawingml/2006/main">
            <a:pPr>
              <a:buNone/>
              <a:defRPr sz="1275" b="1">
                <a:solidFill>
                  <a:srgbClr val="D5F36B"/>
                </a:solidFill>
                <a:latin typeface="Arial"/>
                <a:ea typeface="Arial"/>
                <a:cs typeface="Arial"/>
              </a:defRPr>
            </a:pPr>
            <a:r>
              <a:rPr sz="1275" b="1">
                <a:solidFill>
                  <a:srgbClr val="D5F36B"/>
                </a:solidFill>
                <a:latin typeface="Arial"/>
                <a:ea typeface="Arial"/>
                <a:cs typeface="Arial"/>
              </a:rPr>
              <a:t>NÄCHSTER SCHRITT</a:t>
            </a:r>
          </a:p>
        </p:txBody>
      </p:sp>
      <p:sp>
        <p:nvSpPr>
          <p:cNvPr id="2" name="slide-title">
            <a:extLst xmlns:a="http://schemas.openxmlformats.org/drawingml/2006/main">
              <a:ext uri="{FF2B5EF4-FFF2-40B4-BE49-F238E27FC236}">
                <a16:creationId xmlns:a16="http://schemas.microsoft.com/office/drawing/2014/main" id="{E2AC19E4-1278-4413-B35F-3A40E71AD867}"/>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AF9"/>
                </a:solidFill>
                <a:latin typeface="Arial"/>
                <a:ea typeface="Arial"/>
                <a:cs typeface="Arial"/>
              </a:defRPr>
            </a:defPPr>
          </a:lstStyle>
          <a:p xmlns:a="http://schemas.openxmlformats.org/drawingml/2006/main">
            <a:pPr>
              <a:buNone/>
              <a:defRPr sz="3600" b="1">
                <a:solidFill>
                  <a:srgbClr val="F7FAF9"/>
                </a:solidFill>
                <a:latin typeface="Arial"/>
                <a:ea typeface="Arial"/>
                <a:cs typeface="Arial"/>
              </a:defRPr>
            </a:pPr>
            <a:r>
              <a:rPr sz="3600" b="1">
                <a:solidFill>
                  <a:srgbClr val="F7FAF9"/>
                </a:solidFill>
                <a:latin typeface="Arial"/>
                <a:ea typeface="Arial"/>
                <a:cs typeface="Arial"/>
              </a:rPr>
              <a:t>Ihr erster Anwendungsfall</a:t>
            </a:r>
          </a:p>
        </p:txBody>
      </p:sp>
      <p:sp>
        <p:nvSpPr>
          <p:cNvPr id="3" name="footer">
            <a:extLst xmlns:a="http://schemas.openxmlformats.org/drawingml/2006/main">
              <a:ext uri="{FF2B5EF4-FFF2-40B4-BE49-F238E27FC236}">
                <a16:creationId xmlns:a16="http://schemas.microsoft.com/office/drawing/2014/main" id="{32430DA4-14E6-40FF-97AB-BB3908FDC2D3}"/>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EF8C7E01-3B52-41B0-9D0A-88B29BCBC457}"/>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BCFC7"/>
                </a:solidFill>
                <a:latin typeface="Arial"/>
                <a:ea typeface="Arial"/>
                <a:cs typeface="Arial"/>
              </a:defRPr>
            </a:defPPr>
          </a:lstStyle>
          <a:p xmlns:a="http://schemas.openxmlformats.org/drawingml/2006/main">
            <a:pPr>
              <a:buNone/>
              <a:defRPr sz="1125" b="0">
                <a:solidFill>
                  <a:srgbClr val="BBCFC7"/>
                </a:solidFill>
                <a:latin typeface="Arial"/>
                <a:ea typeface="Arial"/>
                <a:cs typeface="Arial"/>
              </a:defRPr>
            </a:pPr>
            <a:r>
              <a:rPr sz="1125" b="0">
                <a:solidFill>
                  <a:srgbClr val="BBCFC7"/>
                </a:solidFill>
                <a:latin typeface="Arial"/>
                <a:ea typeface="Arial"/>
                <a:cs typeface="Arial"/>
              </a:rPr>
              <a:t>18</a:t>
            </a:r>
          </a:p>
        </p:txBody>
      </p:sp>
      <p:sp>
        <p:nvSpPr>
          <p:cNvPr id="10" name="body">
            <a:extLst xmlns:a="http://schemas.openxmlformats.org/drawingml/2006/main">
              <a:ext uri="{FF2B5EF4-FFF2-40B4-BE49-F238E27FC236}">
                <a16:creationId xmlns:a16="http://schemas.microsoft.com/office/drawing/2014/main" id="{D8092E43-D095-4B85-A5DD-A8F8E6448BFB}"/>
              </a:ext>
            </a:extLst>
          </p:cNvPr>
          <p:cNvSpPr>
            <a:spLocks xmlns:a="http://schemas.openxmlformats.org/drawingml/2006/main" noGrp="1"/>
          </p:cNvSpPr>
          <p:nvPr/>
        </p:nvSpPr>
        <p:spPr>
          <a:xfrm xmlns:a="http://schemas.openxmlformats.org/drawingml/2006/main">
            <a:off x="685800" y="2286000"/>
            <a:ext cx="108204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7FAF9"/>
                </a:solidFill>
                <a:latin typeface="Arial"/>
                <a:ea typeface="Arial"/>
                <a:cs typeface="Arial"/>
              </a:defRPr>
            </a:defPPr>
          </a:lstStyle>
          <a:p xmlns:a="http://schemas.openxmlformats.org/drawingml/2006/main">
            <a:pPr>
              <a:defRPr sz="4050" b="1">
                <a:solidFill>
                  <a:srgbClr val="F7FAF9"/>
                </a:solidFill>
                <a:latin typeface="Arial"/>
                <a:ea typeface="Arial"/>
                <a:cs typeface="Arial"/>
              </a:defRPr>
            </a:pPr>
            <a:r>
              <a:rPr sz="4050" b="1">
                <a:solidFill>
                  <a:srgbClr val="F7FAF9"/>
                </a:solidFill>
                <a:latin typeface="Arial"/>
                <a:ea typeface="Arial"/>
                <a:cs typeface="Arial"/>
              </a:rPr>
              <a:t>Welche Serviceanfrage</a:t>
            </a:r>
          </a:p>
          <a:p xmlns:a="http://schemas.openxmlformats.org/drawingml/2006/main">
            <a:pPr>
              <a:defRPr sz="4050" b="1">
                <a:solidFill>
                  <a:srgbClr val="F7FAF9"/>
                </a:solidFill>
                <a:latin typeface="Arial"/>
                <a:ea typeface="Arial"/>
                <a:cs typeface="Arial"/>
              </a:defRPr>
            </a:pPr>
            <a:r>
              <a:rPr sz="4050" b="1">
                <a:solidFill>
                  <a:srgbClr val="F7FAF9"/>
                </a:solidFill>
                <a:latin typeface="Arial"/>
                <a:ea typeface="Arial"/>
                <a:cs typeface="Arial"/>
              </a:rPr>
              <a:t>soll Ihr Team zuerst entlasten?</a:t>
            </a:r>
          </a:p>
        </p:txBody>
      </p:sp>
      <p:sp>
        <p:nvSpPr>
          <p:cNvPr id="11" name="body">
            <a:extLst xmlns:a="http://schemas.openxmlformats.org/drawingml/2006/main">
              <a:ext uri="{FF2B5EF4-FFF2-40B4-BE49-F238E27FC236}">
                <a16:creationId xmlns:a16="http://schemas.microsoft.com/office/drawing/2014/main" id="{9CEA8B70-44A4-4391-A9C1-7DAAADC67776}"/>
              </a:ext>
            </a:extLst>
          </p:cNvPr>
          <p:cNvSpPr>
            <a:spLocks xmlns:a="http://schemas.openxmlformats.org/drawingml/2006/main" noGrp="1"/>
          </p:cNvSpPr>
          <p:nvPr/>
        </p:nvSpPr>
        <p:spPr>
          <a:xfrm xmlns:a="http://schemas.openxmlformats.org/drawingml/2006/main">
            <a:off x="685800" y="55626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5F36B"/>
                </a:solidFill>
                <a:latin typeface="Arial"/>
                <a:ea typeface="Arial"/>
                <a:cs typeface="Arial"/>
              </a:defRPr>
            </a:defPPr>
          </a:lstStyle>
          <a:p xmlns:a="http://schemas.openxmlformats.org/drawingml/2006/main">
            <a:pPr>
              <a:defRPr sz="2400" b="0">
                <a:solidFill>
                  <a:srgbClr val="D5F36B"/>
                </a:solidFill>
                <a:latin typeface="Arial"/>
                <a:ea typeface="Arial"/>
                <a:cs typeface="Arial"/>
              </a:defRPr>
            </a:pPr>
            <a:r>
              <a:rPr sz="2400" b="0">
                <a:solidFill>
                  <a:srgbClr val="D5F36B"/>
                </a:solidFill>
                <a:latin typeface="Arial"/>
                <a:ea typeface="Arial"/>
                <a:cs typeface="Arial"/>
                <a:hlinkClick xmlns:r="http://schemas.openxmlformats.org/officeDocument/2006/relationships" r:id="R295f8e2a85fd4813"/>
              </a:rPr>
              <a:t>kontakt@kieks.me</a:t>
            </a:r>
          </a:p>
        </p:txBody>
      </p:sp>
      <p:sp>
        <p:nvSpPr>
          <p:cNvPr id="12" name="body">
            <a:extLst xmlns:a="http://schemas.openxmlformats.org/drawingml/2006/main">
              <a:ext uri="{FF2B5EF4-FFF2-40B4-BE49-F238E27FC236}">
                <a16:creationId xmlns:a16="http://schemas.microsoft.com/office/drawing/2014/main" id="{D2B746CA-8F09-4EEA-BFA4-F53642FE3FD6}"/>
              </a:ext>
            </a:extLst>
          </p:cNvPr>
          <p:cNvSpPr>
            <a:spLocks xmlns:a="http://schemas.openxmlformats.org/drawingml/2006/main" noGrp="1"/>
          </p:cNvSpPr>
          <p:nvPr/>
        </p:nvSpPr>
        <p:spPr>
          <a:xfrm xmlns:a="http://schemas.openxmlformats.org/drawingml/2006/main">
            <a:off x="6191250" y="5629275"/>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D5F36B"/>
                </a:solidFill>
                <a:latin typeface="Arial"/>
                <a:ea typeface="Arial"/>
                <a:cs typeface="Arial"/>
              </a:defRPr>
            </a:defPPr>
          </a:lstStyle>
          <a:p xmlns:a="http://schemas.openxmlformats.org/drawingml/2006/main">
            <a:pPr>
              <a:defRPr sz="1875" b="0">
                <a:solidFill>
                  <a:srgbClr val="D5F36B"/>
                </a:solidFill>
                <a:latin typeface="Arial"/>
                <a:ea typeface="Arial"/>
                <a:cs typeface="Arial"/>
              </a:defRPr>
            </a:pPr>
            <a:r>
              <a:rPr sz="1875" b="0">
                <a:solidFill>
                  <a:srgbClr val="D5F36B"/>
                </a:solidFill>
                <a:latin typeface="Arial"/>
                <a:ea typeface="Arial"/>
                <a:cs typeface="Arial"/>
                <a:hlinkClick xmlns:r="http://schemas.openxmlformats.org/officeDocument/2006/relationships" r:id="Rce3cd43ddd9a480f"/>
              </a:rPr>
              <a:t>csp-brand-kieksme.netlify.app</a:t>
            </a:r>
          </a:p>
        </p:txBody>
      </p:sp>
    </p:spTree>
    <p:extLst>
      <p:ext uri="{BB962C8B-B14F-4D97-AF65-F5344CB8AC3E}">
        <p14:creationId xmlns:p14="http://schemas.microsoft.com/office/powerpoint/2010/main" val="709388657"/>
      </p:ext>
    </p:extLst>
  </p:cSld>
</p:sld>
</file>

<file path=ppt/slides/slide19.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6EEE8767-15F4-4B34-BCCF-FA091FD2EE22}"/>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ZUSATZFOLIE FÜR KOLLEGEN</a:t>
            </a:r>
          </a:p>
        </p:txBody>
      </p:sp>
      <p:sp>
        <p:nvSpPr>
          <p:cNvPr id="2" name="slide-title">
            <a:extLst xmlns:a="http://schemas.openxmlformats.org/drawingml/2006/main">
              <a:ext uri="{FF2B5EF4-FFF2-40B4-BE49-F238E27FC236}">
                <a16:creationId xmlns:a16="http://schemas.microsoft.com/office/drawing/2014/main" id="{7118D290-2511-4896-AC8E-4FF92BEC0F90}"/>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Für die interne Diskussion</a:t>
            </a:r>
          </a:p>
        </p:txBody>
      </p:sp>
      <p:sp>
        <p:nvSpPr>
          <p:cNvPr id="3" name="footer">
            <a:extLst xmlns:a="http://schemas.openxmlformats.org/drawingml/2006/main">
              <a:ext uri="{FF2B5EF4-FFF2-40B4-BE49-F238E27FC236}">
                <a16:creationId xmlns:a16="http://schemas.microsoft.com/office/drawing/2014/main" id="{9985DE2C-F124-419C-81A2-FCFC2F76C3B6}"/>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0A4D415-5E9E-48E7-B781-A6B18068D6C6}"/>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19</a:t>
            </a:r>
          </a:p>
        </p:txBody>
      </p:sp>
      <p:sp>
        <p:nvSpPr>
          <p:cNvPr id="12" name="body">
            <a:extLst xmlns:a="http://schemas.openxmlformats.org/drawingml/2006/main">
              <a:ext uri="{FF2B5EF4-FFF2-40B4-BE49-F238E27FC236}">
                <a16:creationId xmlns:a16="http://schemas.microsoft.com/office/drawing/2014/main" id="{013CA3D6-2C8D-494C-9AB8-D5589E418D66}"/>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Gemeinsame Produktbasis</a:t>
            </a:r>
          </a:p>
        </p:txBody>
      </p:sp>
      <p:sp>
        <p:nvSpPr>
          <p:cNvPr id="13" name="body">
            <a:extLst xmlns:a="http://schemas.openxmlformats.org/drawingml/2006/main">
              <a:ext uri="{FF2B5EF4-FFF2-40B4-BE49-F238E27FC236}">
                <a16:creationId xmlns:a16="http://schemas.microsoft.com/office/drawing/2014/main" id="{00ABAFB7-4F6D-466B-A7F2-61C84E891111}"/>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Ein verantwortliches Pilotteam</a:t>
            </a:r>
          </a:p>
        </p:txBody>
      </p:sp>
      <p:sp>
        <p:nvSpPr>
          <p:cNvPr id="14" name="body">
            <a:extLst xmlns:a="http://schemas.openxmlformats.org/drawingml/2006/main">
              <a:ext uri="{FF2B5EF4-FFF2-40B4-BE49-F238E27FC236}">
                <a16:creationId xmlns:a16="http://schemas.microsoft.com/office/drawing/2014/main" id="{69A35CF2-4AEF-4FDA-9FF0-A54DC5124C9C}"/>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Eigene Ergebnisse gewinnen</a:t>
            </a:r>
          </a:p>
        </p:txBody>
      </p:sp>
    </p:spTree>
    <p:extLst>
      <p:ext uri="{BB962C8B-B14F-4D97-AF65-F5344CB8AC3E}">
        <p14:creationId xmlns:p14="http://schemas.microsoft.com/office/powerpoint/2010/main" val="1513608869"/>
      </p:ext>
    </p:extLst>
  </p:cSld>
</p:sld>
</file>

<file path=ppt/slides/slide20.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E9A493D8-CB4B-4986-9379-74D453243783}"/>
              </a:ext>
            </a:extLst>
          </p:cNvPr>
          <p:cNvSpPr>
            <a:spLocks xmlns:a="http://schemas.openxmlformats.org/drawingml/2006/main" noGrp="1"/>
          </p:cNvSpPr>
          <p:nvPr/>
        </p:nvSpPr>
        <p:spPr>
          <a:xfrm xmlns:a="http://schemas.openxmlformats.org/drawingml/2006/main">
            <a:off x="685800" y="38100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ANHANG FÜR RÜCKFRAGEN</a:t>
            </a:r>
          </a:p>
        </p:txBody>
      </p:sp>
      <p:sp>
        <p:nvSpPr>
          <p:cNvPr id="2" name="slide-title">
            <a:extLst xmlns:a="http://schemas.openxmlformats.org/drawingml/2006/main">
              <a:ext uri="{FF2B5EF4-FFF2-40B4-BE49-F238E27FC236}">
                <a16:creationId xmlns:a16="http://schemas.microsoft.com/office/drawing/2014/main" id="{E3CF1B1E-398E-4C39-AAC5-C2886C2B081D}"/>
              </a:ext>
            </a:extLst>
          </p:cNvPr>
          <p:cNvSpPr>
            <a:spLocks xmlns:a="http://schemas.openxmlformats.org/drawingml/2006/main" noGrp="1"/>
          </p:cNvSpPr>
          <p:nvPr/>
        </p:nvSpPr>
        <p:spPr>
          <a:xfrm xmlns:a="http://schemas.openxmlformats.org/drawingml/2006/main">
            <a:off x="685800" y="88582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Technische Basis</a:t>
            </a:r>
          </a:p>
        </p:txBody>
      </p:sp>
      <p:sp>
        <p:nvSpPr>
          <p:cNvPr id="3" name="footer">
            <a:extLst xmlns:a="http://schemas.openxmlformats.org/drawingml/2006/main">
              <a:ext uri="{FF2B5EF4-FFF2-40B4-BE49-F238E27FC236}">
                <a16:creationId xmlns:a16="http://schemas.microsoft.com/office/drawing/2014/main" id="{96360847-E436-43DB-8B5F-77CC0658EEB5}"/>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BAB6E8C0-A5B8-41AE-8603-13029C0516E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20</a:t>
            </a:r>
          </a:p>
        </p:txBody>
      </p:sp>
      <p:sp>
        <p:nvSpPr>
          <p:cNvPr id="12" name="body">
            <a:extLst xmlns:a="http://schemas.openxmlformats.org/drawingml/2006/main">
              <a:ext uri="{FF2B5EF4-FFF2-40B4-BE49-F238E27FC236}">
                <a16:creationId xmlns:a16="http://schemas.microsoft.com/office/drawing/2014/main" id="{C546DB53-68CF-4477-9273-67772A662865}"/>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React-PWA · Fastify · Plugin-SDK</a:t>
            </a:r>
          </a:p>
        </p:txBody>
      </p:sp>
      <p:sp>
        <p:nvSpPr>
          <p:cNvPr id="13" name="body">
            <a:extLst xmlns:a="http://schemas.openxmlformats.org/drawingml/2006/main">
              <a:ext uri="{FF2B5EF4-FFF2-40B4-BE49-F238E27FC236}">
                <a16:creationId xmlns:a16="http://schemas.microsoft.com/office/drawing/2014/main" id="{95C8DCBD-E998-4871-8C3D-7CFABC8C92A4}"/>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OpenAI · Azure OpenAI · Ollama</a:t>
            </a:r>
          </a:p>
        </p:txBody>
      </p:sp>
      <p:sp>
        <p:nvSpPr>
          <p:cNvPr id="14" name="body">
            <a:extLst xmlns:a="http://schemas.openxmlformats.org/drawingml/2006/main">
              <a:ext uri="{FF2B5EF4-FFF2-40B4-BE49-F238E27FC236}">
                <a16:creationId xmlns:a16="http://schemas.microsoft.com/office/drawing/2014/main" id="{834F2663-82D5-42A6-9101-AC74E0011B9C}"/>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Provider-Verbindungen je Projekt prüfen</a:t>
            </a:r>
          </a:p>
        </p:txBody>
      </p:sp>
      <p:sp>
        <p:nvSpPr>
          <p:cNvPr id="15" name="body">
            <a:extLst xmlns:a="http://schemas.openxmlformats.org/drawingml/2006/main">
              <a:ext uri="{FF2B5EF4-FFF2-40B4-BE49-F238E27FC236}">
                <a16:creationId xmlns:a16="http://schemas.microsoft.com/office/drawing/2014/main" id="{5399A213-642D-46FE-AB27-06AD4E6779E2}"/>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Keine eigenständigen Ticket- oder Alert-Aktionen durch die KI</a:t>
            </a:r>
          </a:p>
        </p:txBody>
      </p:sp>
    </p:spTree>
    <p:extLst>
      <p:ext uri="{BB962C8B-B14F-4D97-AF65-F5344CB8AC3E}">
        <p14:creationId xmlns:p14="http://schemas.microsoft.com/office/powerpoint/2010/main" val="2064725013"/>
      </p:ext>
    </p:extLst>
  </p:cSld>
</p:sld>
</file>

<file path=ppt/slides/slide21.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155A63E-362F-41E0-8365-4555E0EF37E7}"/>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ANHANG · SAAS-PREISBEISPIELE</a:t>
            </a:r>
          </a:p>
        </p:txBody>
      </p:sp>
      <p:sp>
        <p:nvSpPr>
          <p:cNvPr id="2" name="slide-title">
            <a:extLst xmlns:a="http://schemas.openxmlformats.org/drawingml/2006/main">
              <a:ext uri="{FF2B5EF4-FFF2-40B4-BE49-F238E27FC236}">
                <a16:creationId xmlns:a16="http://schemas.microsoft.com/office/drawing/2014/main" id="{5CBE7200-0B83-405B-8911-400D709F84A4}"/>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SaaS: die Abrechnungseinheit zählt</a:t>
            </a:r>
          </a:p>
        </p:txBody>
      </p:sp>
      <p:sp>
        <p:nvSpPr>
          <p:cNvPr id="3" name="footer">
            <a:extLst xmlns:a="http://schemas.openxmlformats.org/drawingml/2006/main">
              <a:ext uri="{FF2B5EF4-FFF2-40B4-BE49-F238E27FC236}">
                <a16:creationId xmlns:a16="http://schemas.microsoft.com/office/drawing/2014/main" id="{6D6C1DE6-C774-4750-82E5-A3E52C2C5825}"/>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2A003F92-BB20-45B2-A5C2-1F7B84E4F38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21</a:t>
            </a:r>
          </a:p>
        </p:txBody>
      </p:sp>
      <p:graphicFrame>
        <p:nvGraphicFramePr>
          <p:cNvPr id="8" name="">
            <a:extLst xmlns:a="http://schemas.openxmlformats.org/drawingml/2006/main">
              <a:ext uri="{FF2B5EF4-FFF2-40B4-BE49-F238E27FC236}">
                <a16:creationId xmlns:a16="http://schemas.microsoft.com/office/drawing/2014/main" id="{F690713E-412B-4A5A-B245-918FAAEF3ED2}"/>
              </a:ext>
            </a:extLst>
          </p:cNvPr>
          <p:cNvGraphicFramePr/>
          <p:nvPr/>
        </p:nvGraphicFramePr>
        <p:xfrm>
          <a:off xmlns:a="http://schemas.openxmlformats.org/drawingml/2006/main" x="685800" y="2076450"/>
          <a:ext xmlns:a="http://schemas.openxmlformats.org/drawingml/2006/main" cx="10820400" cy="2952750"/>
        </p:xfrm>
        <a:graphic xmlns:a="http://schemas.openxmlformats.org/drawingml/2006/main">
          <a:graphicData uri="http://schemas.openxmlformats.org/drawingml/2006/table">
            <a:tbl>
              <a:tblPr/>
              <a:tblGrid>
                <a:gridCol w="4095750"/>
                <a:gridCol w="6724650"/>
              </a:tblGrid>
              <a:tr h="590550">
                <a:tc>
                  <a:txBody>
                    <a:bodyPr wrap="square"/>
                    <a:lstStyle/>
                    <a:p>
                      <a:r>
                        <a:rPr sz="1875" b="1">
                          <a:solidFill>
                            <a:srgbClr val="FFFFFF"/>
                          </a:solidFill>
                          <a:latin typeface="Arial"/>
                          <a:ea typeface="Arial"/>
                          <a:cs typeface="Arial"/>
                        </a:rPr>
                        <a:t>Angebot</a:t>
                      </a:r>
                    </a:p>
                  </a:txBody>
                  <a:tcPr marL="190500" marR="190500" marT="76200" marB="762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lstStyle/>
                    <a:p>
                      <a:r>
                        <a:rPr sz="1875" b="1">
                          <a:solidFill>
                            <a:srgbClr val="FFFFFF"/>
                          </a:solidFill>
                          <a:latin typeface="Arial"/>
                          <a:ea typeface="Arial"/>
                          <a:cs typeface="Arial"/>
                        </a:rPr>
                        <a:t>Kostenmodell</a:t>
                      </a:r>
                    </a:p>
                  </a:txBody>
                  <a:tcPr marL="190500" marR="190500" marT="76200" marB="762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590550">
                <a:tc>
                  <a:txBody>
                    <a:bodyPr wrap="square"/>
                    <a:lstStyle/>
                    <a:p>
                      <a:r>
                        <a:rPr sz="2175" b="1">
                          <a:solidFill>
                            <a:srgbClr val="102A2A"/>
                          </a:solidFill>
                          <a:latin typeface="Arial"/>
                          <a:ea typeface="Arial"/>
                          <a:cs typeface="Arial"/>
                        </a:rPr>
                        <a:t>Zendesk</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Agenten + Nutzung</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Freshdesk Omni</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Agenten + KI-Sessions</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Intercom + Fin</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Sitze + Outcomes</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Crisp</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Workspace + KI-Credits</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bl>
          </a:graphicData>
        </a:graphic>
      </p:graphicFrame>
      <p:sp>
        <p:nvSpPr>
          <p:cNvPr id="9" name="body">
            <a:extLst xmlns:a="http://schemas.openxmlformats.org/drawingml/2006/main">
              <a:ext uri="{FF2B5EF4-FFF2-40B4-BE49-F238E27FC236}">
                <a16:creationId xmlns:a16="http://schemas.microsoft.com/office/drawing/2014/main" id="{090E9EFB-41AD-45DD-9F15-C73CE64E1BE0}"/>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Preise und Bedingungen in den Notizen · Stand 14.10.2026</a:t>
            </a:r>
          </a:p>
        </p:txBody>
      </p:sp>
    </p:spTree>
    <p:extLst>
      <p:ext uri="{BB962C8B-B14F-4D97-AF65-F5344CB8AC3E}">
        <p14:creationId xmlns:p14="http://schemas.microsoft.com/office/powerpoint/2010/main" val="274785459"/>
      </p:ext>
    </p:extLst>
  </p:cSld>
</p:sld>
</file>

<file path=ppt/slides/slide22.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FE33F01-BE22-4958-8CC8-952286724435}"/>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ANHANG · EIGENBETRIEB</a:t>
            </a:r>
          </a:p>
        </p:txBody>
      </p:sp>
      <p:sp>
        <p:nvSpPr>
          <p:cNvPr id="2" name="slide-title">
            <a:extLst xmlns:a="http://schemas.openxmlformats.org/drawingml/2006/main">
              <a:ext uri="{FF2B5EF4-FFF2-40B4-BE49-F238E27FC236}">
                <a16:creationId xmlns:a16="http://schemas.microsoft.com/office/drawing/2014/main" id="{47D5F6FA-BF32-4E55-BDFD-5FE3A656DD4E}"/>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Eigenbetrieb ist nicht kostenfrei</a:t>
            </a:r>
          </a:p>
        </p:txBody>
      </p:sp>
      <p:sp>
        <p:nvSpPr>
          <p:cNvPr id="3" name="footer">
            <a:extLst xmlns:a="http://schemas.openxmlformats.org/drawingml/2006/main">
              <a:ext uri="{FF2B5EF4-FFF2-40B4-BE49-F238E27FC236}">
                <a16:creationId xmlns:a16="http://schemas.microsoft.com/office/drawing/2014/main" id="{02C791CF-1FB2-4D4A-996A-47E4223AECFE}"/>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7249096B-B724-4E4F-9BAB-FC6CCE07EFAF}"/>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22</a:t>
            </a:r>
          </a:p>
        </p:txBody>
      </p:sp>
      <p:graphicFrame>
        <p:nvGraphicFramePr>
          <p:cNvPr id="8" name="">
            <a:extLst xmlns:a="http://schemas.openxmlformats.org/drawingml/2006/main">
              <a:ext uri="{FF2B5EF4-FFF2-40B4-BE49-F238E27FC236}">
                <a16:creationId xmlns:a16="http://schemas.microsoft.com/office/drawing/2014/main" id="{8A7DF059-B087-4E80-A13C-659104CA570C}"/>
              </a:ext>
            </a:extLst>
          </p:cNvPr>
          <p:cNvGraphicFramePr/>
          <p:nvPr/>
        </p:nvGraphicFramePr>
        <p:xfrm>
          <a:off xmlns:a="http://schemas.openxmlformats.org/drawingml/2006/main" x="685800" y="2076450"/>
          <a:ext xmlns:a="http://schemas.openxmlformats.org/drawingml/2006/main" cx="10820400" cy="2952750"/>
        </p:xfrm>
        <a:graphic xmlns:a="http://schemas.openxmlformats.org/drawingml/2006/main">
          <a:graphicData uri="http://schemas.openxmlformats.org/drawingml/2006/table">
            <a:tbl>
              <a:tblPr/>
              <a:tblGrid>
                <a:gridCol w="4095750"/>
                <a:gridCol w="6724650"/>
              </a:tblGrid>
              <a:tr h="590550">
                <a:tc>
                  <a:txBody>
                    <a:bodyPr wrap="square"/>
                    <a:lstStyle/>
                    <a:p>
                      <a:r>
                        <a:rPr sz="1875" b="1">
                          <a:solidFill>
                            <a:srgbClr val="FFFFFF"/>
                          </a:solidFill>
                          <a:latin typeface="Arial"/>
                          <a:ea typeface="Arial"/>
                          <a:cs typeface="Arial"/>
                        </a:rPr>
                        <a:t>Angebot</a:t>
                      </a:r>
                    </a:p>
                  </a:txBody>
                  <a:tcPr marL="190500" marR="190500" marT="76200" marB="762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lstStyle/>
                    <a:p>
                      <a:r>
                        <a:rPr sz="1875" b="1">
                          <a:solidFill>
                            <a:srgbClr val="FFFFFF"/>
                          </a:solidFill>
                          <a:latin typeface="Arial"/>
                          <a:ea typeface="Arial"/>
                          <a:cs typeface="Arial"/>
                        </a:rPr>
                        <a:t>Optionale Kosten</a:t>
                      </a:r>
                    </a:p>
                  </a:txBody>
                  <a:tcPr marL="190500" marR="190500" marT="76200" marB="762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590550">
                <a:tc>
                  <a:txBody>
                    <a:bodyPr wrap="square"/>
                    <a:lstStyle/>
                    <a:p>
                      <a:r>
                        <a:rPr sz="2175" b="1">
                          <a:solidFill>
                            <a:srgbClr val="102A2A"/>
                          </a:solidFill>
                          <a:latin typeface="Arial"/>
                          <a:ea typeface="Arial"/>
                          <a:cs typeface="Arial"/>
                        </a:rPr>
                        <a:t>Zammad</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Support, Cloud, Managed AI</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Chatwoot CE</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Captain in bezahlten Plänen</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FreeScout</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Module, Modellverbrauch</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GLPI</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Network-Support, Cloud</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bl>
          </a:graphicData>
        </a:graphic>
      </p:graphicFrame>
      <p:sp>
        <p:nvSpPr>
          <p:cNvPr id="9" name="body">
            <a:extLst xmlns:a="http://schemas.openxmlformats.org/drawingml/2006/main">
              <a:ext uri="{FF2B5EF4-FFF2-40B4-BE49-F238E27FC236}">
                <a16:creationId xmlns:a16="http://schemas.microsoft.com/office/drawing/2014/main" id="{B423532D-9140-4F84-AD79-5DED69C45E76}"/>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Freier Kern · Betrieb und Wartung separat</a:t>
            </a:r>
          </a:p>
        </p:txBody>
      </p:sp>
    </p:spTree>
    <p:extLst>
      <p:ext uri="{BB962C8B-B14F-4D97-AF65-F5344CB8AC3E}">
        <p14:creationId xmlns:p14="http://schemas.microsoft.com/office/powerpoint/2010/main" val="1008629325"/>
      </p:ext>
    </p:extLst>
  </p:cSld>
</p:sld>
</file>

<file path=ppt/slides/slide23.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3533D21-BF5A-4687-9617-1266D9F9A539}"/>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ANHANG · BESCHAFFUNG</a:t>
            </a:r>
          </a:p>
        </p:txBody>
      </p:sp>
      <p:sp>
        <p:nvSpPr>
          <p:cNvPr id="2" name="slide-title">
            <a:extLst xmlns:a="http://schemas.openxmlformats.org/drawingml/2006/main">
              <a:ext uri="{FF2B5EF4-FFF2-40B4-BE49-F238E27FC236}">
                <a16:creationId xmlns:a16="http://schemas.microsoft.com/office/drawing/2014/main" id="{8ACF267E-7913-4AD8-96CA-556E95F02B93}"/>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Enterprise und Baukasten</a:t>
            </a:r>
          </a:p>
        </p:txBody>
      </p:sp>
      <p:sp>
        <p:nvSpPr>
          <p:cNvPr id="3" name="footer">
            <a:extLst xmlns:a="http://schemas.openxmlformats.org/drawingml/2006/main">
              <a:ext uri="{FF2B5EF4-FFF2-40B4-BE49-F238E27FC236}">
                <a16:creationId xmlns:a16="http://schemas.microsoft.com/office/drawing/2014/main" id="{CB6E84DB-1CD6-488F-B5BC-073465B39C5D}"/>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355A65F6-D539-4C2C-BEDD-AFBA1386C3A5}"/>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23</a:t>
            </a:r>
          </a:p>
        </p:txBody>
      </p:sp>
      <p:graphicFrame>
        <p:nvGraphicFramePr>
          <p:cNvPr id="8" name="">
            <a:extLst xmlns:a="http://schemas.openxmlformats.org/drawingml/2006/main">
              <a:ext uri="{FF2B5EF4-FFF2-40B4-BE49-F238E27FC236}">
                <a16:creationId xmlns:a16="http://schemas.microsoft.com/office/drawing/2014/main" id="{4688A987-0E67-4B16-B5A5-B17FA01F894A}"/>
              </a:ext>
            </a:extLst>
          </p:cNvPr>
          <p:cNvGraphicFramePr/>
          <p:nvPr/>
        </p:nvGraphicFramePr>
        <p:xfrm>
          <a:off xmlns:a="http://schemas.openxmlformats.org/drawingml/2006/main" x="685800" y="2076450"/>
          <a:ext xmlns:a="http://schemas.openxmlformats.org/drawingml/2006/main" cx="10820400" cy="2952750"/>
        </p:xfrm>
        <a:graphic xmlns:a="http://schemas.openxmlformats.org/drawingml/2006/main">
          <a:graphicData uri="http://schemas.openxmlformats.org/drawingml/2006/table">
            <a:tbl>
              <a:tblPr/>
              <a:tblGrid>
                <a:gridCol w="4095750"/>
                <a:gridCol w="6724650"/>
              </a:tblGrid>
              <a:tr h="590550">
                <a:tc>
                  <a:txBody>
                    <a:bodyPr wrap="square"/>
                    <a:lstStyle/>
                    <a:p>
                      <a:r>
                        <a:rPr sz="1875" b="1">
                          <a:solidFill>
                            <a:srgbClr val="FFFFFF"/>
                          </a:solidFill>
                          <a:latin typeface="Arial"/>
                          <a:ea typeface="Arial"/>
                          <a:cs typeface="Arial"/>
                        </a:rPr>
                        <a:t>Angebot</a:t>
                      </a:r>
                    </a:p>
                  </a:txBody>
                  <a:tcPr marL="190500" marR="190500" marT="76200" marB="76200" anchor="ctr">
                    <a:lnL w="9525">
                      <a:solidFill>
                        <a:srgbClr val="DBE5DF"/>
                      </a:solidFill>
                      <a:prstDash val="solid"/>
                    </a:lnL>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c>
                  <a:txBody>
                    <a:bodyPr wrap="square"/>
                    <a:lstStyle/>
                    <a:p>
                      <a:r>
                        <a:rPr sz="1875" b="1">
                          <a:solidFill>
                            <a:srgbClr val="FFFFFF"/>
                          </a:solidFill>
                          <a:latin typeface="Arial"/>
                          <a:ea typeface="Arial"/>
                          <a:cs typeface="Arial"/>
                        </a:rPr>
                        <a:t>Beschaffungsmodell</a:t>
                      </a:r>
                    </a:p>
                  </a:txBody>
                  <a:tcPr marL="190500" marR="190500" marT="76200" marB="76200" anchor="ctr">
                    <a:lnR w="9525">
                      <a:solidFill>
                        <a:srgbClr val="DBE5DF"/>
                      </a:solidFill>
                      <a:prstDash val="solid"/>
                    </a:lnR>
                    <a:lnT w="9525">
                      <a:solidFill>
                        <a:srgbClr val="DBE5DF"/>
                      </a:solidFill>
                      <a:prstDash val="solid"/>
                    </a:lnT>
                    <a:lnB w="9525">
                      <a:solidFill>
                        <a:srgbClr val="DBE5DF"/>
                      </a:solidFill>
                      <a:prstDash val="solid"/>
                    </a:lnB>
                    <a:solidFill>
                      <a:srgbClr val="006B64"/>
                    </a:solidFill>
                  </a:tcPr>
                </a:tc>
              </a:tr>
              <a:tr h="590550">
                <a:tc>
                  <a:txBody>
                    <a:bodyPr wrap="square"/>
                    <a:lstStyle/>
                    <a:p>
                      <a:r>
                        <a:rPr sz="2175" b="1">
                          <a:solidFill>
                            <a:srgbClr val="102A2A"/>
                          </a:solidFill>
                          <a:latin typeface="Arial"/>
                          <a:ea typeface="Arial"/>
                          <a:cs typeface="Arial"/>
                        </a:rPr>
                        <a:t>JSM Cloud</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Agenten und Plan</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ServiceNow CSM</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Individuelles Angebot</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r h="590550">
                <a:tc>
                  <a:txBody>
                    <a:bodyPr wrap="square"/>
                    <a:lstStyle/>
                    <a:p>
                      <a:r>
                        <a:rPr sz="2175" b="1">
                          <a:solidFill>
                            <a:srgbClr val="102A2A"/>
                          </a:solidFill>
                          <a:latin typeface="Arial"/>
                          <a:ea typeface="Arial"/>
                          <a:cs typeface="Arial"/>
                        </a:rPr>
                        <a:t>Copilot Studio</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FFFFF"/>
                    </a:solidFill>
                  </a:tcPr>
                </a:tc>
                <a:tc>
                  <a:txBody>
                    <a:bodyPr wrap="square"/>
                    <a:lstStyle/>
                    <a:p>
                      <a:r>
                        <a:rPr sz="2175" b="0">
                          <a:solidFill>
                            <a:srgbClr val="102A2A"/>
                          </a:solidFill>
                          <a:latin typeface="Arial"/>
                          <a:ea typeface="Arial"/>
                          <a:cs typeface="Arial"/>
                        </a:rPr>
                        <a:t>Credits oder PAYG</a:t>
                      </a:r>
                    </a:p>
                  </a:txBody>
                  <a:tcPr marL="190500" marR="190500" marT="76200" marB="76200" anchor="ctr">
                    <a:lnR w="9525">
                      <a:solidFill>
                        <a:srgbClr val="DBE5DF"/>
                      </a:solidFill>
                      <a:prstDash val="solid"/>
                    </a:lnR>
                    <a:lnB w="9525">
                      <a:solidFill>
                        <a:srgbClr val="DBE5DF"/>
                      </a:solidFill>
                      <a:prstDash val="solid"/>
                    </a:lnB>
                    <a:solidFill>
                      <a:srgbClr val="FFFFFF"/>
                    </a:solidFill>
                  </a:tcPr>
                </a:tc>
              </a:tr>
              <a:tr h="590550">
                <a:tc>
                  <a:txBody>
                    <a:bodyPr wrap="square"/>
                    <a:lstStyle/>
                    <a:p>
                      <a:r>
                        <a:rPr sz="2175" b="1">
                          <a:solidFill>
                            <a:srgbClr val="102A2A"/>
                          </a:solidFill>
                          <a:latin typeface="Arial"/>
                          <a:ea typeface="Arial"/>
                          <a:cs typeface="Arial"/>
                        </a:rPr>
                        <a:t>Power Pages</a:t>
                      </a:r>
                    </a:p>
                  </a:txBody>
                  <a:tcPr marL="190500" marR="190500" marT="76200" marB="76200" anchor="ctr">
                    <a:lnL w="9525">
                      <a:solidFill>
                        <a:srgbClr val="DBE5DF"/>
                      </a:solidFill>
                      <a:prstDash val="solid"/>
                    </a:lnL>
                    <a:lnR w="9525">
                      <a:solidFill>
                        <a:srgbClr val="DBE5DF"/>
                      </a:solidFill>
                      <a:prstDash val="solid"/>
                    </a:lnR>
                    <a:lnB w="9525">
                      <a:solidFill>
                        <a:srgbClr val="DBE5DF"/>
                      </a:solidFill>
                      <a:prstDash val="solid"/>
                    </a:lnB>
                    <a:solidFill>
                      <a:srgbClr val="F7FAF9"/>
                    </a:solidFill>
                  </a:tcPr>
                </a:tc>
                <a:tc>
                  <a:txBody>
                    <a:bodyPr wrap="square"/>
                    <a:lstStyle/>
                    <a:p>
                      <a:r>
                        <a:rPr sz="2175" b="0">
                          <a:solidFill>
                            <a:srgbClr val="102A2A"/>
                          </a:solidFill>
                          <a:latin typeface="Arial"/>
                          <a:ea typeface="Arial"/>
                          <a:cs typeface="Arial"/>
                        </a:rPr>
                        <a:t>Aktive Portalnutzer</a:t>
                      </a:r>
                    </a:p>
                  </a:txBody>
                  <a:tcPr marL="190500" marR="190500" marT="76200" marB="76200" anchor="ctr">
                    <a:lnR w="9525">
                      <a:solidFill>
                        <a:srgbClr val="DBE5DF"/>
                      </a:solidFill>
                      <a:prstDash val="solid"/>
                    </a:lnR>
                    <a:lnB w="9525">
                      <a:solidFill>
                        <a:srgbClr val="DBE5DF"/>
                      </a:solidFill>
                      <a:prstDash val="solid"/>
                    </a:lnB>
                    <a:solidFill>
                      <a:srgbClr val="F7FAF9"/>
                    </a:solidFill>
                  </a:tcPr>
                </a:tc>
              </a:tr>
            </a:tbl>
          </a:graphicData>
        </a:graphic>
      </p:graphicFrame>
      <p:sp>
        <p:nvSpPr>
          <p:cNvPr id="9" name="body">
            <a:extLst xmlns:a="http://schemas.openxmlformats.org/drawingml/2006/main">
              <a:ext uri="{FF2B5EF4-FFF2-40B4-BE49-F238E27FC236}">
                <a16:creationId xmlns:a16="http://schemas.microsoft.com/office/drawing/2014/main" id="{24AA0DE6-5C22-4EA8-8892-CEA7D257A7F6}"/>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Preise und Kontingente in den Notizen · Stand 14.10.2026</a:t>
            </a:r>
          </a:p>
        </p:txBody>
      </p:sp>
    </p:spTree>
    <p:extLst>
      <p:ext uri="{BB962C8B-B14F-4D97-AF65-F5344CB8AC3E}">
        <p14:creationId xmlns:p14="http://schemas.microsoft.com/office/powerpoint/2010/main" val="2002854069"/>
      </p:ext>
    </p:extLst>
  </p:cSld>
</p:sld>
</file>

<file path=ppt/slides/slide24.xml><?xml version="1.0" encoding="utf-8"?>
<p:sld xmlns:p="http://schemas.openxmlformats.org/presentationml/2006/main">
  <p:cSld>
    <p:bg>
      <p:bgPr>
        <a:solidFill xmlns:a="http://schemas.openxmlformats.org/drawingml/2006/main">
          <a:srgbClr val="F7FAF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7FED3DC0-044F-4856-87B4-1C4876FF088F}"/>
              </a:ext>
            </a:extLst>
          </p:cNvPr>
          <p:cNvSpPr>
            <a:spLocks xmlns:a="http://schemas.openxmlformats.org/drawingml/2006/main" noGrp="1"/>
          </p:cNvSpPr>
          <p:nvPr/>
        </p:nvSpPr>
        <p:spPr>
          <a:xfrm xmlns:a="http://schemas.openxmlformats.org/drawingml/2006/main">
            <a:off x="685800" y="3810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06B64"/>
                </a:solidFill>
                <a:latin typeface="Arial"/>
                <a:ea typeface="Arial"/>
                <a:cs typeface="Arial"/>
              </a:defRPr>
            </a:defPPr>
          </a:lstStyle>
          <a:p xmlns:a="http://schemas.openxmlformats.org/drawingml/2006/main">
            <a:pPr>
              <a:buNone/>
              <a:defRPr sz="1275" b="1">
                <a:solidFill>
                  <a:srgbClr val="006B64"/>
                </a:solidFill>
                <a:latin typeface="Arial"/>
                <a:ea typeface="Arial"/>
                <a:cs typeface="Arial"/>
              </a:defRPr>
            </a:pPr>
            <a:r>
              <a:rPr sz="1275" b="1">
                <a:solidFill>
                  <a:srgbClr val="006B64"/>
                </a:solidFill>
                <a:latin typeface="Arial"/>
                <a:ea typeface="Arial"/>
                <a:cs typeface="Arial"/>
              </a:rPr>
              <a:t>ANHANG · QUELLEN UND GRENZEN</a:t>
            </a:r>
          </a:p>
        </p:txBody>
      </p:sp>
      <p:sp>
        <p:nvSpPr>
          <p:cNvPr id="2" name="slide-title">
            <a:extLst xmlns:a="http://schemas.openxmlformats.org/drawingml/2006/main">
              <a:ext uri="{FF2B5EF4-FFF2-40B4-BE49-F238E27FC236}">
                <a16:creationId xmlns:a16="http://schemas.microsoft.com/office/drawing/2014/main" id="{F64D028D-2DA7-4EE7-9EA6-29C035B8456A}"/>
              </a:ext>
            </a:extLst>
          </p:cNvPr>
          <p:cNvSpPr>
            <a:spLocks xmlns:a="http://schemas.openxmlformats.org/drawingml/2006/main" noGrp="1"/>
          </p:cNvSpPr>
          <p:nvPr/>
        </p:nvSpPr>
        <p:spPr>
          <a:xfrm xmlns:a="http://schemas.openxmlformats.org/drawingml/2006/main">
            <a:off x="685800" y="885825"/>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A2A"/>
                </a:solidFill>
                <a:latin typeface="Arial"/>
                <a:ea typeface="Arial"/>
                <a:cs typeface="Arial"/>
              </a:defRPr>
            </a:defPPr>
          </a:lstStyle>
          <a:p xmlns:a="http://schemas.openxmlformats.org/drawingml/2006/main">
            <a:pPr>
              <a:buNone/>
              <a:defRPr sz="3600" b="1">
                <a:solidFill>
                  <a:srgbClr val="102A2A"/>
                </a:solidFill>
                <a:latin typeface="Arial"/>
                <a:ea typeface="Arial"/>
                <a:cs typeface="Arial"/>
              </a:defRPr>
            </a:pPr>
            <a:r>
              <a:rPr sz="3600" b="1">
                <a:solidFill>
                  <a:srgbClr val="102A2A"/>
                </a:solidFill>
                <a:latin typeface="Arial"/>
                <a:ea typeface="Arial"/>
                <a:cs typeface="Arial"/>
              </a:rPr>
              <a:t>Zielwert, Messung und Kosten trennen</a:t>
            </a:r>
          </a:p>
        </p:txBody>
      </p:sp>
      <p:sp>
        <p:nvSpPr>
          <p:cNvPr id="3" name="footer">
            <a:extLst xmlns:a="http://schemas.openxmlformats.org/drawingml/2006/main">
              <a:ext uri="{FF2B5EF4-FFF2-40B4-BE49-F238E27FC236}">
                <a16:creationId xmlns:a16="http://schemas.microsoft.com/office/drawing/2014/main" id="{F75E1DF2-881A-44F6-9EA0-E8DA47E133D2}"/>
              </a:ext>
            </a:extLst>
          </p:cNvPr>
          <p:cNvSpPr>
            <a:spLocks xmlns:a="http://schemas.openxmlformats.org/drawingml/2006/main" noGrp="1"/>
          </p:cNvSpPr>
          <p:nvPr/>
        </p:nvSpPr>
        <p:spPr>
          <a:xfrm xmlns:a="http://schemas.openxmlformats.org/drawingml/2006/main">
            <a:off x="685800" y="63341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CSP by kieks.me</a:t>
            </a:r>
          </a:p>
        </p:txBody>
      </p:sp>
      <p:sp>
        <p:nvSpPr>
          <p:cNvPr id="4" name="page">
            <a:extLst xmlns:a="http://schemas.openxmlformats.org/drawingml/2006/main">
              <a:ext uri="{FF2B5EF4-FFF2-40B4-BE49-F238E27FC236}">
                <a16:creationId xmlns:a16="http://schemas.microsoft.com/office/drawing/2014/main" id="{F610D8AE-99F1-4259-9164-B9E675229558}"/>
              </a:ext>
            </a:extLst>
          </p:cNvPr>
          <p:cNvSpPr>
            <a:spLocks xmlns:a="http://schemas.openxmlformats.org/drawingml/2006/main" noGrp="1"/>
          </p:cNvSpPr>
          <p:nvPr/>
        </p:nvSpPr>
        <p:spPr>
          <a:xfrm xmlns:a="http://schemas.openxmlformats.org/drawingml/2006/main">
            <a:off x="10953750" y="633412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26763"/>
                </a:solidFill>
                <a:latin typeface="Arial"/>
                <a:ea typeface="Arial"/>
                <a:cs typeface="Arial"/>
              </a:defRPr>
            </a:defPPr>
          </a:lstStyle>
          <a:p xmlns:a="http://schemas.openxmlformats.org/drawingml/2006/main">
            <a:pPr>
              <a:buNone/>
              <a:defRPr sz="1125" b="0">
                <a:solidFill>
                  <a:srgbClr val="526763"/>
                </a:solidFill>
                <a:latin typeface="Arial"/>
                <a:ea typeface="Arial"/>
                <a:cs typeface="Arial"/>
              </a:defRPr>
            </a:pPr>
            <a:r>
              <a:rPr sz="1125" b="0">
                <a:solidFill>
                  <a:srgbClr val="526763"/>
                </a:solidFill>
                <a:latin typeface="Arial"/>
                <a:ea typeface="Arial"/>
                <a:cs typeface="Arial"/>
              </a:rPr>
              <a:t>24</a:t>
            </a:r>
          </a:p>
        </p:txBody>
      </p:sp>
      <p:sp>
        <p:nvSpPr>
          <p:cNvPr id="11" name="body">
            <a:extLst xmlns:a="http://schemas.openxmlformats.org/drawingml/2006/main">
              <a:ext uri="{FF2B5EF4-FFF2-40B4-BE49-F238E27FC236}">
                <a16:creationId xmlns:a16="http://schemas.microsoft.com/office/drawing/2014/main" id="{0DEE507F-8BF8-4646-8EA9-877B3EB71DB7}"/>
              </a:ext>
            </a:extLst>
          </p:cNvPr>
          <p:cNvSpPr>
            <a:spLocks xmlns:a="http://schemas.openxmlformats.org/drawingml/2006/main" noGrp="1"/>
          </p:cNvSpPr>
          <p:nvPr/>
        </p:nvSpPr>
        <p:spPr>
          <a:xfrm xmlns:a="http://schemas.openxmlformats.org/drawingml/2006/main">
            <a:off x="685800" y="22860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Vorfilterung ≠ vollständige Lösung</a:t>
            </a:r>
          </a:p>
        </p:txBody>
      </p:sp>
      <p:sp>
        <p:nvSpPr>
          <p:cNvPr id="12" name="body">
            <a:extLst xmlns:a="http://schemas.openxmlformats.org/drawingml/2006/main">
              <a:ext uri="{FF2B5EF4-FFF2-40B4-BE49-F238E27FC236}">
                <a16:creationId xmlns:a16="http://schemas.microsoft.com/office/drawing/2014/main" id="{52A11E72-2FE6-4FFF-8335-87D72ACEFCA5}"/>
              </a:ext>
            </a:extLst>
          </p:cNvPr>
          <p:cNvSpPr>
            <a:spLocks xmlns:a="http://schemas.openxmlformats.org/drawingml/2006/main" noGrp="1"/>
          </p:cNvSpPr>
          <p:nvPr/>
        </p:nvSpPr>
        <p:spPr>
          <a:xfrm xmlns:a="http://schemas.openxmlformats.org/drawingml/2006/main">
            <a:off x="685800" y="32861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Einsparung im Pilot prüfen</a:t>
            </a:r>
          </a:p>
        </p:txBody>
      </p:sp>
      <p:sp>
        <p:nvSpPr>
          <p:cNvPr id="13" name="body">
            <a:extLst xmlns:a="http://schemas.openxmlformats.org/drawingml/2006/main">
              <a:ext uri="{FF2B5EF4-FFF2-40B4-BE49-F238E27FC236}">
                <a16:creationId xmlns:a16="http://schemas.microsoft.com/office/drawing/2014/main" id="{D257F9C8-779E-44DC-A391-A5F57A9BC6D1}"/>
              </a:ext>
            </a:extLst>
          </p:cNvPr>
          <p:cNvSpPr>
            <a:spLocks xmlns:a="http://schemas.openxmlformats.org/drawingml/2006/main" noGrp="1"/>
          </p:cNvSpPr>
          <p:nvPr/>
        </p:nvSpPr>
        <p:spPr>
          <a:xfrm xmlns:a="http://schemas.openxmlformats.org/drawingml/2006/main">
            <a:off x="685800" y="4286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06B64"/>
                </a:solidFill>
                <a:latin typeface="Arial"/>
                <a:ea typeface="Arial"/>
                <a:cs typeface="Arial"/>
              </a:defRPr>
            </a:defPPr>
          </a:lstStyle>
          <a:p xmlns:a="http://schemas.openxmlformats.org/drawingml/2006/main">
            <a:pPr>
              <a:defRPr sz="3150" b="1">
                <a:solidFill>
                  <a:srgbClr val="006B64"/>
                </a:solidFill>
                <a:latin typeface="Arial"/>
                <a:ea typeface="Arial"/>
                <a:cs typeface="Arial"/>
              </a:defRPr>
            </a:pPr>
            <a:r>
              <a:rPr sz="3150" b="1">
                <a:solidFill>
                  <a:srgbClr val="006B64"/>
                </a:solidFill>
                <a:latin typeface="Arial"/>
                <a:ea typeface="Arial"/>
                <a:cs typeface="Arial"/>
              </a:rPr>
              <a:t>11 Angebote · Herstellerquellen</a:t>
            </a:r>
          </a:p>
        </p:txBody>
      </p:sp>
      <p:sp>
        <p:nvSpPr>
          <p:cNvPr id="14" name="body">
            <a:extLst xmlns:a="http://schemas.openxmlformats.org/drawingml/2006/main">
              <a:ext uri="{FF2B5EF4-FFF2-40B4-BE49-F238E27FC236}">
                <a16:creationId xmlns:a16="http://schemas.microsoft.com/office/drawing/2014/main" id="{A6F7F2B0-42D0-4E04-8AF3-EB890375164F}"/>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763"/>
                </a:solidFill>
                <a:latin typeface="Arial"/>
                <a:ea typeface="Arial"/>
                <a:cs typeface="Arial"/>
              </a:defRPr>
            </a:defPPr>
          </a:lstStyle>
          <a:p xmlns:a="http://schemas.openxmlformats.org/drawingml/2006/main">
            <a:pPr>
              <a:defRPr sz="1575" b="0">
                <a:solidFill>
                  <a:srgbClr val="526763"/>
                </a:solidFill>
                <a:latin typeface="Arial"/>
                <a:ea typeface="Arial"/>
                <a:cs typeface="Arial"/>
              </a:defRPr>
            </a:pPr>
            <a:r>
              <a:rPr sz="1575" b="0">
                <a:solidFill>
                  <a:srgbClr val="526763"/>
                </a:solidFill>
                <a:latin typeface="Arial"/>
                <a:ea typeface="Arial"/>
                <a:cs typeface="Arial"/>
              </a:rPr>
              <a:t>80 % Zielwert · noch keine eigene Messung</a:t>
            </a:r>
          </a:p>
        </p:txBody>
      </p:sp>
    </p:spTree>
    <p:extLst>
      <p:ext uri="{BB962C8B-B14F-4D97-AF65-F5344CB8AC3E}">
        <p14:creationId xmlns:p14="http://schemas.microsoft.com/office/powerpoint/2010/main" val="2068416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2026-10-14T19:19:03.0800000Z</dcterms:created>
  <dcterms:modified xsi:type="dcterms:W3CDTF">2026-10-14T19:19:03.0800000Z</dcterms:modified>
</coreProperties>
</file>