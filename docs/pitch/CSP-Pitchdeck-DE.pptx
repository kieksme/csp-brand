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846058732b462b" /><Relationship Type="http://schemas.openxmlformats.org/officeDocument/2006/relationships/extended-properties" Target="/docProps/app.xml" Id="R7dff6b4566cd4855" /><Relationship Type="http://schemas.openxmlformats.org/officeDocument/2006/relationships/officeDocument" Target="/ppt/presentation.xml" Id="R7a4a4805072148f0" /></Relationships>
</file>

<file path=ppt/presentation.xml><?xml version="1.0" encoding="utf-8"?>
<p:presentation xmlns:p="http://schemas.openxmlformats.org/presentationml/2006/main">
  <p:sldMasterIdLst>
    <p:sldMasterId xmlns:r="http://schemas.openxmlformats.org/officeDocument/2006/relationships" id="2147483648" r:id="R870b1b8be5af4f16"/>
  </p:sldMasterIdLst>
  <p:notesMasterIdLst>
    <p:notesMasterId xmlns:r="http://schemas.openxmlformats.org/officeDocument/2006/relationships" r:id="R4b4792cbd97b40e9"/>
  </p:notesMasterIdLst>
  <p:sldIdLst>
    <p:sldId xmlns:r="http://schemas.openxmlformats.org/officeDocument/2006/relationships" id="256" r:id="R593b33ab2900468f"/>
    <p:sldId xmlns:r="http://schemas.openxmlformats.org/officeDocument/2006/relationships" id="257" r:id="Rc618d202ef1d4a67"/>
    <p:sldId xmlns:r="http://schemas.openxmlformats.org/officeDocument/2006/relationships" id="258" r:id="R85ebeb6c04d242cc"/>
    <p:sldId xmlns:r="http://schemas.openxmlformats.org/officeDocument/2006/relationships" id="259" r:id="R2a57338c012640f7"/>
    <p:sldId xmlns:r="http://schemas.openxmlformats.org/officeDocument/2006/relationships" id="260" r:id="Rca8a4213ddf54352"/>
    <p:sldId xmlns:r="http://schemas.openxmlformats.org/officeDocument/2006/relationships" id="261" r:id="Rb8337e6b8bca4762"/>
    <p:sldId xmlns:r="http://schemas.openxmlformats.org/officeDocument/2006/relationships" id="262" r:id="R9f539631a49d41ab"/>
    <p:sldId xmlns:r="http://schemas.openxmlformats.org/officeDocument/2006/relationships" id="263" r:id="R4d2fe0b1e8884a20"/>
    <p:sldId xmlns:r="http://schemas.openxmlformats.org/officeDocument/2006/relationships" id="264" r:id="R4895b013967a46d3"/>
    <p:sldId xmlns:r="http://schemas.openxmlformats.org/officeDocument/2006/relationships" id="265" r:id="R49ed316cbb6c444a"/>
    <p:sldId xmlns:r="http://schemas.openxmlformats.org/officeDocument/2006/relationships" id="266" r:id="R0f37ca7469504f53"/>
    <p:sldId xmlns:r="http://schemas.openxmlformats.org/officeDocument/2006/relationships" id="267" r:id="R3001da0f5bd54cc5"/>
    <p:sldId xmlns:r="http://schemas.openxmlformats.org/officeDocument/2006/relationships" id="268" r:id="R853735cba48543e9"/>
    <p:sldId xmlns:r="http://schemas.openxmlformats.org/officeDocument/2006/relationships" id="269" r:id="Rb6e85545291b40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34bde8e6a14e25" /><Relationship Type="http://schemas.openxmlformats.org/officeDocument/2006/relationships/slideMaster" Target="/ppt/slideMasters/slideMaster1.xml" Id="R870b1b8be5af4f16" /><Relationship Type="http://schemas.openxmlformats.org/officeDocument/2006/relationships/notesMaster" Target="/ppt/notesMasters/notesMaster1.xml" Id="R4b4792cbd97b40e9" /><Relationship Type="http://schemas.openxmlformats.org/officeDocument/2006/relationships/presProps" Target="/ppt/presProps.xml" Id="R9549be694e86477e" /><Relationship Type="http://schemas.openxmlformats.org/officeDocument/2006/relationships/tableStyles" Target="/ppt/tableStyles.xml" Id="R018f48ca7f884e05" /><Relationship Type="http://schemas.openxmlformats.org/officeDocument/2006/relationships/slide" Target="/ppt/slides/slide1.xml" Id="R593b33ab2900468f" /><Relationship Type="http://schemas.openxmlformats.org/officeDocument/2006/relationships/slide" Target="/ppt/slides/slide2.xml" Id="Rc618d202ef1d4a67" /><Relationship Type="http://schemas.openxmlformats.org/officeDocument/2006/relationships/slide" Target="/ppt/slides/slide3.xml" Id="R85ebeb6c04d242cc" /><Relationship Type="http://schemas.openxmlformats.org/officeDocument/2006/relationships/slide" Target="/ppt/slides/slide4.xml" Id="R2a57338c012640f7" /><Relationship Type="http://schemas.openxmlformats.org/officeDocument/2006/relationships/slide" Target="/ppt/slides/slide5.xml" Id="Rca8a4213ddf54352" /><Relationship Type="http://schemas.openxmlformats.org/officeDocument/2006/relationships/slide" Target="/ppt/slides/slide6.xml" Id="Rb8337e6b8bca4762" /><Relationship Type="http://schemas.openxmlformats.org/officeDocument/2006/relationships/slide" Target="/ppt/slides/slide7.xml" Id="R9f539631a49d41ab" /><Relationship Type="http://schemas.openxmlformats.org/officeDocument/2006/relationships/slide" Target="/ppt/slides/slide8.xml" Id="R4d2fe0b1e8884a20" /><Relationship Type="http://schemas.openxmlformats.org/officeDocument/2006/relationships/slide" Target="/ppt/slides/slide9.xml" Id="R4895b013967a46d3" /><Relationship Type="http://schemas.openxmlformats.org/officeDocument/2006/relationships/slide" Target="/ppt/slides/slide10.xml" Id="R49ed316cbb6c444a" /><Relationship Type="http://schemas.openxmlformats.org/officeDocument/2006/relationships/slide" Target="/ppt/slides/slide11.xml" Id="R0f37ca7469504f53" /><Relationship Type="http://schemas.openxmlformats.org/officeDocument/2006/relationships/slide" Target="/ppt/slides/slide12.xml" Id="R3001da0f5bd54cc5" /><Relationship Type="http://schemas.openxmlformats.org/officeDocument/2006/relationships/slide" Target="/ppt/slides/slide13.xml" Id="R853735cba48543e9" /><Relationship Type="http://schemas.openxmlformats.org/officeDocument/2006/relationships/slide" Target="/ppt/slides/slide14.xml" Id="Rb6e85545291b40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9c79c3128246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9846138bc34b43" /><Relationship Type="http://schemas.openxmlformats.org/officeDocument/2006/relationships/notesMaster" Target="/ppt/notesMasters/notesMaster1.xml" Id="Rc8a4b0a6b3034f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318e3e5e1d4db1" /><Relationship Type="http://schemas.openxmlformats.org/officeDocument/2006/relationships/notesMaster" Target="/ppt/notesMasters/notesMaster1.xml" Id="R2b22e2c2b64c42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d84943a8974f92" /><Relationship Type="http://schemas.openxmlformats.org/officeDocument/2006/relationships/notesMaster" Target="/ppt/notesMasters/notesMaster1.xml" Id="Ref48f2d012bf46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4ee19cd3a241d3" /><Relationship Type="http://schemas.openxmlformats.org/officeDocument/2006/relationships/notesMaster" Target="/ppt/notesMasters/notesMaster1.xml" Id="Rc352737feb4b4c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614e137227413c" /><Relationship Type="http://schemas.openxmlformats.org/officeDocument/2006/relationships/notesMaster" Target="/ppt/notesMasters/notesMaster1.xml" Id="R892a7d2079514e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1e1e3ad62d4012" /><Relationship Type="http://schemas.openxmlformats.org/officeDocument/2006/relationships/notesMaster" Target="/ppt/notesMasters/notesMaster1.xml" Id="R2ae134a3d82046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ac03301d2e448a" /><Relationship Type="http://schemas.openxmlformats.org/officeDocument/2006/relationships/notesMaster" Target="/ppt/notesMasters/notesMaster1.xml" Id="Ree536d5433b241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a04d2a8d434e31" /><Relationship Type="http://schemas.openxmlformats.org/officeDocument/2006/relationships/notesMaster" Target="/ppt/notesMasters/notesMaster1.xml" Id="Rc1516a8fdd4b4e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76ce2cb8584717" /><Relationship Type="http://schemas.openxmlformats.org/officeDocument/2006/relationships/notesMaster" Target="/ppt/notesMasters/notesMaster1.xml" Id="Rb5b142f18d2342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01b7b83e6f43b1" /><Relationship Type="http://schemas.openxmlformats.org/officeDocument/2006/relationships/notesMaster" Target="/ppt/notesMasters/notesMaster1.xml" Id="Rc4aae3b690bf44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320d30250840e4" /><Relationship Type="http://schemas.openxmlformats.org/officeDocument/2006/relationships/notesMaster" Target="/ppt/notesMasters/notesMaster1.xml" Id="R2247961ef4344a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bf081775b148f0" /><Relationship Type="http://schemas.openxmlformats.org/officeDocument/2006/relationships/notesMaster" Target="/ppt/notesMasters/notesMaster1.xml" Id="Rc7f54fd752cd41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3740b50c4a48d1" /><Relationship Type="http://schemas.openxmlformats.org/officeDocument/2006/relationships/notesMaster" Target="/ppt/notesMasters/notesMaster1.xml" Id="R3b51e27ebb4343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d89e27efac44aa" /><Relationship Type="http://schemas.openxmlformats.org/officeDocument/2006/relationships/notesMaster" Target="/ppt/notesMasters/notesMaster1.xml" Id="R45b1c23d422e4a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Kernpitch, ca. 10 Minuten für Folien 1–12. Folie 13 dient der internen Diskussion, Folie 14 technischen Rückfragen. Einstieg: CSP bündelt Supportzugänge und Wissen in einem eigenen Portal. Das Projektangebot umfasst Einrichtung und Integration.</a:t>
            </a:r>
          </a:p>
          <a:p xmlns:a="http://schemas.openxmlformats.org/drawingml/2006/main">
            <a:r>
              <a:t/>
            </a:r>
          </a:p>
          <a:p xmlns:a="http://schemas.openxmlformats.org/drawingml/2006/main">
            <a:r>
              <a:t>Quelle: https://github.com/kieksme/csp-brand/blob/main/brand/README.md</a:t>
            </a:r>
          </a:p>
          <a:p xmlns:a="http://schemas.openxmlformats.org/drawingml/2006/main">
            <a:r>
              <a:t>Original-Logo: brand/assets/logo-light.svg, Nutzungsregeln BRAND-LICENSE.md. Arial dient als portabler Fallback für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Als typische Situation beschreiben, nicht als erhobenen Marktbeleg. Fragen Sie die Zuhörer, welche Frage in ihrem Support besonders oft vorkommt. CSP soll die passenden Informationen früher im Prozess sichtbar machen.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https://github.com/kieksme/csp/blob/main/docs/plugins.md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Ansicht stammt aus der synthetischen Acme-Demo. Keine Kundenreferenz und keine echten Kundendaten. Zeigen Sie Bereitschaft, Status und Assistenten im Screenshot. Ticketlinks führen in vorhandene Systeme. Das Portal stellt keine automatische Ticketanlage durch die KI in Aussicht.</a:t>
            </a:r>
          </a:p>
          <a:p xmlns:a="http://schemas.openxmlformats.org/drawingml/2006/main">
            <a:r>
              <a:t/>
            </a:r>
          </a:p>
          <a:p xmlns:a="http://schemas.openxmlformats.org/drawingml/2006/main">
            <a:r>
              <a:t>Quellen / Grundlage:</a:t>
            </a:r>
          </a:p>
          <a:p xmlns:a="http://schemas.openxmlformats.org/drawingml/2006/main">
            <a:r>
              <a:t>https://github.com/kieksme/csp/blob/main/docs/plugins.md</a:t>
            </a:r>
          </a:p>
          <a:p xmlns:a="http://schemas.openxmlformats.org/drawingml/2006/main">
            <a:r>
              <a:t>https://github.com/kieksme/csp-acme</a:t>
            </a:r>
          </a:p>
          <a:p xmlns:a="http://schemas.openxmlformats.org/drawingml/2006/main">
            <a:r>
              <a:t>https://github.com/kieksme/csp-brand/blob/main/THIRD-PARTY-NOTICES.md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80 Prozent stammen aus der vom Auftraggeber gesetzten Zielsetzung. Es gibt noch keine eigene Messung. Vorfiltern heißt zum Beispiel Kontext sammeln, Fragen einordnen und auf passende Inhalte hinweisen. Das ist weder eine Lösungsquote noch eine garantierte Kostensenkung. Der Pilot muss zeigen, was mit den tatsächlichen Anfragen und Wissensquellen erreichbar ist.</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https://github.com/kieksme/csp/blob/main/docs/chat.md</a:t>
            </a:r>
          </a:p>
          <a:p xmlns:a="http://schemas.openxmlformats.org/drawingml/2006/main">
            <a:r>
              <a:t>Zielwert vom Auftraggeber, ausdrücklich noch keine eigene Messung.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KI ist optional. Kunden können die Hotline nutzen oder mit einem eingerichteten Support-Plugin eine menschliche Übernahme anfordern, auch vor der ersten Nachricht an die KI. Das Supportteam übernimmt ausdrücklich, danach pausiert der Bot. Die tatsächliche Erreichbarkeit richtet sich nach den vereinbarten Servicezeiten. Kein Versprechen einer sofortigen Verbindung oder 24/7-Besetzung.</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https://github.com/kieksme/csp/blob/main/docs/chat.md</a:t>
            </a:r>
          </a:p>
          <a:p xmlns:a="http://schemas.openxmlformats.org/drawingml/2006/main">
            <a:r>
              <a:t>https://github.com/kieksme/csp/blob/main/docs/teams-support.md</a:t>
            </a:r>
          </a:p>
          <a:p xmlns:a="http://schemas.openxmlformats.org/drawingml/2006/main">
            <a:r>
              <a:t>https://github.com/kieksme/csp/blob/main/docs/slack-support.md</a:t>
            </a:r>
          </a:p>
          <a:p xmlns:a="http://schemas.openxmlformats.org/drawingml/2006/main">
            <a:r>
              <a:t>https://github.com/kieksme/csp/blob/main/docs/telegram-support.md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Katalog entspricht der geprüften Produktbaseline CSP 0.13.4. Teams, Slack und Telegram bauen auf dem Chat-Plugin auf. Integrationen brauchen die jeweiligen Zugänge und Konfiguration. Live-Verbindungen der Support-Provider sind pro Kundenprojekt zu verifizieren. SIGNL4 und Uptime Kuma liefern Informationen aus vorhandenen Quellen. Inhalte &amp; FAQ bieten Links und kopierbare Vorlagen für externe Ticketsysteme.</a:t>
            </a:r>
          </a:p>
          <a:p xmlns:a="http://schemas.openxmlformats.org/drawingml/2006/main">
            <a:r>
              <a:t/>
            </a:r>
          </a:p>
          <a:p xmlns:a="http://schemas.openxmlformats.org/drawingml/2006/main">
            <a:r>
              <a:t>Quellen / Grundlage:</a:t>
            </a:r>
          </a:p>
          <a:p xmlns:a="http://schemas.openxmlformats.org/drawingml/2006/main">
            <a:r>
              <a:t>https://github.com/kieksme/csp/blob/main/docs/plugins.md</a:t>
            </a:r>
          </a:p>
          <a:p xmlns:a="http://schemas.openxmlformats.org/drawingml/2006/main">
            <a:r>
              <a:t>https://github.com/kieksme/csp-brand/blob/main/src/data/plugins.ts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CSP-Code ist MIT lizenziert. Verkauft werden Einrichtung, Anpassung, Integration und Übergabe. Keine laufende CSP-Lizenzgebühr und kein verpflichtendes CSP-Abonnement. Betrieb, KI und externe Anbieter können eigene laufende Kosten verursachen. Markenassets haben gesonderte Nutzungsregeln. Keine unbelegten Aussagen über Wettbewerber oder eine kostenlose Gesamtbetriebsrechnung.</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https://github.com/kieksme/csp/blob/main/LICENSE</a:t>
            </a:r>
          </a:p>
          <a:p xmlns:a="http://schemas.openxmlformats.org/drawingml/2006/main">
            <a:r>
              <a:t>https://github.com/kieksme/csp-brand/blob/main/docs/handover.md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Darstellung beschreibt die Angebotslogik und ist kein verbindliches Angebot. Preis, Aufwand, Leistungen und Servicezeiten vereinbaren wir nach Klärung der Systeme und Anforderungen. Fremdkosten werden getrennt behandelt. Eine spätere Weiterentwicklung durch kieks.me ist ein gesonderter Auftrag und keine Pflicht. Keine Preise erfinden.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https://github.com/kieksme/csp-brand/blob/main/docs/handover.md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Paket enthält drei Kunden-Skills für Branding, Contentpflege und Plugin-Entwicklung. Sie führen die Kunden durch konkrete Arbeitsabläufe, ersetzen aber keine technische Verantwortung. Die UI-Bibliothek enthält React-Komponenten, CI-Tokens, Fonts und separat lizenzierte Brand-Assets. Sie wird als versionierter Tarball verteilt und ist nicht als npm-Veröffentlichung bestätigt. Die Brand-Seite nutzt dieselben Implementierungen. Installation und Interaktion wurden in einer temporären CSP-Instanz geprüft. Der Screenshot zeigt die öffentliche Komponenten-Demo, keinen Kundenbeleg.</a:t>
            </a:r>
          </a:p>
          <a:p xmlns:a="http://schemas.openxmlformats.org/drawingml/2006/main">
            <a:r>
              <a:t/>
            </a:r>
          </a:p>
          <a:p xmlns:a="http://schemas.openxmlformats.org/drawingml/2006/main">
            <a:r>
              <a:t>Quellen / Grundlage:</a:t>
            </a:r>
          </a:p>
          <a:p xmlns:a="http://schemas.openxmlformats.org/drawingml/2006/main">
            <a:r>
              <a:t>https://github.com/kieksme/csp-brand/blob/main/docs/handover.md</a:t>
            </a:r>
          </a:p>
          <a:p xmlns:a="http://schemas.openxmlformats.org/drawingml/2006/main">
            <a:r>
              <a:t>https://github.com/kieksme/csp-brand/tree/main/packages/ui</a:t>
            </a:r>
          </a:p>
          <a:p xmlns:a="http://schemas.openxmlformats.org/drawingml/2006/main">
            <a:r>
              <a:t>https://csp-brand-kieksme.netlify.app/docs/components/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 ist ein vorgeschlagenes Vorgehen, keine zugesagte Dauer. Mit einem begrenzten Anwendungsfall und klaren Quellen starten. Einen Supportkanal bewusst auswählen, direkte menschliche Erreichbarkeit im Pilot testen und Referenzanfragen dokumentieren. Nach dem Pilot gemeinsam über weitere Plugins und Betriebsumfang entscheiden.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https://github.com/kieksme/csp-brand/blob/main/docs/handover.md</a:t>
            </a:r>
          </a:p>
          <a:p xmlns:a="http://schemas.openxmlformats.org/drawingml/2006/main">
            <a:r>
              <a:t>Vorgeschlagenes Pilotvorgehen für das Projektangebot.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 dem Pilot eine Vergleichsbasis erfassen. Gleiche Anfragearten vor und während des Pilots betrachten und Zeitaufwand zur Pflege der Wissensbasis, KI-/Providerkosten sowie Supportzeiten einbeziehen. Vorfilterung ist von vollständig gelösten Anfragen zu trennen. Direktwahl zum Menschen darf keine versteckte Hürde erhalten. Die 80-Prozent-Marke bleibt ein Ziel, bis eigene Daten vorliegen. Keine ROI-Rechnung ohne Kundendaten.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Vorgeschlagene Messgrößen, noch keine gemessenen Projektergebnisse.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Kundenpitch hier abschließen. Den nächsten Termin an einer konkreten Anfrageart aufhängen: Was kommt häufig vor, welche Quellen sind vorhanden, welcher menschliche Supportkanal soll erreichbar sein? Ziel des Gesprächs ist ein begrenzter Pilotumfang, nicht sofort ein vollständiger Rollout. Bei Kollegen mit Folie 13 fortfahren. Quellen- und technischen Anhang nur bei Rückfragen nutzen.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https://csp-brand-kieksme.netlify.app/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 für den internen Pitch. Vorschlag: einen verantwortlichen Ansprechpartner und ein erstes Pilotprojekt benennen. Die gemeinsame Produktbasis und UI reduzieren doppelte Entwicklungsarbeit, der tatsächliche Wiederverwendungsgrad ist noch pro Projekt zu prüfen. Leistungen als Projekt anbieten und Aufwand für Betrieb, Tests sowie Wissenspflege ausdrücklich einplanen. Das ist ein Entscheidungsvorschlag, kein bereits beschlossenes Vertriebsmodell.</a:t>
            </a:r>
          </a:p>
          <a:p xmlns:a="http://schemas.openxmlformats.org/drawingml/2006/main">
            <a:r>
              <a:t/>
            </a:r>
          </a:p>
          <a:p xmlns:a="http://schemas.openxmlformats.org/drawingml/2006/main">
            <a:r>
              <a:t>Quellen / Grundlage:</a:t>
            </a:r>
          </a:p>
          <a:p xmlns:a="http://schemas.openxmlformats.org/drawingml/2006/main">
            <a:r>
              <a:t>https://github.com/kieksme/csp-brand/tree/main/packages/ui</a:t>
            </a:r>
          </a:p>
          <a:p xmlns:a="http://schemas.openxmlformats.org/drawingml/2006/main">
            <a:r>
              <a:t>https://github.com/kieksme/csp-brand/blob/main/docs/handover.md</a:t>
            </a:r>
          </a:p>
          <a:p xmlns:a="http://schemas.openxmlformats.org/drawingml/2006/main">
            <a:r>
              <a:t>https://github.com/kieksme/csp-brand/blob/main/brand/README.md</a:t>
            </a:r>
          </a:p>
          <a:p xmlns:a="http://schemas.openxmlformats.org/drawingml/2006/main">
            <a:r>
              <a:t>Interner Entscheidungsvorschlag.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CSP 0.13.4, geprüfter Katalog vom 13.10.2026. React/PWA und Fastify mit Plugin-SDK. OpenAI, Azure OpenAI und Ollama sind konfigurierbare Modellanbieter. KI-Antworten können fehlerhaft sein. KI-Chat führt keine eigenständige Ticket- oder Alert-Aktion aus. Teams, Slack und Telegram brauchen Chat-Plugin und Persistenz sowie providerbezogene Apps/Zugänge. Authentifizierung und anonyme Sitzungen hängen von der konkreten Integration ab. Provider-Live-Verbindungen und Datenschutz-/Betriebskonzept müssen vor Kundenstart geprüft werden. Auf dieser Folie keine zugesicherte Zertifizierung oder allgemeine DSGVO-Konformität behaupten.</a:t>
            </a:r>
          </a:p>
          <a:p xmlns:a="http://schemas.openxmlformats.org/drawingml/2006/main">
            <a:r>
              <a:t/>
            </a:r>
          </a:p>
          <a:p xmlns:a="http://schemas.openxmlformats.org/drawingml/2006/main">
            <a:r>
              <a:t>Quellen / Grundlage:</a:t>
            </a:r>
          </a:p>
          <a:p xmlns:a="http://schemas.openxmlformats.org/drawingml/2006/main">
            <a:r>
              <a:t>https://github.com/kieksme/csp</a:t>
            </a:r>
          </a:p>
          <a:p xmlns:a="http://schemas.openxmlformats.org/drawingml/2006/main">
            <a:r>
              <a:t>https://github.com/kieksme/csp/blob/main/docs/plugins.md</a:t>
            </a:r>
          </a:p>
          <a:p xmlns:a="http://schemas.openxmlformats.org/drawingml/2006/main">
            <a:r>
              <a:t>https://github.com/kieksme/csp/blob/main/docs/chat.md</a:t>
            </a:r>
          </a:p>
          <a:p xmlns:a="http://schemas.openxmlformats.org/drawingml/2006/main">
            <a:r>
              <a:t>https://github.com/kieksme/csp/blob/main/docs/teams-support.md</a:t>
            </a:r>
          </a:p>
          <a:p xmlns:a="http://schemas.openxmlformats.org/drawingml/2006/main">
            <a:r>
              <a:t>https://github.com/kieksme/csp/blob/main/docs/slack-support.md</a:t>
            </a:r>
          </a:p>
          <a:p xmlns:a="http://schemas.openxmlformats.org/drawingml/2006/main">
            <a:r>
              <a:t>https://github.com/kieksme/csp/blob/main/docs/telegram-support.md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d2b073c4924d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1ab24a2d6643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2f2ae3092140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169a46cf4840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013576ccd24c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7b3d1896be45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A08392-F31E-48D3-9D5C-BCB6BA8F35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CF0018-5B48-4BF3-B20D-665AA95435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D527FF-AC4F-4EF2-9F8C-0F64CE5A11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6F660C-65BF-4D04-979B-5BCFFE79EE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23BD87-4D06-42B9-B8DF-D0FE85CAF8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2EA143-9072-4043-B8EE-5B58FE092E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4B0F92-7EF2-41C5-A332-164ED71479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462294-AEE9-43FE-872D-01933C998F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9042F6-EA1B-4D91-ADFB-AEFA777C86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5FFAC4-EF71-4696-A682-BE401A5029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c239bd87b24c2b" /><Relationship Type="http://schemas.openxmlformats.org/officeDocument/2006/relationships/slideLayout" Target="/ppt/slideLayouts/slideLayout1.xml" Id="Rd371aabbbb424ce5" /><Relationship Type="http://schemas.openxmlformats.org/officeDocument/2006/relationships/slideLayout" Target="/ppt/slideLayouts/slideLayout2.xml" Id="Rb3e9806348fb4fd7" /><Relationship Type="http://schemas.openxmlformats.org/officeDocument/2006/relationships/slideLayout" Target="/ppt/slideLayouts/slideLayout3.xml" Id="R7c3d592f0b5e4a97" /><Relationship Type="http://schemas.openxmlformats.org/officeDocument/2006/relationships/slideLayout" Target="/ppt/slideLayouts/slideLayout4.xml" Id="R4cf63c0b28ac4d4e" /><Relationship Type="http://schemas.openxmlformats.org/officeDocument/2006/relationships/slideLayout" Target="/ppt/slideLayouts/slideLayout5.xml" Id="R7ce08b60013c4646" /><Relationship Type="http://schemas.openxmlformats.org/officeDocument/2006/relationships/slideLayout" Target="/ppt/slideLayouts/slideLayout6.xml" Id="R6ca8d81edd914b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71aabbbb424ce5"/>
    <p:sldLayoutId xmlns:r="http://schemas.openxmlformats.org/officeDocument/2006/relationships" id="2147483650" r:id="Rb3e9806348fb4fd7"/>
    <p:sldLayoutId xmlns:r="http://schemas.openxmlformats.org/officeDocument/2006/relationships" id="2147483651" r:id="R7c3d592f0b5e4a97"/>
    <p:sldLayoutId xmlns:r="http://schemas.openxmlformats.org/officeDocument/2006/relationships" id="2147483652" r:id="R4cf63c0b28ac4d4e"/>
    <p:sldLayoutId xmlns:r="http://schemas.openxmlformats.org/officeDocument/2006/relationships" id="2147483653" r:id="R7ce08b60013c4646"/>
    <p:sldLayoutId xmlns:r="http://schemas.openxmlformats.org/officeDocument/2006/relationships" id="2147483654" r:id="R6ca8d81edd914b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ad368e7fb04672" /><Relationship Type="http://schemas.openxmlformats.org/officeDocument/2006/relationships/image" Target="/ppt/media/image.png" Id="R77ce1a6d4d4e4c40" /><Relationship Type="http://schemas.openxmlformats.org/officeDocument/2006/relationships/notesSlide" Target="/ppt/notesSlides/notesSlide1.xml" Id="Rde81068530f241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eabf95296144d2" /><Relationship Type="http://schemas.openxmlformats.org/officeDocument/2006/relationships/notesSlide" Target="/ppt/notesSlides/notesSlide2.xml" Id="R42017c8c30c746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d80658bba24eb8" /><Relationship Type="http://schemas.openxmlformats.org/officeDocument/2006/relationships/image" Target="/ppt/media/image2.png" Id="R06adccf7aa5e40d9" /><Relationship Type="http://schemas.openxmlformats.org/officeDocument/2006/relationships/notesSlide" Target="/ppt/notesSlides/notesSlide3.xml" Id="R0df479d8351540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15dccf2d8044b1" /><Relationship Type="http://schemas.openxmlformats.org/officeDocument/2006/relationships/notesSlide" Target="/ppt/notesSlides/notesSlide4.xml" Id="Ra6ede00ae3af42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a75b4e9f2a4175" /><Relationship Type="http://schemas.openxmlformats.org/officeDocument/2006/relationships/notesSlide" Target="/ppt/notesSlides/notesSlide5.xml" Id="R6675d911695941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bae3d52d1241cd" /><Relationship Type="http://schemas.openxmlformats.org/officeDocument/2006/relationships/notesSlide" Target="/ppt/notesSlides/notesSlide6.xml" Id="R3f5666f2ea8f40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7c4c5d1c914082" /><Relationship Type="http://schemas.openxmlformats.org/officeDocument/2006/relationships/notesSlide" Target="/ppt/notesSlides/notesSlide7.xml" Id="R4784bbf2231147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5f99c016804d66" /><Relationship Type="http://schemas.openxmlformats.org/officeDocument/2006/relationships/notesSlide" Target="/ppt/notesSlides/notesSlide8.xml" Id="R17a97832ac5343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63b4cb21584e92" /><Relationship Type="http://schemas.openxmlformats.org/officeDocument/2006/relationships/image" Target="/ppt/media/image3.png" Id="R3c64f46453b54743" /><Relationship Type="http://schemas.openxmlformats.org/officeDocument/2006/relationships/notesSlide" Target="/ppt/notesSlides/notesSlide9.xml" Id="R02c5077383b045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e175ba110247de" /><Relationship Type="http://schemas.openxmlformats.org/officeDocument/2006/relationships/notesSlide" Target="/ppt/notesSlides/notesSlide10.xml" Id="Reeda75c2263e46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21d7e27f4b4a86" /><Relationship Type="http://schemas.openxmlformats.org/officeDocument/2006/relationships/notesSlide" Target="/ppt/notesSlides/notesSlide11.xml" Id="R08f99d68203846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a2d7602faf64bbb" /><Relationship Type="http://schemas.openxmlformats.org/officeDocument/2006/relationships/hyperlink" Target="mailto:kontakt@kieks.me" TargetMode="External" Id="Ra61fb4dc3578477a" /><Relationship Type="http://schemas.openxmlformats.org/officeDocument/2006/relationships/hyperlink" Target="https://csp-brand-kieksme.netlify.app/" TargetMode="External" Id="Rdb60a3e2ef7d4467" /><Relationship Type="http://schemas.openxmlformats.org/officeDocument/2006/relationships/notesSlide" Target="/ppt/notesSlides/notesSlide12.xml" Id="R7151888d6adc45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8783412f6584528" /><Relationship Type="http://schemas.openxmlformats.org/officeDocument/2006/relationships/notesSlide" Target="/ppt/notesSlides/notesSlide13.xml" Id="Ra5e1f604adf544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bccbbe933394838" /><Relationship Type="http://schemas.openxmlformats.org/officeDocument/2006/relationships/notesSlide" Target="/ppt/notesSlides/notesSlide14.xml" Id="R4629b673d0ba49d0" /></Relationships>
</file>

<file path=ppt/slides/slide1.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77A8DE2-1866-4AC0-98EB-B8D47871C67F}"/>
              </a:ext>
            </a:extLst>
          </p:cNvPr>
          <p:cNvPicPr>
            <a:picLocks xmlns:a="http://schemas.openxmlformats.org/drawingml/2006/main" noChangeAspect="1"/>
          </p:cNvPicPr>
          <p:nvPr/>
        </p:nvPicPr>
        <p:blipFill>
          <a:blip xmlns:r="http://schemas.openxmlformats.org/officeDocument/2006/relationships" xmlns:a="http://schemas.openxmlformats.org/drawingml/2006/main" r:embed="R77ce1a6d4d4e4c40"/>
          <a:stretch xmlns:a="http://schemas.openxmlformats.org/drawingml/2006/main"/>
        </p:blipFill>
        <p:spPr>
          <a:xfrm xmlns:a="http://schemas.openxmlformats.org/drawingml/2006/main">
            <a:off x="685800" y="546222"/>
            <a:ext cx="2667000" cy="774456"/>
          </a:xfrm>
          <a:prstGeom xmlns:a="http://schemas.openxmlformats.org/drawingml/2006/main" prst="rect">
            <a:avLst/>
          </a:prstGeom>
        </p:spPr>
      </p:pic>
      <p:sp>
        <p:nvSpPr>
          <p:cNvPr id="2" name="body">
            <a:extLst xmlns:a="http://schemas.openxmlformats.org/drawingml/2006/main">
              <a:ext uri="{FF2B5EF4-FFF2-40B4-BE49-F238E27FC236}">
                <a16:creationId xmlns:a16="http://schemas.microsoft.com/office/drawing/2014/main" id="{7BC0D018-1D2F-4AB0-8B6D-D6234CDCE59B}"/>
              </a:ext>
            </a:extLst>
          </p:cNvPr>
          <p:cNvSpPr>
            <a:spLocks xmlns:a="http://schemas.openxmlformats.org/drawingml/2006/main" noGrp="1"/>
          </p:cNvSpPr>
          <p:nvPr/>
        </p:nvSpPr>
        <p:spPr>
          <a:xfrm xmlns:a="http://schemas.openxmlformats.org/drawingml/2006/main">
            <a:off x="685800" y="193357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5F36B"/>
                </a:solidFill>
                <a:latin typeface="Arial"/>
                <a:ea typeface="Arial"/>
                <a:cs typeface="Arial"/>
              </a:defRPr>
            </a:defPPr>
          </a:lstStyle>
          <a:p xmlns:a="http://schemas.openxmlformats.org/drawingml/2006/main">
            <a:pPr>
              <a:defRPr sz="1875" b="1">
                <a:solidFill>
                  <a:srgbClr val="D5F36B"/>
                </a:solidFill>
                <a:latin typeface="Arial"/>
                <a:ea typeface="Arial"/>
                <a:cs typeface="Arial"/>
              </a:defRPr>
            </a:pPr>
            <a:r>
              <a:rPr sz="1875" b="1">
                <a:solidFill>
                  <a:srgbClr val="D5F36B"/>
                </a:solidFill>
                <a:latin typeface="Arial"/>
                <a:ea typeface="Arial"/>
                <a:cs typeface="Arial"/>
              </a:rPr>
              <a:t>Customer Service Portal</a:t>
            </a:r>
          </a:p>
        </p:txBody>
      </p:sp>
      <p:sp>
        <p:nvSpPr>
          <p:cNvPr id="3" name="deck-title">
            <a:extLst xmlns:a="http://schemas.openxmlformats.org/drawingml/2006/main">
              <a:ext uri="{FF2B5EF4-FFF2-40B4-BE49-F238E27FC236}">
                <a16:creationId xmlns:a16="http://schemas.microsoft.com/office/drawing/2014/main" id="{FDC0250C-3526-4E1A-A43E-C8B3ABDA3479}"/>
              </a:ext>
            </a:extLst>
          </p:cNvPr>
          <p:cNvSpPr>
            <a:spLocks xmlns:a="http://schemas.openxmlformats.org/drawingml/2006/main" noGrp="1"/>
          </p:cNvSpPr>
          <p:nvPr/>
        </p:nvSpPr>
        <p:spPr>
          <a:xfrm xmlns:a="http://schemas.openxmlformats.org/drawingml/2006/main">
            <a:off x="685800" y="265747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7FAF9"/>
                </a:solidFill>
                <a:latin typeface="Arial"/>
                <a:ea typeface="Arial"/>
                <a:cs typeface="Arial"/>
              </a:defRPr>
            </a:defPPr>
          </a:lstStyle>
          <a:p xmlns:a="http://schemas.openxmlformats.org/drawingml/2006/main">
            <a:pPr>
              <a:defRPr sz="5850" b="1">
                <a:solidFill>
                  <a:srgbClr val="F7FAF9"/>
                </a:solidFill>
                <a:latin typeface="Arial"/>
                <a:ea typeface="Arial"/>
                <a:cs typeface="Arial"/>
              </a:defRPr>
            </a:pPr>
            <a:r>
              <a:rPr sz="5850" b="1">
                <a:solidFill>
                  <a:srgbClr val="F7FAF9"/>
                </a:solidFill>
                <a:latin typeface="Arial"/>
                <a:ea typeface="Arial"/>
                <a:cs typeface="Arial"/>
              </a:rPr>
              <a:t>Kundenservice</a:t>
            </a:r>
          </a:p>
          <a:p xmlns:a="http://schemas.openxmlformats.org/drawingml/2006/main">
            <a:pPr>
              <a:defRPr sz="5850" b="1">
                <a:solidFill>
                  <a:srgbClr val="F7FAF9"/>
                </a:solidFill>
                <a:latin typeface="Arial"/>
                <a:ea typeface="Arial"/>
                <a:cs typeface="Arial"/>
              </a:defRPr>
            </a:pPr>
            <a:r>
              <a:rPr sz="5850" b="1">
                <a:solidFill>
                  <a:srgbClr val="F7FAF9"/>
                </a:solidFill>
                <a:latin typeface="Arial"/>
                <a:ea typeface="Arial"/>
                <a:cs typeface="Arial"/>
              </a:rPr>
              <a:t>mit freier Wahl</a:t>
            </a:r>
          </a:p>
        </p:txBody>
      </p:sp>
      <p:sp>
        <p:nvSpPr>
          <p:cNvPr id="4" name="body">
            <a:extLst xmlns:a="http://schemas.openxmlformats.org/drawingml/2006/main">
              <a:ext uri="{FF2B5EF4-FFF2-40B4-BE49-F238E27FC236}">
                <a16:creationId xmlns:a16="http://schemas.microsoft.com/office/drawing/2014/main" id="{9A7498B2-140F-413A-8D28-286F638A3593}"/>
              </a:ext>
            </a:extLst>
          </p:cNvPr>
          <p:cNvSpPr>
            <a:spLocks xmlns:a="http://schemas.openxmlformats.org/drawingml/2006/main" noGrp="1"/>
          </p:cNvSpPr>
          <p:nvPr/>
        </p:nvSpPr>
        <p:spPr>
          <a:xfrm xmlns:a="http://schemas.openxmlformats.org/drawingml/2006/main">
            <a:off x="723900" y="5019675"/>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7FAF9"/>
                </a:solidFill>
                <a:latin typeface="Arial"/>
                <a:ea typeface="Arial"/>
                <a:cs typeface="Arial"/>
              </a:defRPr>
            </a:defPPr>
          </a:lstStyle>
          <a:p xmlns:a="http://schemas.openxmlformats.org/drawingml/2006/main">
            <a:pPr>
              <a:defRPr sz="2400" b="0">
                <a:solidFill>
                  <a:srgbClr val="F7FAF9"/>
                </a:solidFill>
                <a:latin typeface="Arial"/>
                <a:ea typeface="Arial"/>
                <a:cs typeface="Arial"/>
              </a:defRPr>
            </a:pPr>
            <a:r>
              <a:rPr sz="2400" b="0">
                <a:solidFill>
                  <a:srgbClr val="F7FAF9"/>
                </a:solidFill>
                <a:latin typeface="Arial"/>
                <a:ea typeface="Arial"/>
                <a:cs typeface="Arial"/>
              </a:rPr>
              <a:t>Open Source. Individuell eingerichtet.</a:t>
            </a:r>
          </a:p>
          <a:p xmlns:a="http://schemas.openxmlformats.org/drawingml/2006/main">
            <a:pPr>
              <a:defRPr sz="2400" b="0">
                <a:solidFill>
                  <a:srgbClr val="F7FAF9"/>
                </a:solidFill>
                <a:latin typeface="Arial"/>
                <a:ea typeface="Arial"/>
                <a:cs typeface="Arial"/>
              </a:defRPr>
            </a:pPr>
            <a:r>
              <a:rPr sz="2400" b="0">
                <a:solidFill>
                  <a:srgbClr val="F7FAF9"/>
                </a:solidFill>
                <a:latin typeface="Arial"/>
                <a:ea typeface="Arial"/>
                <a:cs typeface="Arial"/>
              </a:rPr>
              <a:t>Mit Ihrem Team weiterentwickelt.</a:t>
            </a:r>
          </a:p>
        </p:txBody>
      </p:sp>
    </p:spTree>
    <p:extLst>
      <p:ext uri="{BB962C8B-B14F-4D97-AF65-F5344CB8AC3E}">
        <p14:creationId xmlns:p14="http://schemas.microsoft.com/office/powerpoint/2010/main" val="410014145"/>
      </p:ext>
    </p:extLst>
  </p:cSld>
</p:sld>
</file>

<file path=ppt/slides/slide2.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A60D2533-8237-430E-92E3-F40C8347014D}"/>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AUSGANGSLAGE</a:t>
            </a:r>
          </a:p>
        </p:txBody>
      </p:sp>
      <p:sp>
        <p:nvSpPr>
          <p:cNvPr id="2" name="slide-title">
            <a:extLst xmlns:a="http://schemas.openxmlformats.org/drawingml/2006/main">
              <a:ext uri="{FF2B5EF4-FFF2-40B4-BE49-F238E27FC236}">
                <a16:creationId xmlns:a16="http://schemas.microsoft.com/office/drawing/2014/main" id="{8B1A2D95-270A-48E5-A7EA-7EADF047C4C8}"/>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Der Support beginnt oft mit Rückfragen</a:t>
            </a:r>
          </a:p>
        </p:txBody>
      </p:sp>
      <p:sp>
        <p:nvSpPr>
          <p:cNvPr id="3" name="footer">
            <a:extLst xmlns:a="http://schemas.openxmlformats.org/drawingml/2006/main">
              <a:ext uri="{FF2B5EF4-FFF2-40B4-BE49-F238E27FC236}">
                <a16:creationId xmlns:a16="http://schemas.microsoft.com/office/drawing/2014/main" id="{65A96F84-7782-4982-87C2-B2A4341A4DD1}"/>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88AD0977-FC32-4FD5-93A7-60A6B8157B4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02</a:t>
            </a:r>
          </a:p>
        </p:txBody>
      </p:sp>
      <p:sp>
        <p:nvSpPr>
          <p:cNvPr id="5" name="body">
            <a:extLst xmlns:a="http://schemas.openxmlformats.org/drawingml/2006/main">
              <a:ext uri="{FF2B5EF4-FFF2-40B4-BE49-F238E27FC236}">
                <a16:creationId xmlns:a16="http://schemas.microsoft.com/office/drawing/2014/main" id="{272E1949-4047-450C-96D7-EC35761C00E3}"/>
              </a:ext>
            </a:extLst>
          </p:cNvPr>
          <p:cNvSpPr>
            <a:spLocks xmlns:a="http://schemas.openxmlformats.org/drawingml/2006/main" noGrp="1"/>
          </p:cNvSpPr>
          <p:nvPr/>
        </p:nvSpPr>
        <p:spPr>
          <a:xfrm xmlns:a="http://schemas.openxmlformats.org/drawingml/2006/main">
            <a:off x="685800" y="219075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6B64"/>
                </a:solidFill>
                <a:latin typeface="Arial"/>
                <a:ea typeface="Arial"/>
                <a:cs typeface="Arial"/>
              </a:defRPr>
            </a:defPPr>
          </a:lstStyle>
          <a:p xmlns:a="http://schemas.openxmlformats.org/drawingml/2006/main">
            <a:pPr>
              <a:defRPr sz="2850" b="1">
                <a:solidFill>
                  <a:srgbClr val="006B64"/>
                </a:solidFill>
                <a:latin typeface="Arial"/>
                <a:ea typeface="Arial"/>
                <a:cs typeface="Arial"/>
              </a:defRPr>
            </a:pPr>
            <a:r>
              <a:rPr sz="2850" b="1">
                <a:solidFill>
                  <a:srgbClr val="006B64"/>
                </a:solidFill>
                <a:latin typeface="Arial"/>
                <a:ea typeface="Arial"/>
                <a:cs typeface="Arial"/>
              </a:rPr>
              <a:t>„Ist mein System gestört?“</a:t>
            </a:r>
          </a:p>
        </p:txBody>
      </p:sp>
      <p:sp>
        <p:nvSpPr>
          <p:cNvPr id="6" name="body">
            <a:extLst xmlns:a="http://schemas.openxmlformats.org/drawingml/2006/main">
              <a:ext uri="{FF2B5EF4-FFF2-40B4-BE49-F238E27FC236}">
                <a16:creationId xmlns:a16="http://schemas.microsoft.com/office/drawing/2014/main" id="{303AD5B4-247D-4D00-B6B7-B713D9155D74}"/>
              </a:ext>
            </a:extLst>
          </p:cNvPr>
          <p:cNvSpPr>
            <a:spLocks xmlns:a="http://schemas.openxmlformats.org/drawingml/2006/main" noGrp="1"/>
          </p:cNvSpPr>
          <p:nvPr/>
        </p:nvSpPr>
        <p:spPr>
          <a:xfrm xmlns:a="http://schemas.openxmlformats.org/drawingml/2006/main">
            <a:off x="685800" y="2943225"/>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6B64"/>
                </a:solidFill>
                <a:latin typeface="Arial"/>
                <a:ea typeface="Arial"/>
                <a:cs typeface="Arial"/>
              </a:defRPr>
            </a:defPPr>
          </a:lstStyle>
          <a:p xmlns:a="http://schemas.openxmlformats.org/drawingml/2006/main">
            <a:pPr>
              <a:defRPr sz="2850" b="1">
                <a:solidFill>
                  <a:srgbClr val="006B64"/>
                </a:solidFill>
                <a:latin typeface="Arial"/>
                <a:ea typeface="Arial"/>
                <a:cs typeface="Arial"/>
              </a:defRPr>
            </a:pPr>
            <a:r>
              <a:rPr sz="2850" b="1">
                <a:solidFill>
                  <a:srgbClr val="006B64"/>
                </a:solidFill>
                <a:latin typeface="Arial"/>
                <a:ea typeface="Arial"/>
                <a:cs typeface="Arial"/>
              </a:rPr>
              <a:t>„Wer ist gerade zuständig?“</a:t>
            </a:r>
          </a:p>
        </p:txBody>
      </p:sp>
      <p:sp>
        <p:nvSpPr>
          <p:cNvPr id="7" name="body">
            <a:extLst xmlns:a="http://schemas.openxmlformats.org/drawingml/2006/main">
              <a:ext uri="{FF2B5EF4-FFF2-40B4-BE49-F238E27FC236}">
                <a16:creationId xmlns:a16="http://schemas.microsoft.com/office/drawing/2014/main" id="{93D5B134-D943-427E-B504-AF85DAD97A3D}"/>
              </a:ext>
            </a:extLst>
          </p:cNvPr>
          <p:cNvSpPr>
            <a:spLocks xmlns:a="http://schemas.openxmlformats.org/drawingml/2006/main" noGrp="1"/>
          </p:cNvSpPr>
          <p:nvPr/>
        </p:nvSpPr>
        <p:spPr>
          <a:xfrm xmlns:a="http://schemas.openxmlformats.org/drawingml/2006/main">
            <a:off x="685800" y="3695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6B64"/>
                </a:solidFill>
                <a:latin typeface="Arial"/>
                <a:ea typeface="Arial"/>
                <a:cs typeface="Arial"/>
              </a:defRPr>
            </a:defPPr>
          </a:lstStyle>
          <a:p xmlns:a="http://schemas.openxmlformats.org/drawingml/2006/main">
            <a:pPr>
              <a:defRPr sz="2850" b="1">
                <a:solidFill>
                  <a:srgbClr val="006B64"/>
                </a:solidFill>
                <a:latin typeface="Arial"/>
                <a:ea typeface="Arial"/>
                <a:cs typeface="Arial"/>
              </a:defRPr>
            </a:pPr>
            <a:r>
              <a:rPr sz="2850" b="1">
                <a:solidFill>
                  <a:srgbClr val="006B64"/>
                </a:solidFill>
                <a:latin typeface="Arial"/>
                <a:ea typeface="Arial"/>
                <a:cs typeface="Arial"/>
              </a:rPr>
              <a:t>„Wo finde ich die richtige Anleitung?“</a:t>
            </a:r>
          </a:p>
        </p:txBody>
      </p:sp>
      <p:sp>
        <p:nvSpPr>
          <p:cNvPr id="8" name="body">
            <a:extLst xmlns:a="http://schemas.openxmlformats.org/drawingml/2006/main">
              <a:ext uri="{FF2B5EF4-FFF2-40B4-BE49-F238E27FC236}">
                <a16:creationId xmlns:a16="http://schemas.microsoft.com/office/drawing/2014/main" id="{B81AAE40-02FD-4357-BAE7-1C22B8FBB390}"/>
              </a:ext>
            </a:extLst>
          </p:cNvPr>
          <p:cNvSpPr>
            <a:spLocks xmlns:a="http://schemas.openxmlformats.org/drawingml/2006/main" noGrp="1"/>
          </p:cNvSpPr>
          <p:nvPr/>
        </p:nvSpPr>
        <p:spPr>
          <a:xfrm xmlns:a="http://schemas.openxmlformats.org/drawingml/2006/main">
            <a:off x="685800" y="48958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A2A"/>
                </a:solidFill>
                <a:latin typeface="Arial"/>
                <a:ea typeface="Arial"/>
                <a:cs typeface="Arial"/>
              </a:defRPr>
            </a:defPPr>
          </a:lstStyle>
          <a:p xmlns:a="http://schemas.openxmlformats.org/drawingml/2006/main">
            <a:pPr>
              <a:defRPr sz="2100" b="0">
                <a:solidFill>
                  <a:srgbClr val="102A2A"/>
                </a:solidFill>
                <a:latin typeface="Arial"/>
                <a:ea typeface="Arial"/>
                <a:cs typeface="Arial"/>
              </a:defRPr>
            </a:pPr>
            <a:r>
              <a:rPr sz="2100" b="0">
                <a:solidFill>
                  <a:srgbClr val="102A2A"/>
                </a:solidFill>
                <a:latin typeface="Arial"/>
                <a:ea typeface="Arial"/>
                <a:cs typeface="Arial"/>
              </a:rPr>
              <a:t>Informationen aus verschiedenen Quellen machen den Einstieg</a:t>
            </a:r>
          </a:p>
          <a:p xmlns:a="http://schemas.openxmlformats.org/drawingml/2006/main">
            <a:pPr>
              <a:defRPr sz="2100" b="0">
                <a:solidFill>
                  <a:srgbClr val="102A2A"/>
                </a:solidFill>
                <a:latin typeface="Arial"/>
                <a:ea typeface="Arial"/>
                <a:cs typeface="Arial"/>
              </a:defRPr>
            </a:pPr>
            <a:r>
              <a:rPr sz="2100" b="0">
                <a:solidFill>
                  <a:srgbClr val="102A2A"/>
                </a:solidFill>
                <a:latin typeface="Arial"/>
                <a:ea typeface="Arial"/>
                <a:cs typeface="Arial"/>
              </a:rPr>
              <a:t>unnötig aufwendig. Ein gemeinsames Portal schafft Orientierung.</a:t>
            </a:r>
          </a:p>
        </p:txBody>
      </p:sp>
    </p:spTree>
    <p:extLst>
      <p:ext uri="{BB962C8B-B14F-4D97-AF65-F5344CB8AC3E}">
        <p14:creationId xmlns:p14="http://schemas.microsoft.com/office/powerpoint/2010/main" val="1931143498"/>
      </p:ext>
    </p:extLst>
  </p:cSld>
</p:sld>
</file>

<file path=ppt/slides/slide3.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C6F918D0-E972-4625-8177-0187969E46A3}"/>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DAS PRODUKT</a:t>
            </a:r>
          </a:p>
        </p:txBody>
      </p:sp>
      <p:sp>
        <p:nvSpPr>
          <p:cNvPr id="2" name="slide-title">
            <a:extLst xmlns:a="http://schemas.openxmlformats.org/drawingml/2006/main">
              <a:ext uri="{FF2B5EF4-FFF2-40B4-BE49-F238E27FC236}">
                <a16:creationId xmlns:a16="http://schemas.microsoft.com/office/drawing/2014/main" id="{72BAA53F-2852-49F4-BF42-C5EA9549AC2D}"/>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Ein Einstieg für Support und Systemstatus</a:t>
            </a:r>
          </a:p>
        </p:txBody>
      </p:sp>
      <p:sp>
        <p:nvSpPr>
          <p:cNvPr id="3" name="footer">
            <a:extLst xmlns:a="http://schemas.openxmlformats.org/drawingml/2006/main">
              <a:ext uri="{FF2B5EF4-FFF2-40B4-BE49-F238E27FC236}">
                <a16:creationId xmlns:a16="http://schemas.microsoft.com/office/drawing/2014/main" id="{4AD7C092-0373-479F-932F-CAFBB2831BE2}"/>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50A169DA-F848-4A02-AE64-32E22903EE91}"/>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03</a:t>
            </a:r>
          </a:p>
        </p:txBody>
      </p:sp>
      <p:sp>
        <p:nvSpPr>
          <p:cNvPr id="5" name="body">
            <a:extLst xmlns:a="http://schemas.openxmlformats.org/drawingml/2006/main">
              <a:ext uri="{FF2B5EF4-FFF2-40B4-BE49-F238E27FC236}">
                <a16:creationId xmlns:a16="http://schemas.microsoft.com/office/drawing/2014/main" id="{FB133132-3D57-42EC-9270-F871C9D48AF7}"/>
              </a:ext>
            </a:extLst>
          </p:cNvPr>
          <p:cNvSpPr>
            <a:spLocks xmlns:a="http://schemas.openxmlformats.org/drawingml/2006/main" noGrp="1"/>
          </p:cNvSpPr>
          <p:nvPr/>
        </p:nvSpPr>
        <p:spPr>
          <a:xfrm xmlns:a="http://schemas.openxmlformats.org/drawingml/2006/main">
            <a:off x="685800" y="2286000"/>
            <a:ext cx="376237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02A2A"/>
                </a:solidFill>
                <a:latin typeface="Arial"/>
                <a:ea typeface="Arial"/>
                <a:cs typeface="Arial"/>
              </a:defRPr>
            </a:defPPr>
          </a:lstStyle>
          <a:p xmlns:a="http://schemas.openxmlformats.org/drawingml/2006/main">
            <a:pPr>
              <a:defRPr sz="2325" b="1">
                <a:solidFill>
                  <a:srgbClr val="102A2A"/>
                </a:solidFill>
                <a:latin typeface="Arial"/>
                <a:ea typeface="Arial"/>
                <a:cs typeface="Arial"/>
              </a:defRPr>
            </a:pPr>
            <a:r>
              <a:rPr sz="2325" b="1">
                <a:solidFill>
                  <a:srgbClr val="102A2A"/>
                </a:solidFill>
                <a:latin typeface="Arial"/>
                <a:ea typeface="Arial"/>
                <a:cs typeface="Arial"/>
              </a:rPr>
              <a:t>Kunden finden Kontakte,</a:t>
            </a:r>
          </a:p>
          <a:p xmlns:a="http://schemas.openxmlformats.org/drawingml/2006/main">
            <a:pPr>
              <a:defRPr sz="2325" b="1">
                <a:solidFill>
                  <a:srgbClr val="102A2A"/>
                </a:solidFill>
                <a:latin typeface="Arial"/>
                <a:ea typeface="Arial"/>
                <a:cs typeface="Arial"/>
              </a:defRPr>
            </a:pPr>
            <a:r>
              <a:rPr sz="2325" b="1">
                <a:solidFill>
                  <a:srgbClr val="102A2A"/>
                </a:solidFill>
                <a:latin typeface="Arial"/>
                <a:ea typeface="Arial"/>
                <a:cs typeface="Arial"/>
              </a:rPr>
              <a:t>Bereitschaften, Status</a:t>
            </a:r>
          </a:p>
          <a:p xmlns:a="http://schemas.openxmlformats.org/drawingml/2006/main">
            <a:pPr>
              <a:defRPr sz="2325" b="1">
                <a:solidFill>
                  <a:srgbClr val="102A2A"/>
                </a:solidFill>
                <a:latin typeface="Arial"/>
                <a:ea typeface="Arial"/>
                <a:cs typeface="Arial"/>
              </a:defRPr>
            </a:pPr>
            <a:r>
              <a:rPr sz="2325" b="1">
                <a:solidFill>
                  <a:srgbClr val="102A2A"/>
                </a:solidFill>
                <a:latin typeface="Arial"/>
                <a:ea typeface="Arial"/>
                <a:cs typeface="Arial"/>
              </a:rPr>
              <a:t>und Supportwissen</a:t>
            </a:r>
          </a:p>
          <a:p xmlns:a="http://schemas.openxmlformats.org/drawingml/2006/main">
            <a:pPr>
              <a:defRPr sz="2325" b="1">
                <a:solidFill>
                  <a:srgbClr val="102A2A"/>
                </a:solidFill>
                <a:latin typeface="Arial"/>
                <a:ea typeface="Arial"/>
                <a:cs typeface="Arial"/>
              </a:defRPr>
            </a:pPr>
            <a:r>
              <a:rPr sz="2325" b="1">
                <a:solidFill>
                  <a:srgbClr val="102A2A"/>
                </a:solidFill>
                <a:latin typeface="Arial"/>
                <a:ea typeface="Arial"/>
                <a:cs typeface="Arial"/>
              </a:rPr>
              <a:t>an einem Ort.</a:t>
            </a:r>
          </a:p>
        </p:txBody>
      </p:sp>
      <p:sp>
        <p:nvSpPr>
          <p:cNvPr id="6" name="body">
            <a:extLst xmlns:a="http://schemas.openxmlformats.org/drawingml/2006/main">
              <a:ext uri="{FF2B5EF4-FFF2-40B4-BE49-F238E27FC236}">
                <a16:creationId xmlns:a16="http://schemas.microsoft.com/office/drawing/2014/main" id="{9B3F4181-804B-439F-B16D-ADE07D0068DC}"/>
              </a:ext>
            </a:extLst>
          </p:cNvPr>
          <p:cNvSpPr>
            <a:spLocks xmlns:a="http://schemas.openxmlformats.org/drawingml/2006/main" noGrp="1"/>
          </p:cNvSpPr>
          <p:nvPr/>
        </p:nvSpPr>
        <p:spPr>
          <a:xfrm xmlns:a="http://schemas.openxmlformats.org/drawingml/2006/main">
            <a:off x="685800" y="4371975"/>
            <a:ext cx="3762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63"/>
                </a:solidFill>
                <a:latin typeface="Arial"/>
                <a:ea typeface="Arial"/>
                <a:cs typeface="Arial"/>
              </a:defRPr>
            </a:defPPr>
          </a:lstStyle>
          <a:p xmlns:a="http://schemas.openxmlformats.org/drawingml/2006/main">
            <a:pPr>
              <a:defRPr sz="2025" b="0">
                <a:solidFill>
                  <a:srgbClr val="526763"/>
                </a:solidFill>
                <a:latin typeface="Arial"/>
                <a:ea typeface="Arial"/>
                <a:cs typeface="Arial"/>
              </a:defRPr>
            </a:pPr>
            <a:r>
              <a:rPr sz="2025" b="0">
                <a:solidFill>
                  <a:srgbClr val="526763"/>
                </a:solidFill>
                <a:latin typeface="Arial"/>
                <a:ea typeface="Arial"/>
                <a:cs typeface="Arial"/>
              </a:rPr>
              <a:t>Der Assistent nutzt die</a:t>
            </a:r>
          </a:p>
          <a:p xmlns:a="http://schemas.openxmlformats.org/drawingml/2006/main">
            <a:pPr>
              <a:defRPr sz="2025" b="0">
                <a:solidFill>
                  <a:srgbClr val="526763"/>
                </a:solidFill>
                <a:latin typeface="Arial"/>
                <a:ea typeface="Arial"/>
                <a:cs typeface="Arial"/>
              </a:defRPr>
            </a:pPr>
            <a:r>
              <a:rPr sz="2025" b="0">
                <a:solidFill>
                  <a:srgbClr val="526763"/>
                </a:solidFill>
                <a:latin typeface="Arial"/>
                <a:ea typeface="Arial"/>
                <a:cs typeface="Arial"/>
              </a:rPr>
              <a:t>Inhalte und Live-Quellen</a:t>
            </a:r>
          </a:p>
          <a:p xmlns:a="http://schemas.openxmlformats.org/drawingml/2006/main">
            <a:pPr>
              <a:defRPr sz="2025" b="0">
                <a:solidFill>
                  <a:srgbClr val="526763"/>
                </a:solidFill>
                <a:latin typeface="Arial"/>
                <a:ea typeface="Arial"/>
                <a:cs typeface="Arial"/>
              </a:defRPr>
            </a:pPr>
            <a:r>
              <a:rPr sz="2025" b="0">
                <a:solidFill>
                  <a:srgbClr val="526763"/>
                </a:solidFill>
                <a:latin typeface="Arial"/>
                <a:ea typeface="Arial"/>
                <a:cs typeface="Arial"/>
              </a:rPr>
              <a:t>der eigenen Instanz.</a:t>
            </a:r>
          </a:p>
        </p:txBody>
      </p:sp>
      <p:pic>
        <p:nvPicPr>
          <p:cNvPr id="7" name="">
            <a:extLst xmlns:a="http://schemas.openxmlformats.org/drawingml/2006/main">
              <a:ext uri="{FF2B5EF4-FFF2-40B4-BE49-F238E27FC236}">
                <a16:creationId xmlns:a16="http://schemas.microsoft.com/office/drawing/2014/main" id="{7426DB3E-8BE5-447D-81A3-522D9132B69B}"/>
              </a:ext>
            </a:extLst>
          </p:cNvPr>
          <p:cNvPicPr>
            <a:picLocks xmlns:a="http://schemas.openxmlformats.org/drawingml/2006/main" noChangeAspect="1"/>
          </p:cNvPicPr>
          <p:nvPr/>
        </p:nvPicPr>
        <p:blipFill>
          <a:blip xmlns:r="http://schemas.openxmlformats.org/officeDocument/2006/relationships" xmlns:a="http://schemas.openxmlformats.org/drawingml/2006/main" r:embed="R06adccf7aa5e40d9"/>
          <a:stretch xmlns:a="http://schemas.openxmlformats.org/drawingml/2006/main"/>
        </p:blipFill>
        <p:spPr>
          <a:xfrm xmlns:a="http://schemas.openxmlformats.org/drawingml/2006/main">
            <a:off x="5520542" y="1838325"/>
            <a:ext cx="5418117" cy="41719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4975A62D-1C38-47F2-9BA7-3D40A4FB37D3}"/>
              </a:ext>
            </a:extLst>
          </p:cNvPr>
          <p:cNvSpPr>
            <a:spLocks xmlns:a="http://schemas.openxmlformats.org/drawingml/2006/main" noGrp="1"/>
          </p:cNvSpPr>
          <p:nvPr/>
        </p:nvSpPr>
        <p:spPr>
          <a:xfrm xmlns:a="http://schemas.openxmlformats.org/drawingml/2006/main">
            <a:off x="5162550" y="6000750"/>
            <a:ext cx="6305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63"/>
                </a:solidFill>
                <a:latin typeface="Arial"/>
                <a:ea typeface="Arial"/>
                <a:cs typeface="Arial"/>
              </a:defRPr>
            </a:defPPr>
          </a:lstStyle>
          <a:p xmlns:a="http://schemas.openxmlformats.org/drawingml/2006/main">
            <a:pPr>
              <a:defRPr sz="1275" b="0">
                <a:solidFill>
                  <a:srgbClr val="526763"/>
                </a:solidFill>
                <a:latin typeface="Arial"/>
                <a:ea typeface="Arial"/>
                <a:cs typeface="Arial"/>
              </a:defRPr>
            </a:pPr>
            <a:r>
              <a:rPr sz="1275" b="0">
                <a:solidFill>
                  <a:srgbClr val="526763"/>
                </a:solidFill>
                <a:latin typeface="Arial"/>
                <a:ea typeface="Arial"/>
                <a:cs typeface="Arial"/>
              </a:rPr>
              <a:t>Produktdemo mit synthetischen Daten</a:t>
            </a:r>
          </a:p>
        </p:txBody>
      </p:sp>
    </p:spTree>
    <p:extLst>
      <p:ext uri="{BB962C8B-B14F-4D97-AF65-F5344CB8AC3E}">
        <p14:creationId xmlns:p14="http://schemas.microsoft.com/office/powerpoint/2010/main" val="1444707450"/>
      </p:ext>
    </p:extLst>
  </p:cSld>
</p:sld>
</file>

<file path=ppt/slides/slide4.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623B9E88-3205-49E4-8B78-1DC95ECDDA0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defRPr sz="1275" b="1">
                <a:solidFill>
                  <a:srgbClr val="D5F36B"/>
                </a:solidFill>
                <a:latin typeface="Arial"/>
                <a:ea typeface="Arial"/>
                <a:cs typeface="Arial"/>
              </a:defRPr>
            </a:pPr>
            <a:r>
              <a:rPr sz="1275" b="1">
                <a:solidFill>
                  <a:srgbClr val="D5F36B"/>
                </a:solidFill>
                <a:latin typeface="Arial"/>
                <a:ea typeface="Arial"/>
                <a:cs typeface="Arial"/>
              </a:rPr>
              <a:t>ENTLASTUNG</a:t>
            </a:r>
          </a:p>
        </p:txBody>
      </p:sp>
      <p:sp>
        <p:nvSpPr>
          <p:cNvPr id="2" name="slide-title">
            <a:extLst xmlns:a="http://schemas.openxmlformats.org/drawingml/2006/main">
              <a:ext uri="{FF2B5EF4-FFF2-40B4-BE49-F238E27FC236}">
                <a16:creationId xmlns:a16="http://schemas.microsoft.com/office/drawing/2014/main" id="{C01C91DD-2F3B-445F-9C3D-8E4B86DA7859}"/>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defRPr sz="3600" b="1">
                <a:solidFill>
                  <a:srgbClr val="F7FAF9"/>
                </a:solidFill>
                <a:latin typeface="Arial"/>
                <a:ea typeface="Arial"/>
                <a:cs typeface="Arial"/>
              </a:defRPr>
            </a:pPr>
            <a:r>
              <a:rPr sz="3600" b="1">
                <a:solidFill>
                  <a:srgbClr val="F7FAF9"/>
                </a:solidFill>
                <a:latin typeface="Arial"/>
                <a:ea typeface="Arial"/>
                <a:cs typeface="Arial"/>
              </a:rPr>
              <a:t>KI-Vorfilterung mit messbarem Ziel</a:t>
            </a:r>
          </a:p>
        </p:txBody>
      </p:sp>
      <p:sp>
        <p:nvSpPr>
          <p:cNvPr id="3" name="footer">
            <a:extLst xmlns:a="http://schemas.openxmlformats.org/drawingml/2006/main">
              <a:ext uri="{FF2B5EF4-FFF2-40B4-BE49-F238E27FC236}">
                <a16:creationId xmlns:a16="http://schemas.microsoft.com/office/drawing/2014/main" id="{AEB34D1F-C0A1-49C6-BEA3-1939799899E4}"/>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CBC0436-0922-4DDF-9499-F8B8FA56ED3F}"/>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04</a:t>
            </a:r>
          </a:p>
        </p:txBody>
      </p:sp>
      <p:sp>
        <p:nvSpPr>
          <p:cNvPr id="5" name="target-number">
            <a:extLst xmlns:a="http://schemas.openxmlformats.org/drawingml/2006/main">
              <a:ext uri="{FF2B5EF4-FFF2-40B4-BE49-F238E27FC236}">
                <a16:creationId xmlns:a16="http://schemas.microsoft.com/office/drawing/2014/main" id="{D4F3C811-B8BB-4D2B-B634-6461C11FE15E}"/>
              </a:ext>
            </a:extLst>
          </p:cNvPr>
          <p:cNvSpPr>
            <a:spLocks xmlns:a="http://schemas.openxmlformats.org/drawingml/2006/main" noGrp="1"/>
          </p:cNvSpPr>
          <p:nvPr/>
        </p:nvSpPr>
        <p:spPr>
          <a:xfrm xmlns:a="http://schemas.openxmlformats.org/drawingml/2006/main">
            <a:off x="685800" y="2190750"/>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0" b="1">
                <a:solidFill>
                  <a:srgbClr val="D5F36B"/>
                </a:solidFill>
                <a:latin typeface="Arial"/>
                <a:ea typeface="Arial"/>
                <a:cs typeface="Arial"/>
              </a:defRPr>
            </a:defPPr>
          </a:lstStyle>
          <a:p xmlns:a="http://schemas.openxmlformats.org/drawingml/2006/main">
            <a:pPr>
              <a:defRPr sz="12750" b="1">
                <a:solidFill>
                  <a:srgbClr val="D5F36B"/>
                </a:solidFill>
                <a:latin typeface="Arial"/>
                <a:ea typeface="Arial"/>
                <a:cs typeface="Arial"/>
              </a:defRPr>
            </a:pPr>
            <a:r>
              <a:rPr sz="12750" b="1">
                <a:solidFill>
                  <a:srgbClr val="D5F36B"/>
                </a:solidFill>
                <a:latin typeface="Arial"/>
                <a:ea typeface="Arial"/>
                <a:cs typeface="Arial"/>
              </a:rPr>
              <a:t>80 %</a:t>
            </a:r>
          </a:p>
        </p:txBody>
      </p:sp>
      <p:sp>
        <p:nvSpPr>
          <p:cNvPr id="6" name="body">
            <a:extLst xmlns:a="http://schemas.openxmlformats.org/drawingml/2006/main">
              <a:ext uri="{FF2B5EF4-FFF2-40B4-BE49-F238E27FC236}">
                <a16:creationId xmlns:a16="http://schemas.microsoft.com/office/drawing/2014/main" id="{7C85EB4C-2B51-4249-8736-7143F98C5E7F}"/>
              </a:ext>
            </a:extLst>
          </p:cNvPr>
          <p:cNvSpPr>
            <a:spLocks xmlns:a="http://schemas.openxmlformats.org/drawingml/2006/main" noGrp="1"/>
          </p:cNvSpPr>
          <p:nvPr/>
        </p:nvSpPr>
        <p:spPr>
          <a:xfrm xmlns:a="http://schemas.openxmlformats.org/drawingml/2006/main">
            <a:off x="781050" y="4333875"/>
            <a:ext cx="4914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7FAF9"/>
                </a:solidFill>
                <a:latin typeface="Arial"/>
                <a:ea typeface="Arial"/>
                <a:cs typeface="Arial"/>
              </a:defRPr>
            </a:defPPr>
          </a:lstStyle>
          <a:p xmlns:a="http://schemas.openxmlformats.org/drawingml/2006/main">
            <a:pPr>
              <a:defRPr sz="2175" b="1">
                <a:solidFill>
                  <a:srgbClr val="F7FAF9"/>
                </a:solidFill>
                <a:latin typeface="Arial"/>
                <a:ea typeface="Arial"/>
                <a:cs typeface="Arial"/>
              </a:defRPr>
            </a:pPr>
            <a:r>
              <a:rPr sz="2175" b="1">
                <a:solidFill>
                  <a:srgbClr val="F7FAF9"/>
                </a:solidFill>
                <a:latin typeface="Arial"/>
                <a:ea typeface="Arial"/>
                <a:cs typeface="Arial"/>
              </a:rPr>
              <a:t>Zielwert für die Vorfilterung</a:t>
            </a:r>
          </a:p>
          <a:p xmlns:a="http://schemas.openxmlformats.org/drawingml/2006/main">
            <a:pPr>
              <a:defRPr sz="2175" b="1">
                <a:solidFill>
                  <a:srgbClr val="F7FAF9"/>
                </a:solidFill>
                <a:latin typeface="Arial"/>
                <a:ea typeface="Arial"/>
                <a:cs typeface="Arial"/>
              </a:defRPr>
            </a:pPr>
            <a:r>
              <a:rPr sz="2175" b="1">
                <a:solidFill>
                  <a:srgbClr val="F7FAF9"/>
                </a:solidFill>
                <a:latin typeface="Arial"/>
                <a:ea typeface="Arial"/>
                <a:cs typeface="Arial"/>
              </a:rPr>
              <a:t>von Serviceanfragen</a:t>
            </a:r>
          </a:p>
        </p:txBody>
      </p:sp>
      <p:sp>
        <p:nvSpPr>
          <p:cNvPr id="7" name="body">
            <a:extLst xmlns:a="http://schemas.openxmlformats.org/drawingml/2006/main">
              <a:ext uri="{FF2B5EF4-FFF2-40B4-BE49-F238E27FC236}">
                <a16:creationId xmlns:a16="http://schemas.microsoft.com/office/drawing/2014/main" id="{E76515C7-D973-4938-AD25-F69B7AEEA78D}"/>
              </a:ext>
            </a:extLst>
          </p:cNvPr>
          <p:cNvSpPr>
            <a:spLocks xmlns:a="http://schemas.openxmlformats.org/drawingml/2006/main" noGrp="1"/>
          </p:cNvSpPr>
          <p:nvPr/>
        </p:nvSpPr>
        <p:spPr>
          <a:xfrm xmlns:a="http://schemas.openxmlformats.org/drawingml/2006/main">
            <a:off x="781050" y="53911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BCFC7"/>
                </a:solidFill>
                <a:latin typeface="Arial"/>
                <a:ea typeface="Arial"/>
                <a:cs typeface="Arial"/>
              </a:defRPr>
            </a:defPPr>
          </a:lstStyle>
          <a:p xmlns:a="http://schemas.openxmlformats.org/drawingml/2006/main">
            <a:pPr>
              <a:defRPr sz="1725" b="0">
                <a:solidFill>
                  <a:srgbClr val="BBCFC7"/>
                </a:solidFill>
                <a:latin typeface="Arial"/>
                <a:ea typeface="Arial"/>
                <a:cs typeface="Arial"/>
              </a:defRPr>
            </a:pPr>
            <a:r>
              <a:rPr sz="1725" b="0">
                <a:solidFill>
                  <a:srgbClr val="BBCFC7"/>
                </a:solidFill>
                <a:latin typeface="Arial"/>
                <a:ea typeface="Arial"/>
                <a:cs typeface="Arial"/>
              </a:rPr>
              <a:t>Noch keine eigene Messung.</a:t>
            </a:r>
          </a:p>
          <a:p xmlns:a="http://schemas.openxmlformats.org/drawingml/2006/main">
            <a:pPr>
              <a:defRPr sz="1725" b="0">
                <a:solidFill>
                  <a:srgbClr val="BBCFC7"/>
                </a:solidFill>
                <a:latin typeface="Arial"/>
                <a:ea typeface="Arial"/>
                <a:cs typeface="Arial"/>
              </a:defRPr>
            </a:pPr>
            <a:r>
              <a:rPr sz="1725" b="0">
                <a:solidFill>
                  <a:srgbClr val="BBCFC7"/>
                </a:solidFill>
                <a:latin typeface="Arial"/>
                <a:ea typeface="Arial"/>
                <a:cs typeface="Arial"/>
              </a:rPr>
              <a:t>Keine garantierte Einsparung.</a:t>
            </a:r>
          </a:p>
        </p:txBody>
      </p:sp>
      <p:sp>
        <p:nvSpPr>
          <p:cNvPr id="8" name="body">
            <a:extLst xmlns:a="http://schemas.openxmlformats.org/drawingml/2006/main">
              <a:ext uri="{FF2B5EF4-FFF2-40B4-BE49-F238E27FC236}">
                <a16:creationId xmlns:a16="http://schemas.microsoft.com/office/drawing/2014/main" id="{E4FA4DC2-7BCC-489D-B3D9-C376C5BEB9B0}"/>
              </a:ext>
            </a:extLst>
          </p:cNvPr>
          <p:cNvSpPr>
            <a:spLocks xmlns:a="http://schemas.openxmlformats.org/drawingml/2006/main" noGrp="1"/>
          </p:cNvSpPr>
          <p:nvPr/>
        </p:nvSpPr>
        <p:spPr>
          <a:xfrm xmlns:a="http://schemas.openxmlformats.org/drawingml/2006/main">
            <a:off x="6572250" y="2476500"/>
            <a:ext cx="4905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7FAF9"/>
                </a:solidFill>
                <a:latin typeface="Arial"/>
                <a:ea typeface="Arial"/>
                <a:cs typeface="Arial"/>
              </a:defRPr>
            </a:defPPr>
          </a:lstStyle>
          <a:p xmlns:a="http://schemas.openxmlformats.org/drawingml/2006/main">
            <a:pPr>
              <a:defRPr sz="2700" b="1">
                <a:solidFill>
                  <a:srgbClr val="F7FAF9"/>
                </a:solidFill>
                <a:latin typeface="Arial"/>
                <a:ea typeface="Arial"/>
                <a:cs typeface="Arial"/>
              </a:defRPr>
            </a:pPr>
            <a:r>
              <a:rPr sz="2700" b="1">
                <a:solidFill>
                  <a:srgbClr val="F7FAF9"/>
                </a:solidFill>
                <a:latin typeface="Arial"/>
                <a:ea typeface="Arial"/>
                <a:cs typeface="Arial"/>
              </a:rPr>
              <a:t>Weniger manuelle Rückfragen</a:t>
            </a:r>
          </a:p>
          <a:p xmlns:a="http://schemas.openxmlformats.org/drawingml/2006/main">
            <a:pPr>
              <a:defRPr sz="2700" b="1">
                <a:solidFill>
                  <a:srgbClr val="F7FAF9"/>
                </a:solidFill>
                <a:latin typeface="Arial"/>
                <a:ea typeface="Arial"/>
                <a:cs typeface="Arial"/>
              </a:defRPr>
            </a:pPr>
            <a:r>
              <a:rPr sz="2700" b="1">
                <a:solidFill>
                  <a:srgbClr val="F7FAF9"/>
                </a:solidFill>
                <a:latin typeface="Arial"/>
                <a:ea typeface="Arial"/>
                <a:cs typeface="Arial"/>
              </a:rPr>
              <a:t>können Bearbeitungszeit</a:t>
            </a:r>
          </a:p>
          <a:p xmlns:a="http://schemas.openxmlformats.org/drawingml/2006/main">
            <a:pPr>
              <a:defRPr sz="2700" b="1">
                <a:solidFill>
                  <a:srgbClr val="F7FAF9"/>
                </a:solidFill>
                <a:latin typeface="Arial"/>
                <a:ea typeface="Arial"/>
                <a:cs typeface="Arial"/>
              </a:defRPr>
            </a:pPr>
            <a:r>
              <a:rPr sz="2700" b="1">
                <a:solidFill>
                  <a:srgbClr val="F7FAF9"/>
                </a:solidFill>
                <a:latin typeface="Arial"/>
                <a:ea typeface="Arial"/>
                <a:cs typeface="Arial"/>
              </a:rPr>
              <a:t>und Kosten senken.</a:t>
            </a:r>
          </a:p>
        </p:txBody>
      </p:sp>
      <p:sp>
        <p:nvSpPr>
          <p:cNvPr id="9" name="body">
            <a:extLst xmlns:a="http://schemas.openxmlformats.org/drawingml/2006/main">
              <a:ext uri="{FF2B5EF4-FFF2-40B4-BE49-F238E27FC236}">
                <a16:creationId xmlns:a16="http://schemas.microsoft.com/office/drawing/2014/main" id="{B6410917-5D61-40C4-BF16-840482264A37}"/>
              </a:ext>
            </a:extLst>
          </p:cNvPr>
          <p:cNvSpPr>
            <a:spLocks xmlns:a="http://schemas.openxmlformats.org/drawingml/2006/main" noGrp="1"/>
          </p:cNvSpPr>
          <p:nvPr/>
        </p:nvSpPr>
        <p:spPr>
          <a:xfrm xmlns:a="http://schemas.openxmlformats.org/drawingml/2006/main">
            <a:off x="6572250" y="4448175"/>
            <a:ext cx="4905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7FAF9"/>
                </a:solidFill>
                <a:latin typeface="Arial"/>
                <a:ea typeface="Arial"/>
                <a:cs typeface="Arial"/>
              </a:defRPr>
            </a:defPPr>
          </a:lstStyle>
          <a:p xmlns:a="http://schemas.openxmlformats.org/drawingml/2006/main">
            <a:pPr>
              <a:defRPr sz="2100" b="0">
                <a:solidFill>
                  <a:srgbClr val="F7FAF9"/>
                </a:solidFill>
                <a:latin typeface="Arial"/>
                <a:ea typeface="Arial"/>
                <a:cs typeface="Arial"/>
              </a:defRPr>
            </a:pPr>
            <a:r>
              <a:rPr sz="2100" b="0">
                <a:solidFill>
                  <a:srgbClr val="F7FAF9"/>
                </a:solidFill>
                <a:latin typeface="Arial"/>
                <a:ea typeface="Arial"/>
                <a:cs typeface="Arial"/>
              </a:rPr>
              <a:t>Wir prüfen den Effekt im Pilot</a:t>
            </a:r>
          </a:p>
          <a:p xmlns:a="http://schemas.openxmlformats.org/drawingml/2006/main">
            <a:pPr>
              <a:defRPr sz="2100" b="0">
                <a:solidFill>
                  <a:srgbClr val="F7FAF9"/>
                </a:solidFill>
                <a:latin typeface="Arial"/>
                <a:ea typeface="Arial"/>
                <a:cs typeface="Arial"/>
              </a:defRPr>
            </a:pPr>
            <a:r>
              <a:rPr sz="2100" b="0">
                <a:solidFill>
                  <a:srgbClr val="F7FAF9"/>
                </a:solidFill>
                <a:latin typeface="Arial"/>
                <a:ea typeface="Arial"/>
                <a:cs typeface="Arial"/>
              </a:rPr>
              <a:t>mit Ihren realen Anfragearten</a:t>
            </a:r>
          </a:p>
          <a:p xmlns:a="http://schemas.openxmlformats.org/drawingml/2006/main">
            <a:pPr>
              <a:defRPr sz="2100" b="0">
                <a:solidFill>
                  <a:srgbClr val="F7FAF9"/>
                </a:solidFill>
                <a:latin typeface="Arial"/>
                <a:ea typeface="Arial"/>
                <a:cs typeface="Arial"/>
              </a:defRPr>
            </a:pPr>
            <a:r>
              <a:rPr sz="2100" b="0">
                <a:solidFill>
                  <a:srgbClr val="F7FAF9"/>
                </a:solidFill>
                <a:latin typeface="Arial"/>
                <a:ea typeface="Arial"/>
                <a:cs typeface="Arial"/>
              </a:rPr>
              <a:t>und Ihrer Wissensbasis.</a:t>
            </a:r>
          </a:p>
        </p:txBody>
      </p:sp>
    </p:spTree>
    <p:extLst>
      <p:ext uri="{BB962C8B-B14F-4D97-AF65-F5344CB8AC3E}">
        <p14:creationId xmlns:p14="http://schemas.microsoft.com/office/powerpoint/2010/main" val="1712389765"/>
      </p:ext>
    </p:extLst>
  </p:cSld>
</p:sld>
</file>

<file path=ppt/slides/slide5.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15B330FA-0607-4D38-AA34-F7EA8FB8514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FREIE WAHL</a:t>
            </a:r>
          </a:p>
        </p:txBody>
      </p:sp>
      <p:sp>
        <p:nvSpPr>
          <p:cNvPr id="2" name="slide-title">
            <a:extLst xmlns:a="http://schemas.openxmlformats.org/drawingml/2006/main">
              <a:ext uri="{FF2B5EF4-FFF2-40B4-BE49-F238E27FC236}">
                <a16:creationId xmlns:a16="http://schemas.microsoft.com/office/drawing/2014/main" id="{E22DFA14-8B2A-466D-BA64-6FBA0285D71F}"/>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Der Mensch bleibt direkt erreichbar</a:t>
            </a:r>
          </a:p>
        </p:txBody>
      </p:sp>
      <p:sp>
        <p:nvSpPr>
          <p:cNvPr id="3" name="footer">
            <a:extLst xmlns:a="http://schemas.openxmlformats.org/drawingml/2006/main">
              <a:ext uri="{FF2B5EF4-FFF2-40B4-BE49-F238E27FC236}">
                <a16:creationId xmlns:a16="http://schemas.microsoft.com/office/drawing/2014/main" id="{00CD6F91-9A12-4021-960C-DE0D5DAFFD6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00038804-65D0-4BEE-9B91-62BA32B8C3F0}"/>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05</a:t>
            </a:r>
          </a:p>
        </p:txBody>
      </p:sp>
      <p:sp>
        <p:nvSpPr>
          <p:cNvPr id="5" name="body">
            <a:extLst xmlns:a="http://schemas.openxmlformats.org/drawingml/2006/main">
              <a:ext uri="{FF2B5EF4-FFF2-40B4-BE49-F238E27FC236}">
                <a16:creationId xmlns:a16="http://schemas.microsoft.com/office/drawing/2014/main" id="{8921CA86-4C35-4D0E-9863-401E75B4B821}"/>
              </a:ext>
            </a:extLst>
          </p:cNvPr>
          <p:cNvSpPr>
            <a:spLocks xmlns:a="http://schemas.openxmlformats.org/drawingml/2006/main" noGrp="1"/>
          </p:cNvSpPr>
          <p:nvPr/>
        </p:nvSpPr>
        <p:spPr>
          <a:xfrm xmlns:a="http://schemas.openxmlformats.org/drawingml/2006/main">
            <a:off x="685800" y="2286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KI-Assistent auf Wunsch</a:t>
            </a:r>
          </a:p>
        </p:txBody>
      </p:sp>
      <p:sp>
        <p:nvSpPr>
          <p:cNvPr id="6" name="body">
            <a:extLst xmlns:a="http://schemas.openxmlformats.org/drawingml/2006/main">
              <a:ext uri="{FF2B5EF4-FFF2-40B4-BE49-F238E27FC236}">
                <a16:creationId xmlns:a16="http://schemas.microsoft.com/office/drawing/2014/main" id="{9B39E1CC-59B7-4488-AE5D-245EA7781D80}"/>
              </a:ext>
            </a:extLst>
          </p:cNvPr>
          <p:cNvSpPr>
            <a:spLocks xmlns:a="http://schemas.openxmlformats.org/drawingml/2006/main" noGrp="1"/>
          </p:cNvSpPr>
          <p:nvPr/>
        </p:nvSpPr>
        <p:spPr>
          <a:xfrm xmlns:a="http://schemas.openxmlformats.org/drawingml/2006/main">
            <a:off x="685800" y="2828925"/>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Fragen einordnen, passende Inhalte</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finden und Kontext für den Support</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vorbereiten.</a:t>
            </a:r>
          </a:p>
        </p:txBody>
      </p:sp>
      <p:sp>
        <p:nvSpPr>
          <p:cNvPr id="7" name="body">
            <a:extLst xmlns:a="http://schemas.openxmlformats.org/drawingml/2006/main">
              <a:ext uri="{FF2B5EF4-FFF2-40B4-BE49-F238E27FC236}">
                <a16:creationId xmlns:a16="http://schemas.microsoft.com/office/drawing/2014/main" id="{A9B2FF4B-0377-4D04-9361-F621B417FFB8}"/>
              </a:ext>
            </a:extLst>
          </p:cNvPr>
          <p:cNvSpPr>
            <a:spLocks xmlns:a="http://schemas.openxmlformats.org/drawingml/2006/main" noGrp="1"/>
          </p:cNvSpPr>
          <p:nvPr/>
        </p:nvSpPr>
        <p:spPr>
          <a:xfrm xmlns:a="http://schemas.openxmlformats.org/drawingml/2006/main">
            <a:off x="6572250" y="22860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Direkt zum Serviceteam</a:t>
            </a:r>
          </a:p>
        </p:txBody>
      </p:sp>
      <p:sp>
        <p:nvSpPr>
          <p:cNvPr id="8" name="body">
            <a:extLst xmlns:a="http://schemas.openxmlformats.org/drawingml/2006/main">
              <a:ext uri="{FF2B5EF4-FFF2-40B4-BE49-F238E27FC236}">
                <a16:creationId xmlns:a16="http://schemas.microsoft.com/office/drawing/2014/main" id="{AF7D26D5-2E99-4C42-B696-249D9F6D062A}"/>
              </a:ext>
            </a:extLst>
          </p:cNvPr>
          <p:cNvSpPr>
            <a:spLocks xmlns:a="http://schemas.openxmlformats.org/drawingml/2006/main" noGrp="1"/>
          </p:cNvSpPr>
          <p:nvPr/>
        </p:nvSpPr>
        <p:spPr>
          <a:xfrm xmlns:a="http://schemas.openxmlformats.org/drawingml/2006/main">
            <a:off x="6572250" y="2828925"/>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KI jederzeit überspringen.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Hotline nutzen oder menschliche</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Chat-Übernahme anfordern.</a:t>
            </a:r>
          </a:p>
        </p:txBody>
      </p:sp>
      <p:sp>
        <p:nvSpPr>
          <p:cNvPr id="9" name="body">
            <a:extLst xmlns:a="http://schemas.openxmlformats.org/drawingml/2006/main">
              <a:ext uri="{FF2B5EF4-FFF2-40B4-BE49-F238E27FC236}">
                <a16:creationId xmlns:a16="http://schemas.microsoft.com/office/drawing/2014/main" id="{E73A0010-9FDD-4DCE-AC58-C2ECE4F205BC}"/>
              </a:ext>
            </a:extLst>
          </p:cNvPr>
          <p:cNvSpPr>
            <a:spLocks xmlns:a="http://schemas.openxmlformats.org/drawingml/2006/main" noGrp="1"/>
          </p:cNvSpPr>
          <p:nvPr/>
        </p:nvSpPr>
        <p:spPr>
          <a:xfrm xmlns:a="http://schemas.openxmlformats.org/drawingml/2006/main">
            <a:off x="685800" y="46577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6B64"/>
                </a:solidFill>
                <a:latin typeface="Arial"/>
                <a:ea typeface="Arial"/>
                <a:cs typeface="Arial"/>
              </a:defRPr>
            </a:defPPr>
          </a:lstStyle>
          <a:p xmlns:a="http://schemas.openxmlformats.org/drawingml/2006/main">
            <a:pPr>
              <a:defRPr sz="2625" b="1">
                <a:solidFill>
                  <a:srgbClr val="006B64"/>
                </a:solidFill>
                <a:latin typeface="Arial"/>
                <a:ea typeface="Arial"/>
                <a:cs typeface="Arial"/>
              </a:defRPr>
            </a:pPr>
            <a:r>
              <a:rPr sz="2625" b="1">
                <a:solidFill>
                  <a:srgbClr val="006B64"/>
                </a:solidFill>
                <a:latin typeface="Arial"/>
                <a:ea typeface="Arial"/>
                <a:cs typeface="Arial"/>
              </a:rPr>
              <a:t>Bei menschlicher Übernahme pausiert der Bot.</a:t>
            </a:r>
          </a:p>
        </p:txBody>
      </p:sp>
      <p:sp>
        <p:nvSpPr>
          <p:cNvPr id="10" name="body">
            <a:extLst xmlns:a="http://schemas.openxmlformats.org/drawingml/2006/main">
              <a:ext uri="{FF2B5EF4-FFF2-40B4-BE49-F238E27FC236}">
                <a16:creationId xmlns:a16="http://schemas.microsoft.com/office/drawing/2014/main" id="{A97F6414-E006-4569-88DA-9B52F0DFB802}"/>
              </a:ext>
            </a:extLst>
          </p:cNvPr>
          <p:cNvSpPr>
            <a:spLocks xmlns:a="http://schemas.openxmlformats.org/drawingml/2006/main" noGrp="1"/>
          </p:cNvSpPr>
          <p:nvPr/>
        </p:nvSpPr>
        <p:spPr>
          <a:xfrm xmlns:a="http://schemas.openxmlformats.org/drawingml/2006/main">
            <a:off x="685800" y="551497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763"/>
                </a:solidFill>
                <a:latin typeface="Arial"/>
                <a:ea typeface="Arial"/>
                <a:cs typeface="Arial"/>
              </a:defRPr>
            </a:defPPr>
          </a:lstStyle>
          <a:p xmlns:a="http://schemas.openxmlformats.org/drawingml/2006/main">
            <a:pPr>
              <a:defRPr sz="1725" b="0">
                <a:solidFill>
                  <a:srgbClr val="526763"/>
                </a:solidFill>
                <a:latin typeface="Arial"/>
                <a:ea typeface="Arial"/>
                <a:cs typeface="Arial"/>
              </a:defRPr>
            </a:pPr>
            <a:r>
              <a:rPr sz="1725" b="0">
                <a:solidFill>
                  <a:srgbClr val="526763"/>
                </a:solidFill>
                <a:latin typeface="Arial"/>
                <a:ea typeface="Arial"/>
                <a:cs typeface="Arial"/>
              </a:rPr>
              <a:t>Chat-Zugang erfordert ein eingerichtetes Support-Plugin.</a:t>
            </a:r>
          </a:p>
          <a:p xmlns:a="http://schemas.openxmlformats.org/drawingml/2006/main">
            <a:pPr>
              <a:defRPr sz="1725" b="0">
                <a:solidFill>
                  <a:srgbClr val="526763"/>
                </a:solidFill>
                <a:latin typeface="Arial"/>
                <a:ea typeface="Arial"/>
                <a:cs typeface="Arial"/>
              </a:defRPr>
            </a:pPr>
            <a:r>
              <a:rPr sz="1725" b="0">
                <a:solidFill>
                  <a:srgbClr val="526763"/>
                </a:solidFill>
                <a:latin typeface="Arial"/>
                <a:ea typeface="Arial"/>
                <a:cs typeface="Arial"/>
              </a:rPr>
              <a:t>Die vereinbarten Servicezeiten gelten.</a:t>
            </a:r>
          </a:p>
        </p:txBody>
      </p:sp>
    </p:spTree>
    <p:extLst>
      <p:ext uri="{BB962C8B-B14F-4D97-AF65-F5344CB8AC3E}">
        <p14:creationId xmlns:p14="http://schemas.microsoft.com/office/powerpoint/2010/main" val="1954968968"/>
      </p:ext>
    </p:extLst>
  </p:cSld>
</p:sld>
</file>

<file path=ppt/slides/slide6.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CC36D894-930E-4AE5-89CF-9480FDA0D6C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FUNKTIONSUMFANG</a:t>
            </a:r>
          </a:p>
        </p:txBody>
      </p:sp>
      <p:sp>
        <p:nvSpPr>
          <p:cNvPr id="2" name="slide-title">
            <a:extLst xmlns:a="http://schemas.openxmlformats.org/drawingml/2006/main">
              <a:ext uri="{FF2B5EF4-FFF2-40B4-BE49-F238E27FC236}">
                <a16:creationId xmlns:a16="http://schemas.microsoft.com/office/drawing/2014/main" id="{8B2A425F-D0D3-4A09-A936-F4A7D682D531}"/>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Acht Plugins für Ihr Serviceportal</a:t>
            </a:r>
          </a:p>
        </p:txBody>
      </p:sp>
      <p:sp>
        <p:nvSpPr>
          <p:cNvPr id="3" name="footer">
            <a:extLst xmlns:a="http://schemas.openxmlformats.org/drawingml/2006/main">
              <a:ext uri="{FF2B5EF4-FFF2-40B4-BE49-F238E27FC236}">
                <a16:creationId xmlns:a16="http://schemas.microsoft.com/office/drawing/2014/main" id="{BB42E6B0-F477-4145-9CBE-DEA395ADDBE9}"/>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E1E92BD3-E4B7-4384-B902-4A3BAB2C58AC}"/>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06</a:t>
            </a:r>
          </a:p>
        </p:txBody>
      </p:sp>
      <p:sp>
        <p:nvSpPr>
          <p:cNvPr id="5" name="body">
            <a:extLst xmlns:a="http://schemas.openxmlformats.org/drawingml/2006/main">
              <a:ext uri="{FF2B5EF4-FFF2-40B4-BE49-F238E27FC236}">
                <a16:creationId xmlns:a16="http://schemas.microsoft.com/office/drawing/2014/main" id="{8C47A789-398C-4609-8DBC-482512F3952B}"/>
              </a:ext>
            </a:extLst>
          </p:cNvPr>
          <p:cNvSpPr>
            <a:spLocks xmlns:a="http://schemas.openxmlformats.org/drawingml/2006/main" noGrp="1"/>
          </p:cNvSpPr>
          <p:nvPr/>
        </p:nvSpPr>
        <p:spPr>
          <a:xfrm xmlns:a="http://schemas.openxmlformats.org/drawingml/2006/main">
            <a:off x="685800" y="20764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Kontakt</a:t>
            </a:r>
          </a:p>
        </p:txBody>
      </p:sp>
      <p:sp>
        <p:nvSpPr>
          <p:cNvPr id="6" name="body">
            <a:extLst xmlns:a="http://schemas.openxmlformats.org/drawingml/2006/main">
              <a:ext uri="{FF2B5EF4-FFF2-40B4-BE49-F238E27FC236}">
                <a16:creationId xmlns:a16="http://schemas.microsoft.com/office/drawing/2014/main" id="{0F0BA47D-9F4D-4F10-A772-91AE786FA025}"/>
              </a:ext>
            </a:extLst>
          </p:cNvPr>
          <p:cNvSpPr>
            <a:spLocks xmlns:a="http://schemas.openxmlformats.org/drawingml/2006/main" noGrp="1"/>
          </p:cNvSpPr>
          <p:nvPr/>
        </p:nvSpPr>
        <p:spPr>
          <a:xfrm xmlns:a="http://schemas.openxmlformats.org/drawingml/2006/main">
            <a:off x="685800" y="246697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Hotline und Kontaktinformationen</a:t>
            </a:r>
          </a:p>
        </p:txBody>
      </p:sp>
      <p:sp>
        <p:nvSpPr>
          <p:cNvPr id="7" name="body">
            <a:extLst xmlns:a="http://schemas.openxmlformats.org/drawingml/2006/main">
              <a:ext uri="{FF2B5EF4-FFF2-40B4-BE49-F238E27FC236}">
                <a16:creationId xmlns:a16="http://schemas.microsoft.com/office/drawing/2014/main" id="{881937A8-3075-461C-9887-DFFD4651F1E3}"/>
              </a:ext>
            </a:extLst>
          </p:cNvPr>
          <p:cNvSpPr>
            <a:spLocks xmlns:a="http://schemas.openxmlformats.org/drawingml/2006/main" noGrp="1"/>
          </p:cNvSpPr>
          <p:nvPr/>
        </p:nvSpPr>
        <p:spPr>
          <a:xfrm xmlns:a="http://schemas.openxmlformats.org/drawingml/2006/main">
            <a:off x="685800" y="296227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SIGNL4</a:t>
            </a:r>
          </a:p>
        </p:txBody>
      </p:sp>
      <p:sp>
        <p:nvSpPr>
          <p:cNvPr id="8" name="body">
            <a:extLst xmlns:a="http://schemas.openxmlformats.org/drawingml/2006/main">
              <a:ext uri="{FF2B5EF4-FFF2-40B4-BE49-F238E27FC236}">
                <a16:creationId xmlns:a16="http://schemas.microsoft.com/office/drawing/2014/main" id="{6FF63308-C4C2-4ABF-8A6E-823D3A62B51E}"/>
              </a:ext>
            </a:extLst>
          </p:cNvPr>
          <p:cNvSpPr>
            <a:spLocks xmlns:a="http://schemas.openxmlformats.org/drawingml/2006/main" noGrp="1"/>
          </p:cNvSpPr>
          <p:nvPr/>
        </p:nvSpPr>
        <p:spPr>
          <a:xfrm xmlns:a="http://schemas.openxmlformats.org/drawingml/2006/main">
            <a:off x="685800" y="335280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Bereitschaften und aktuelle Alerts</a:t>
            </a:r>
          </a:p>
        </p:txBody>
      </p:sp>
      <p:sp>
        <p:nvSpPr>
          <p:cNvPr id="9" name="body">
            <a:extLst xmlns:a="http://schemas.openxmlformats.org/drawingml/2006/main">
              <a:ext uri="{FF2B5EF4-FFF2-40B4-BE49-F238E27FC236}">
                <a16:creationId xmlns:a16="http://schemas.microsoft.com/office/drawing/2014/main" id="{89A33D4B-83FE-4BA9-B830-AB45F400418B}"/>
              </a:ext>
            </a:extLst>
          </p:cNvPr>
          <p:cNvSpPr>
            <a:spLocks xmlns:a="http://schemas.openxmlformats.org/drawingml/2006/main" noGrp="1"/>
          </p:cNvSpPr>
          <p:nvPr/>
        </p:nvSpPr>
        <p:spPr>
          <a:xfrm xmlns:a="http://schemas.openxmlformats.org/drawingml/2006/main">
            <a:off x="685800" y="384810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Uptime Kuma</a:t>
            </a:r>
          </a:p>
        </p:txBody>
      </p:sp>
      <p:sp>
        <p:nvSpPr>
          <p:cNvPr id="10" name="body">
            <a:extLst xmlns:a="http://schemas.openxmlformats.org/drawingml/2006/main">
              <a:ext uri="{FF2B5EF4-FFF2-40B4-BE49-F238E27FC236}">
                <a16:creationId xmlns:a16="http://schemas.microsoft.com/office/drawing/2014/main" id="{D48E7E05-D3AC-45D2-9929-952E33245884}"/>
              </a:ext>
            </a:extLst>
          </p:cNvPr>
          <p:cNvSpPr>
            <a:spLocks xmlns:a="http://schemas.openxmlformats.org/drawingml/2006/main" noGrp="1"/>
          </p:cNvSpPr>
          <p:nvPr/>
        </p:nvSpPr>
        <p:spPr>
          <a:xfrm xmlns:a="http://schemas.openxmlformats.org/drawingml/2006/main">
            <a:off x="685800" y="423862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Monitorstatus und Vorfälle</a:t>
            </a:r>
          </a:p>
        </p:txBody>
      </p:sp>
      <p:sp>
        <p:nvSpPr>
          <p:cNvPr id="11" name="body">
            <a:extLst xmlns:a="http://schemas.openxmlformats.org/drawingml/2006/main">
              <a:ext uri="{FF2B5EF4-FFF2-40B4-BE49-F238E27FC236}">
                <a16:creationId xmlns:a16="http://schemas.microsoft.com/office/drawing/2014/main" id="{2E6C0447-2EF3-407B-A8C3-EDE7D52BAB57}"/>
              </a:ext>
            </a:extLst>
          </p:cNvPr>
          <p:cNvSpPr>
            <a:spLocks xmlns:a="http://schemas.openxmlformats.org/drawingml/2006/main" noGrp="1"/>
          </p:cNvSpPr>
          <p:nvPr/>
        </p:nvSpPr>
        <p:spPr>
          <a:xfrm xmlns:a="http://schemas.openxmlformats.org/drawingml/2006/main">
            <a:off x="685800" y="47339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Inhalte &amp; FAQ</a:t>
            </a:r>
          </a:p>
        </p:txBody>
      </p:sp>
      <p:sp>
        <p:nvSpPr>
          <p:cNvPr id="12" name="body">
            <a:extLst xmlns:a="http://schemas.openxmlformats.org/drawingml/2006/main">
              <a:ext uri="{FF2B5EF4-FFF2-40B4-BE49-F238E27FC236}">
                <a16:creationId xmlns:a16="http://schemas.microsoft.com/office/drawing/2014/main" id="{C922D69B-B021-44F4-93BF-324F8244D2A9}"/>
              </a:ext>
            </a:extLst>
          </p:cNvPr>
          <p:cNvSpPr>
            <a:spLocks xmlns:a="http://schemas.openxmlformats.org/drawingml/2006/main" noGrp="1"/>
          </p:cNvSpPr>
          <p:nvPr/>
        </p:nvSpPr>
        <p:spPr>
          <a:xfrm xmlns:a="http://schemas.openxmlformats.org/drawingml/2006/main">
            <a:off x="685800" y="512445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Prozesse und Ticketvorlagen</a:t>
            </a:r>
          </a:p>
        </p:txBody>
      </p:sp>
      <p:sp>
        <p:nvSpPr>
          <p:cNvPr id="13" name="body">
            <a:extLst xmlns:a="http://schemas.openxmlformats.org/drawingml/2006/main">
              <a:ext uri="{FF2B5EF4-FFF2-40B4-BE49-F238E27FC236}">
                <a16:creationId xmlns:a16="http://schemas.microsoft.com/office/drawing/2014/main" id="{E7B5EBE4-54CD-48C6-9112-FDC9BA9DE373}"/>
              </a:ext>
            </a:extLst>
          </p:cNvPr>
          <p:cNvSpPr>
            <a:spLocks xmlns:a="http://schemas.openxmlformats.org/drawingml/2006/main" noGrp="1"/>
          </p:cNvSpPr>
          <p:nvPr/>
        </p:nvSpPr>
        <p:spPr>
          <a:xfrm xmlns:a="http://schemas.openxmlformats.org/drawingml/2006/main">
            <a:off x="6572250" y="20764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KI-Chat</a:t>
            </a:r>
          </a:p>
        </p:txBody>
      </p:sp>
      <p:sp>
        <p:nvSpPr>
          <p:cNvPr id="14" name="body">
            <a:extLst xmlns:a="http://schemas.openxmlformats.org/drawingml/2006/main">
              <a:ext uri="{FF2B5EF4-FFF2-40B4-BE49-F238E27FC236}">
                <a16:creationId xmlns:a16="http://schemas.microsoft.com/office/drawing/2014/main" id="{8ED1BC71-433C-495B-A4E4-9FDF22EC0F87}"/>
              </a:ext>
            </a:extLst>
          </p:cNvPr>
          <p:cNvSpPr>
            <a:spLocks xmlns:a="http://schemas.openxmlformats.org/drawingml/2006/main" noGrp="1"/>
          </p:cNvSpPr>
          <p:nvPr/>
        </p:nvSpPr>
        <p:spPr>
          <a:xfrm xmlns:a="http://schemas.openxmlformats.org/drawingml/2006/main">
            <a:off x="6572250" y="246697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Antworten aus Portalwissen und Live-Quellen</a:t>
            </a:r>
          </a:p>
        </p:txBody>
      </p:sp>
      <p:sp>
        <p:nvSpPr>
          <p:cNvPr id="15" name="body">
            <a:extLst xmlns:a="http://schemas.openxmlformats.org/drawingml/2006/main">
              <a:ext uri="{FF2B5EF4-FFF2-40B4-BE49-F238E27FC236}">
                <a16:creationId xmlns:a16="http://schemas.microsoft.com/office/drawing/2014/main" id="{FD0FFC79-1FC1-4FA4-A847-9AAA23DD8624}"/>
              </a:ext>
            </a:extLst>
          </p:cNvPr>
          <p:cNvSpPr>
            <a:spLocks xmlns:a="http://schemas.openxmlformats.org/drawingml/2006/main" noGrp="1"/>
          </p:cNvSpPr>
          <p:nvPr/>
        </p:nvSpPr>
        <p:spPr>
          <a:xfrm xmlns:a="http://schemas.openxmlformats.org/drawingml/2006/main">
            <a:off x="6572250" y="296227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Microsoft Teams</a:t>
            </a:r>
          </a:p>
        </p:txBody>
      </p:sp>
      <p:sp>
        <p:nvSpPr>
          <p:cNvPr id="16" name="body">
            <a:extLst xmlns:a="http://schemas.openxmlformats.org/drawingml/2006/main">
              <a:ext uri="{FF2B5EF4-FFF2-40B4-BE49-F238E27FC236}">
                <a16:creationId xmlns:a16="http://schemas.microsoft.com/office/drawing/2014/main" id="{D0379D79-C737-4847-AB9D-EF50E35D8792}"/>
              </a:ext>
            </a:extLst>
          </p:cNvPr>
          <p:cNvSpPr>
            <a:spLocks xmlns:a="http://schemas.openxmlformats.org/drawingml/2006/main" noGrp="1"/>
          </p:cNvSpPr>
          <p:nvPr/>
        </p:nvSpPr>
        <p:spPr>
          <a:xfrm xmlns:a="http://schemas.openxmlformats.org/drawingml/2006/main">
            <a:off x="6572250" y="335280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Menschlicher Support im Channel-Thread</a:t>
            </a:r>
          </a:p>
        </p:txBody>
      </p:sp>
      <p:sp>
        <p:nvSpPr>
          <p:cNvPr id="17" name="body">
            <a:extLst xmlns:a="http://schemas.openxmlformats.org/drawingml/2006/main">
              <a:ext uri="{FF2B5EF4-FFF2-40B4-BE49-F238E27FC236}">
                <a16:creationId xmlns:a16="http://schemas.microsoft.com/office/drawing/2014/main" id="{BF7009A4-74D4-44FE-BCBE-815DDFF84FE3}"/>
              </a:ext>
            </a:extLst>
          </p:cNvPr>
          <p:cNvSpPr>
            <a:spLocks xmlns:a="http://schemas.openxmlformats.org/drawingml/2006/main" noGrp="1"/>
          </p:cNvSpPr>
          <p:nvPr/>
        </p:nvSpPr>
        <p:spPr>
          <a:xfrm xmlns:a="http://schemas.openxmlformats.org/drawingml/2006/main">
            <a:off x="6572250" y="384810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Slack</a:t>
            </a:r>
          </a:p>
        </p:txBody>
      </p:sp>
      <p:sp>
        <p:nvSpPr>
          <p:cNvPr id="18" name="body">
            <a:extLst xmlns:a="http://schemas.openxmlformats.org/drawingml/2006/main">
              <a:ext uri="{FF2B5EF4-FFF2-40B4-BE49-F238E27FC236}">
                <a16:creationId xmlns:a16="http://schemas.microsoft.com/office/drawing/2014/main" id="{42D9074C-BBF5-42F9-8A12-9BB430DF54F4}"/>
              </a:ext>
            </a:extLst>
          </p:cNvPr>
          <p:cNvSpPr>
            <a:spLocks xmlns:a="http://schemas.openxmlformats.org/drawingml/2006/main" noGrp="1"/>
          </p:cNvSpPr>
          <p:nvPr/>
        </p:nvSpPr>
        <p:spPr>
          <a:xfrm xmlns:a="http://schemas.openxmlformats.org/drawingml/2006/main">
            <a:off x="6572250" y="423862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Übernahme im Support-Channel</a:t>
            </a:r>
          </a:p>
        </p:txBody>
      </p:sp>
      <p:sp>
        <p:nvSpPr>
          <p:cNvPr id="19" name="body">
            <a:extLst xmlns:a="http://schemas.openxmlformats.org/drawingml/2006/main">
              <a:ext uri="{FF2B5EF4-FFF2-40B4-BE49-F238E27FC236}">
                <a16:creationId xmlns:a16="http://schemas.microsoft.com/office/drawing/2014/main" id="{DEBF554C-2B5B-43EF-B49B-E2DE9C7DF744}"/>
              </a:ext>
            </a:extLst>
          </p:cNvPr>
          <p:cNvSpPr>
            <a:spLocks xmlns:a="http://schemas.openxmlformats.org/drawingml/2006/main" noGrp="1"/>
          </p:cNvSpPr>
          <p:nvPr/>
        </p:nvSpPr>
        <p:spPr>
          <a:xfrm xmlns:a="http://schemas.openxmlformats.org/drawingml/2006/main">
            <a:off x="6572250" y="47339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defRPr sz="2175" b="1">
                <a:solidFill>
                  <a:srgbClr val="006B64"/>
                </a:solidFill>
                <a:latin typeface="Arial"/>
                <a:ea typeface="Arial"/>
                <a:cs typeface="Arial"/>
              </a:defRPr>
            </a:pPr>
            <a:r>
              <a:rPr sz="2175" b="1">
                <a:solidFill>
                  <a:srgbClr val="006B64"/>
                </a:solidFill>
                <a:latin typeface="Arial"/>
                <a:ea typeface="Arial"/>
                <a:cs typeface="Arial"/>
              </a:rPr>
              <a:t>Telegram</a:t>
            </a:r>
          </a:p>
        </p:txBody>
      </p:sp>
      <p:sp>
        <p:nvSpPr>
          <p:cNvPr id="20" name="body">
            <a:extLst xmlns:a="http://schemas.openxmlformats.org/drawingml/2006/main">
              <a:ext uri="{FF2B5EF4-FFF2-40B4-BE49-F238E27FC236}">
                <a16:creationId xmlns:a16="http://schemas.microsoft.com/office/drawing/2014/main" id="{FE0FB544-6223-4467-98B0-AC162C4F7960}"/>
              </a:ext>
            </a:extLst>
          </p:cNvPr>
          <p:cNvSpPr>
            <a:spLocks xmlns:a="http://schemas.openxmlformats.org/drawingml/2006/main" noGrp="1"/>
          </p:cNvSpPr>
          <p:nvPr/>
        </p:nvSpPr>
        <p:spPr>
          <a:xfrm xmlns:a="http://schemas.openxmlformats.org/drawingml/2006/main">
            <a:off x="6572250" y="512445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defRPr sz="1725" b="0">
                <a:solidFill>
                  <a:srgbClr val="102A2A"/>
                </a:solidFill>
                <a:latin typeface="Arial"/>
                <a:ea typeface="Arial"/>
                <a:cs typeface="Arial"/>
              </a:defRPr>
            </a:pPr>
            <a:r>
              <a:rPr sz="1725" b="0">
                <a:solidFill>
                  <a:srgbClr val="102A2A"/>
                </a:solidFill>
                <a:latin typeface="Arial"/>
                <a:ea typeface="Arial"/>
                <a:cs typeface="Arial"/>
              </a:rPr>
              <a:t>Ein Forum-Thema je Gespräch</a:t>
            </a:r>
          </a:p>
        </p:txBody>
      </p:sp>
      <p:sp>
        <p:nvSpPr>
          <p:cNvPr id="21" name="body">
            <a:extLst xmlns:a="http://schemas.openxmlformats.org/drawingml/2006/main">
              <a:ext uri="{FF2B5EF4-FFF2-40B4-BE49-F238E27FC236}">
                <a16:creationId xmlns:a16="http://schemas.microsoft.com/office/drawing/2014/main" id="{A7906CDC-EABF-4B62-AD4A-5EB52F431FEE}"/>
              </a:ext>
            </a:extLst>
          </p:cNvPr>
          <p:cNvSpPr>
            <a:spLocks xmlns:a="http://schemas.openxmlformats.org/drawingml/2006/main" noGrp="1"/>
          </p:cNvSpPr>
          <p:nvPr/>
        </p:nvSpPr>
        <p:spPr>
          <a:xfrm xmlns:a="http://schemas.openxmlformats.org/drawingml/2006/main">
            <a:off x="685800" y="59150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Provider-Zugänge und Live-Anbindungen prüfen wir im Kundenprojekt.</a:t>
            </a:r>
          </a:p>
        </p:txBody>
      </p:sp>
    </p:spTree>
    <p:extLst>
      <p:ext uri="{BB962C8B-B14F-4D97-AF65-F5344CB8AC3E}">
        <p14:creationId xmlns:p14="http://schemas.microsoft.com/office/powerpoint/2010/main" val="1753115893"/>
      </p:ext>
    </p:extLst>
  </p:cSld>
</p:sld>
</file>

<file path=ppt/slides/slide7.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DAE1659A-B583-49EB-89F8-08F070CDCEE5}"/>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defRPr sz="1275" b="1">
                <a:solidFill>
                  <a:srgbClr val="D5F36B"/>
                </a:solidFill>
                <a:latin typeface="Arial"/>
                <a:ea typeface="Arial"/>
                <a:cs typeface="Arial"/>
              </a:defRPr>
            </a:pPr>
            <a:r>
              <a:rPr sz="1275" b="1">
                <a:solidFill>
                  <a:srgbClr val="D5F36B"/>
                </a:solidFill>
                <a:latin typeface="Arial"/>
                <a:ea typeface="Arial"/>
                <a:cs typeface="Arial"/>
              </a:rPr>
              <a:t>GESCHÄFTSMODELL</a:t>
            </a:r>
          </a:p>
        </p:txBody>
      </p:sp>
      <p:sp>
        <p:nvSpPr>
          <p:cNvPr id="2" name="slide-title">
            <a:extLst xmlns:a="http://schemas.openxmlformats.org/drawingml/2006/main">
              <a:ext uri="{FF2B5EF4-FFF2-40B4-BE49-F238E27FC236}">
                <a16:creationId xmlns:a16="http://schemas.microsoft.com/office/drawing/2014/main" id="{D0A54664-93BE-40CE-AB5C-F92BEB75F010}"/>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defRPr sz="3600" b="1">
                <a:solidFill>
                  <a:srgbClr val="F7FAF9"/>
                </a:solidFill>
                <a:latin typeface="Arial"/>
                <a:ea typeface="Arial"/>
                <a:cs typeface="Arial"/>
              </a:defRPr>
            </a:pPr>
            <a:r>
              <a:rPr sz="3600" b="1">
                <a:solidFill>
                  <a:srgbClr val="F7FAF9"/>
                </a:solidFill>
                <a:latin typeface="Arial"/>
                <a:ea typeface="Arial"/>
                <a:cs typeface="Arial"/>
              </a:rPr>
              <a:t>Open Source mit Projektangebot</a:t>
            </a:r>
          </a:p>
        </p:txBody>
      </p:sp>
      <p:sp>
        <p:nvSpPr>
          <p:cNvPr id="3" name="footer">
            <a:extLst xmlns:a="http://schemas.openxmlformats.org/drawingml/2006/main">
              <a:ext uri="{FF2B5EF4-FFF2-40B4-BE49-F238E27FC236}">
                <a16:creationId xmlns:a16="http://schemas.microsoft.com/office/drawing/2014/main" id="{34022E7C-3C96-42D2-87A7-80767753EA0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C9F7480-1430-4EB0-ACC8-928D180138F0}"/>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07</a:t>
            </a:r>
          </a:p>
        </p:txBody>
      </p:sp>
      <p:sp>
        <p:nvSpPr>
          <p:cNvPr id="5" name="body">
            <a:extLst xmlns:a="http://schemas.openxmlformats.org/drawingml/2006/main">
              <a:ext uri="{FF2B5EF4-FFF2-40B4-BE49-F238E27FC236}">
                <a16:creationId xmlns:a16="http://schemas.microsoft.com/office/drawing/2014/main" id="{0A0F1527-96C9-474A-8BBA-A52F974FB194}"/>
              </a:ext>
            </a:extLst>
          </p:cNvPr>
          <p:cNvSpPr>
            <a:spLocks xmlns:a="http://schemas.openxmlformats.org/drawingml/2006/main" noGrp="1"/>
          </p:cNvSpPr>
          <p:nvPr/>
        </p:nvSpPr>
        <p:spPr>
          <a:xfrm xmlns:a="http://schemas.openxmlformats.org/drawingml/2006/main">
            <a:off x="685800" y="22860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D5F36B"/>
                </a:solidFill>
                <a:latin typeface="Arial"/>
                <a:ea typeface="Arial"/>
                <a:cs typeface="Arial"/>
              </a:defRPr>
            </a:defPPr>
          </a:lstStyle>
          <a:p xmlns:a="http://schemas.openxmlformats.org/drawingml/2006/main">
            <a:pPr>
              <a:defRPr sz="2325" b="1">
                <a:solidFill>
                  <a:srgbClr val="D5F36B"/>
                </a:solidFill>
                <a:latin typeface="Arial"/>
                <a:ea typeface="Arial"/>
                <a:cs typeface="Arial"/>
              </a:defRPr>
            </a:pPr>
            <a:r>
              <a:rPr sz="2325" b="1">
                <a:solidFill>
                  <a:srgbClr val="D5F36B"/>
                </a:solidFill>
                <a:latin typeface="Arial"/>
                <a:ea typeface="Arial"/>
                <a:cs typeface="Arial"/>
              </a:rPr>
              <a:t>Das Produkt</a:t>
            </a:r>
          </a:p>
        </p:txBody>
      </p:sp>
      <p:sp>
        <p:nvSpPr>
          <p:cNvPr id="6" name="body">
            <a:extLst xmlns:a="http://schemas.openxmlformats.org/drawingml/2006/main">
              <a:ext uri="{FF2B5EF4-FFF2-40B4-BE49-F238E27FC236}">
                <a16:creationId xmlns:a16="http://schemas.microsoft.com/office/drawing/2014/main" id="{866ED4EA-1645-4967-9205-7CB7A2D119D5}"/>
              </a:ext>
            </a:extLst>
          </p:cNvPr>
          <p:cNvSpPr>
            <a:spLocks xmlns:a="http://schemas.openxmlformats.org/drawingml/2006/main" noGrp="1"/>
          </p:cNvSpPr>
          <p:nvPr/>
        </p:nvSpPr>
        <p:spPr>
          <a:xfrm xmlns:a="http://schemas.openxmlformats.org/drawingml/2006/main">
            <a:off x="685800" y="2828925"/>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7FAF9"/>
                </a:solidFill>
                <a:latin typeface="Arial"/>
                <a:ea typeface="Arial"/>
                <a:cs typeface="Arial"/>
              </a:defRPr>
            </a:defPPr>
          </a:lstStyle>
          <a:p xmlns:a="http://schemas.openxmlformats.org/drawingml/2006/main">
            <a:pPr>
              <a:defRPr sz="2025" b="0">
                <a:solidFill>
                  <a:srgbClr val="F7FAF9"/>
                </a:solidFill>
                <a:latin typeface="Arial"/>
                <a:ea typeface="Arial"/>
                <a:cs typeface="Arial"/>
              </a:defRPr>
            </a:pPr>
            <a:r>
              <a:rPr sz="2025" b="0">
                <a:solidFill>
                  <a:srgbClr val="F7FAF9"/>
                </a:solidFill>
                <a:latin typeface="Arial"/>
                <a:ea typeface="Arial"/>
                <a:cs typeface="Arial"/>
              </a:rPr>
              <a:t>CSP ist Open Source unter MIT.</a:t>
            </a:r>
          </a:p>
          <a:p xmlns:a="http://schemas.openxmlformats.org/drawingml/2006/main">
            <a:pPr>
              <a:defRPr sz="2025" b="0">
                <a:solidFill>
                  <a:srgbClr val="F7FAF9"/>
                </a:solidFill>
                <a:latin typeface="Arial"/>
                <a:ea typeface="Arial"/>
                <a:cs typeface="Arial"/>
              </a:defRPr>
            </a:pPr>
            <a:r>
              <a:rPr sz="2025" b="0">
                <a:solidFill>
                  <a:srgbClr val="F7FAF9"/>
                </a:solidFill>
                <a:latin typeface="Arial"/>
                <a:ea typeface="Arial"/>
                <a:cs typeface="Arial"/>
              </a:rPr>
              <a:t>Sie behalten Zugang zum Code</a:t>
            </a:r>
          </a:p>
          <a:p xmlns:a="http://schemas.openxmlformats.org/drawingml/2006/main">
            <a:pPr>
              <a:defRPr sz="2025" b="0">
                <a:solidFill>
                  <a:srgbClr val="F7FAF9"/>
                </a:solidFill>
                <a:latin typeface="Arial"/>
                <a:ea typeface="Arial"/>
                <a:cs typeface="Arial"/>
              </a:defRPr>
            </a:pPr>
            <a:r>
              <a:rPr sz="2025" b="0">
                <a:solidFill>
                  <a:srgbClr val="F7FAF9"/>
                </a:solidFill>
                <a:latin typeface="Arial"/>
                <a:ea typeface="Arial"/>
                <a:cs typeface="Arial"/>
              </a:rPr>
              <a:t>und können selbst weiterentwickeln.</a:t>
            </a:r>
          </a:p>
        </p:txBody>
      </p:sp>
      <p:sp>
        <p:nvSpPr>
          <p:cNvPr id="7" name="body">
            <a:extLst xmlns:a="http://schemas.openxmlformats.org/drawingml/2006/main">
              <a:ext uri="{FF2B5EF4-FFF2-40B4-BE49-F238E27FC236}">
                <a16:creationId xmlns:a16="http://schemas.microsoft.com/office/drawing/2014/main" id="{B7E8D89E-F96F-4B19-BAFA-71DC00C3C885}"/>
              </a:ext>
            </a:extLst>
          </p:cNvPr>
          <p:cNvSpPr>
            <a:spLocks xmlns:a="http://schemas.openxmlformats.org/drawingml/2006/main" noGrp="1"/>
          </p:cNvSpPr>
          <p:nvPr/>
        </p:nvSpPr>
        <p:spPr>
          <a:xfrm xmlns:a="http://schemas.openxmlformats.org/drawingml/2006/main">
            <a:off x="6572250" y="22860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D5F36B"/>
                </a:solidFill>
                <a:latin typeface="Arial"/>
                <a:ea typeface="Arial"/>
                <a:cs typeface="Arial"/>
              </a:defRPr>
            </a:defPPr>
          </a:lstStyle>
          <a:p xmlns:a="http://schemas.openxmlformats.org/drawingml/2006/main">
            <a:pPr>
              <a:defRPr sz="2325" b="1">
                <a:solidFill>
                  <a:srgbClr val="D5F36B"/>
                </a:solidFill>
                <a:latin typeface="Arial"/>
                <a:ea typeface="Arial"/>
                <a:cs typeface="Arial"/>
              </a:defRPr>
            </a:pPr>
            <a:r>
              <a:rPr sz="2325" b="1">
                <a:solidFill>
                  <a:srgbClr val="D5F36B"/>
                </a:solidFill>
                <a:latin typeface="Arial"/>
                <a:ea typeface="Arial"/>
                <a:cs typeface="Arial"/>
              </a:rPr>
              <a:t>Das Projekt</a:t>
            </a:r>
          </a:p>
        </p:txBody>
      </p:sp>
      <p:sp>
        <p:nvSpPr>
          <p:cNvPr id="8" name="body">
            <a:extLst xmlns:a="http://schemas.openxmlformats.org/drawingml/2006/main">
              <a:ext uri="{FF2B5EF4-FFF2-40B4-BE49-F238E27FC236}">
                <a16:creationId xmlns:a16="http://schemas.microsoft.com/office/drawing/2014/main" id="{69725721-EE7B-4B86-9D6B-6CA12FA6E59D}"/>
              </a:ext>
            </a:extLst>
          </p:cNvPr>
          <p:cNvSpPr>
            <a:spLocks xmlns:a="http://schemas.openxmlformats.org/drawingml/2006/main" noGrp="1"/>
          </p:cNvSpPr>
          <p:nvPr/>
        </p:nvSpPr>
        <p:spPr>
          <a:xfrm xmlns:a="http://schemas.openxmlformats.org/drawingml/2006/main">
            <a:off x="6572250" y="2828925"/>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7FAF9"/>
                </a:solidFill>
                <a:latin typeface="Arial"/>
                <a:ea typeface="Arial"/>
                <a:cs typeface="Arial"/>
              </a:defRPr>
            </a:defPPr>
          </a:lstStyle>
          <a:p xmlns:a="http://schemas.openxmlformats.org/drawingml/2006/main">
            <a:pPr>
              <a:defRPr sz="2025" b="0">
                <a:solidFill>
                  <a:srgbClr val="F7FAF9"/>
                </a:solidFill>
                <a:latin typeface="Arial"/>
                <a:ea typeface="Arial"/>
                <a:cs typeface="Arial"/>
              </a:defRPr>
            </a:pPr>
            <a:r>
              <a:rPr sz="2025" b="0">
                <a:solidFill>
                  <a:srgbClr val="F7FAF9"/>
                </a:solidFill>
                <a:latin typeface="Arial"/>
                <a:ea typeface="Arial"/>
                <a:cs typeface="Arial"/>
              </a:rPr>
              <a:t>kieks.me richtet Ihr Portal ein</a:t>
            </a:r>
          </a:p>
          <a:p xmlns:a="http://schemas.openxmlformats.org/drawingml/2006/main">
            <a:pPr>
              <a:defRPr sz="2025" b="0">
                <a:solidFill>
                  <a:srgbClr val="F7FAF9"/>
                </a:solidFill>
                <a:latin typeface="Arial"/>
                <a:ea typeface="Arial"/>
                <a:cs typeface="Arial"/>
              </a:defRPr>
            </a:pPr>
            <a:r>
              <a:rPr sz="2025" b="0">
                <a:solidFill>
                  <a:srgbClr val="F7FAF9"/>
                </a:solidFill>
                <a:latin typeface="Arial"/>
                <a:ea typeface="Arial"/>
                <a:cs typeface="Arial"/>
              </a:rPr>
              <a:t>und integriert es in Ihre Systeme.</a:t>
            </a:r>
          </a:p>
          <a:p xmlns:a="http://schemas.openxmlformats.org/drawingml/2006/main">
            <a:pPr>
              <a:defRPr sz="2025" b="0">
                <a:solidFill>
                  <a:srgbClr val="F7FAF9"/>
                </a:solidFill>
                <a:latin typeface="Arial"/>
                <a:ea typeface="Arial"/>
                <a:cs typeface="Arial"/>
              </a:defRPr>
            </a:pPr>
            <a:r>
              <a:rPr sz="2025" b="0">
                <a:solidFill>
                  <a:srgbClr val="F7FAF9"/>
                </a:solidFill>
                <a:latin typeface="Arial"/>
                <a:ea typeface="Arial"/>
                <a:cs typeface="Arial"/>
              </a:rPr>
              <a:t>Die Übergabe gehört zum Angebot.</a:t>
            </a:r>
          </a:p>
        </p:txBody>
      </p:sp>
      <p:sp>
        <p:nvSpPr>
          <p:cNvPr id="9" name="body">
            <a:extLst xmlns:a="http://schemas.openxmlformats.org/drawingml/2006/main">
              <a:ext uri="{FF2B5EF4-FFF2-40B4-BE49-F238E27FC236}">
                <a16:creationId xmlns:a16="http://schemas.microsoft.com/office/drawing/2014/main" id="{A8938441-D2A7-4B5C-9882-889F502128D7}"/>
              </a:ext>
            </a:extLst>
          </p:cNvPr>
          <p:cNvSpPr>
            <a:spLocks xmlns:a="http://schemas.openxmlformats.org/drawingml/2006/main" noGrp="1"/>
          </p:cNvSpPr>
          <p:nvPr/>
        </p:nvSpPr>
        <p:spPr>
          <a:xfrm xmlns:a="http://schemas.openxmlformats.org/drawingml/2006/main">
            <a:off x="685800" y="47815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D5F36B"/>
                </a:solidFill>
                <a:latin typeface="Arial"/>
                <a:ea typeface="Arial"/>
                <a:cs typeface="Arial"/>
              </a:defRPr>
            </a:defPPr>
          </a:lstStyle>
          <a:p xmlns:a="http://schemas.openxmlformats.org/drawingml/2006/main">
            <a:pPr>
              <a:defRPr sz="3075" b="1">
                <a:solidFill>
                  <a:srgbClr val="D5F36B"/>
                </a:solidFill>
                <a:latin typeface="Arial"/>
                <a:ea typeface="Arial"/>
                <a:cs typeface="Arial"/>
              </a:defRPr>
            </a:pPr>
            <a:r>
              <a:rPr sz="3075" b="1">
                <a:solidFill>
                  <a:srgbClr val="D5F36B"/>
                </a:solidFill>
                <a:latin typeface="Arial"/>
                <a:ea typeface="Arial"/>
                <a:cs typeface="Arial"/>
              </a:rPr>
              <a:t>Keine CSP-Lizenzgebühr.</a:t>
            </a:r>
          </a:p>
          <a:p xmlns:a="http://schemas.openxmlformats.org/drawingml/2006/main">
            <a:pPr>
              <a:defRPr sz="3075" b="1">
                <a:solidFill>
                  <a:srgbClr val="D5F36B"/>
                </a:solidFill>
                <a:latin typeface="Arial"/>
                <a:ea typeface="Arial"/>
                <a:cs typeface="Arial"/>
              </a:defRPr>
            </a:pPr>
            <a:r>
              <a:rPr sz="3075" b="1">
                <a:solidFill>
                  <a:srgbClr val="D5F36B"/>
                </a:solidFill>
                <a:latin typeface="Arial"/>
                <a:ea typeface="Arial"/>
                <a:cs typeface="Arial"/>
              </a:rPr>
              <a:t>Kein verpflichtendes CSP-Abonnement.</a:t>
            </a:r>
          </a:p>
        </p:txBody>
      </p:sp>
    </p:spTree>
    <p:extLst>
      <p:ext uri="{BB962C8B-B14F-4D97-AF65-F5344CB8AC3E}">
        <p14:creationId xmlns:p14="http://schemas.microsoft.com/office/powerpoint/2010/main" val="1736793590"/>
      </p:ext>
    </p:extLst>
  </p:cSld>
</p:sld>
</file>

<file path=ppt/slides/slide8.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20D1C0A1-7012-4CFA-857C-302DD4ED8257}"/>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KOSTEN UND LEISTUNGSUMFANG</a:t>
            </a:r>
          </a:p>
        </p:txBody>
      </p:sp>
      <p:sp>
        <p:nvSpPr>
          <p:cNvPr id="2" name="slide-title">
            <a:extLst xmlns:a="http://schemas.openxmlformats.org/drawingml/2006/main">
              <a:ext uri="{FF2B5EF4-FFF2-40B4-BE49-F238E27FC236}">
                <a16:creationId xmlns:a16="http://schemas.microsoft.com/office/drawing/2014/main" id="{6DC3476E-5C61-48F0-A176-C43E857CE151}"/>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Ein transparentes Projektangebot</a:t>
            </a:r>
          </a:p>
        </p:txBody>
      </p:sp>
      <p:sp>
        <p:nvSpPr>
          <p:cNvPr id="3" name="footer">
            <a:extLst xmlns:a="http://schemas.openxmlformats.org/drawingml/2006/main">
              <a:ext uri="{FF2B5EF4-FFF2-40B4-BE49-F238E27FC236}">
                <a16:creationId xmlns:a16="http://schemas.microsoft.com/office/drawing/2014/main" id="{1ED92ADA-02FD-4BA9-90FA-065B1129A3B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7850E0CA-47D9-4786-9D16-ABC978ED31C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08</a:t>
            </a:r>
          </a:p>
        </p:txBody>
      </p:sp>
      <p:sp>
        <p:nvSpPr>
          <p:cNvPr id="5" name="body">
            <a:extLst xmlns:a="http://schemas.openxmlformats.org/drawingml/2006/main">
              <a:ext uri="{FF2B5EF4-FFF2-40B4-BE49-F238E27FC236}">
                <a16:creationId xmlns:a16="http://schemas.microsoft.com/office/drawing/2014/main" id="{BCA5AEDE-13D4-4239-B479-7E8281F268B8}"/>
              </a:ext>
            </a:extLst>
          </p:cNvPr>
          <p:cNvSpPr>
            <a:spLocks xmlns:a="http://schemas.openxmlformats.org/drawingml/2006/main" noGrp="1"/>
          </p:cNvSpPr>
          <p:nvPr/>
        </p:nvSpPr>
        <p:spPr>
          <a:xfrm xmlns:a="http://schemas.openxmlformats.org/drawingml/2006/main">
            <a:off x="685800" y="23336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Im vereinbarten Projekt</a:t>
            </a:r>
          </a:p>
        </p:txBody>
      </p:sp>
      <p:sp>
        <p:nvSpPr>
          <p:cNvPr id="6" name="body">
            <a:extLst xmlns:a="http://schemas.openxmlformats.org/drawingml/2006/main">
              <a:ext uri="{FF2B5EF4-FFF2-40B4-BE49-F238E27FC236}">
                <a16:creationId xmlns:a16="http://schemas.microsoft.com/office/drawing/2014/main" id="{B6F51CBC-1D2B-420C-B3CB-97172A860D37}"/>
              </a:ext>
            </a:extLst>
          </p:cNvPr>
          <p:cNvSpPr>
            <a:spLocks xmlns:a="http://schemas.openxmlformats.org/drawingml/2006/main" noGrp="1"/>
          </p:cNvSpPr>
          <p:nvPr/>
        </p:nvSpPr>
        <p:spPr>
          <a:xfrm xmlns:a="http://schemas.openxmlformats.org/drawingml/2006/main">
            <a:off x="685800" y="2876550"/>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Einrichtung und Branding</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Integration der ausgewählten Plugins</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Tests, Dokumentation und Übergabe</a:t>
            </a:r>
          </a:p>
        </p:txBody>
      </p:sp>
      <p:sp>
        <p:nvSpPr>
          <p:cNvPr id="7" name="body">
            <a:extLst xmlns:a="http://schemas.openxmlformats.org/drawingml/2006/main">
              <a:ext uri="{FF2B5EF4-FFF2-40B4-BE49-F238E27FC236}">
                <a16:creationId xmlns:a16="http://schemas.microsoft.com/office/drawing/2014/main" id="{874B5846-48AD-44D5-B513-42CC48ADB46C}"/>
              </a:ext>
            </a:extLst>
          </p:cNvPr>
          <p:cNvSpPr>
            <a:spLocks xmlns:a="http://schemas.openxmlformats.org/drawingml/2006/main" noGrp="1"/>
          </p:cNvSpPr>
          <p:nvPr/>
        </p:nvSpPr>
        <p:spPr>
          <a:xfrm xmlns:a="http://schemas.openxmlformats.org/drawingml/2006/main">
            <a:off x="6572250" y="23336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Separat offengelegt</a:t>
            </a:r>
          </a:p>
        </p:txBody>
      </p:sp>
      <p:sp>
        <p:nvSpPr>
          <p:cNvPr id="8" name="body">
            <a:extLst xmlns:a="http://schemas.openxmlformats.org/drawingml/2006/main">
              <a:ext uri="{FF2B5EF4-FFF2-40B4-BE49-F238E27FC236}">
                <a16:creationId xmlns:a16="http://schemas.microsoft.com/office/drawing/2014/main" id="{0B021878-F9B9-44DE-9F90-ABD25BEA545B}"/>
              </a:ext>
            </a:extLst>
          </p:cNvPr>
          <p:cNvSpPr>
            <a:spLocks xmlns:a="http://schemas.openxmlformats.org/drawingml/2006/main" noGrp="1"/>
          </p:cNvSpPr>
          <p:nvPr/>
        </p:nvSpPr>
        <p:spPr>
          <a:xfrm xmlns:a="http://schemas.openxmlformats.org/drawingml/2006/main">
            <a:off x="6572250" y="2876550"/>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Hosting und Betrieb</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KI-Modelle oder API-Nutzung</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Lizenzen externer Anbieter</a:t>
            </a:r>
          </a:p>
        </p:txBody>
      </p:sp>
      <p:sp>
        <p:nvSpPr>
          <p:cNvPr id="9" name="body">
            <a:extLst xmlns:a="http://schemas.openxmlformats.org/drawingml/2006/main">
              <a:ext uri="{FF2B5EF4-FFF2-40B4-BE49-F238E27FC236}">
                <a16:creationId xmlns:a16="http://schemas.microsoft.com/office/drawing/2014/main" id="{082417A3-56A5-4CF4-A0CF-1A9B325BEF8F}"/>
              </a:ext>
            </a:extLst>
          </p:cNvPr>
          <p:cNvSpPr>
            <a:spLocks xmlns:a="http://schemas.openxmlformats.org/drawingml/2006/main" noGrp="1"/>
          </p:cNvSpPr>
          <p:nvPr/>
        </p:nvSpPr>
        <p:spPr>
          <a:xfrm xmlns:a="http://schemas.openxmlformats.org/drawingml/2006/main">
            <a:off x="685800" y="47053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6B64"/>
                </a:solidFill>
                <a:latin typeface="Arial"/>
                <a:ea typeface="Arial"/>
                <a:cs typeface="Arial"/>
              </a:defRPr>
            </a:defPPr>
          </a:lstStyle>
          <a:p xmlns:a="http://schemas.openxmlformats.org/drawingml/2006/main">
            <a:pPr>
              <a:defRPr sz="2700" b="1">
                <a:solidFill>
                  <a:srgbClr val="006B64"/>
                </a:solidFill>
                <a:latin typeface="Arial"/>
                <a:ea typeface="Arial"/>
                <a:cs typeface="Arial"/>
              </a:defRPr>
            </a:pPr>
            <a:r>
              <a:rPr sz="2700" b="1">
                <a:solidFill>
                  <a:srgbClr val="006B64"/>
                </a:solidFill>
                <a:latin typeface="Arial"/>
                <a:ea typeface="Arial"/>
                <a:cs typeface="Arial"/>
              </a:rPr>
              <a:t>Umfang und Fremdkosten sind vor dem Start klar.</a:t>
            </a:r>
          </a:p>
        </p:txBody>
      </p:sp>
      <p:sp>
        <p:nvSpPr>
          <p:cNvPr id="10" name="body">
            <a:extLst xmlns:a="http://schemas.openxmlformats.org/drawingml/2006/main">
              <a:ext uri="{FF2B5EF4-FFF2-40B4-BE49-F238E27FC236}">
                <a16:creationId xmlns:a16="http://schemas.microsoft.com/office/drawing/2014/main" id="{B71E958A-6901-45D5-BE5F-B3C05C4CAF64}"/>
              </a:ext>
            </a:extLst>
          </p:cNvPr>
          <p:cNvSpPr>
            <a:spLocks xmlns:a="http://schemas.openxmlformats.org/drawingml/2006/main" noGrp="1"/>
          </p:cNvSpPr>
          <p:nvPr/>
        </p:nvSpPr>
        <p:spPr>
          <a:xfrm xmlns:a="http://schemas.openxmlformats.org/drawingml/2006/main">
            <a:off x="685800" y="55245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Weitere Unterstützung können Sie bei Bedarf beauftragen.</a:t>
            </a:r>
          </a:p>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Ihr Team kann das Portal auch selbst weiterentwickeln.</a:t>
            </a:r>
          </a:p>
        </p:txBody>
      </p:sp>
    </p:spTree>
    <p:extLst>
      <p:ext uri="{BB962C8B-B14F-4D97-AF65-F5344CB8AC3E}">
        <p14:creationId xmlns:p14="http://schemas.microsoft.com/office/powerpoint/2010/main" val="1765851340"/>
      </p:ext>
    </p:extLst>
  </p:cSld>
</p:sld>
</file>

<file path=ppt/slides/slide9.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CDE34397-6400-4A21-B2ED-2B3C5385FF8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ÜBERGABE UND CORPORATE IDENTITY</a:t>
            </a:r>
          </a:p>
        </p:txBody>
      </p:sp>
      <p:sp>
        <p:nvSpPr>
          <p:cNvPr id="2" name="slide-title">
            <a:extLst xmlns:a="http://schemas.openxmlformats.org/drawingml/2006/main">
              <a:ext uri="{FF2B5EF4-FFF2-40B4-BE49-F238E27FC236}">
                <a16:creationId xmlns:a16="http://schemas.microsoft.com/office/drawing/2014/main" id="{37324E6B-E4CA-4826-B7D1-4810C7F0E8F5}"/>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Ihr Team entwickelt selbst weiter</a:t>
            </a:r>
          </a:p>
        </p:txBody>
      </p:sp>
      <p:sp>
        <p:nvSpPr>
          <p:cNvPr id="3" name="footer">
            <a:extLst xmlns:a="http://schemas.openxmlformats.org/drawingml/2006/main">
              <a:ext uri="{FF2B5EF4-FFF2-40B4-BE49-F238E27FC236}">
                <a16:creationId xmlns:a16="http://schemas.microsoft.com/office/drawing/2014/main" id="{78EABA90-BF7C-4247-B944-E2B8EDA38E87}"/>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A4CB562C-623A-4284-8DA1-EEC9838EC829}"/>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09</a:t>
            </a:r>
          </a:p>
        </p:txBody>
      </p:sp>
      <p:sp>
        <p:nvSpPr>
          <p:cNvPr id="5" name="body">
            <a:extLst xmlns:a="http://schemas.openxmlformats.org/drawingml/2006/main">
              <a:ext uri="{FF2B5EF4-FFF2-40B4-BE49-F238E27FC236}">
                <a16:creationId xmlns:a16="http://schemas.microsoft.com/office/drawing/2014/main" id="{F44539E2-5479-4D2B-ABD7-0A855D85FB58}"/>
              </a:ext>
            </a:extLst>
          </p:cNvPr>
          <p:cNvSpPr>
            <a:spLocks xmlns:a="http://schemas.openxmlformats.org/drawingml/2006/main" noGrp="1"/>
          </p:cNvSpPr>
          <p:nvPr/>
        </p:nvSpPr>
        <p:spPr>
          <a:xfrm xmlns:a="http://schemas.openxmlformats.org/drawingml/2006/main">
            <a:off x="685800" y="2257425"/>
            <a:ext cx="476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A2A"/>
                </a:solidFill>
                <a:latin typeface="Arial"/>
                <a:ea typeface="Arial"/>
                <a:cs typeface="Arial"/>
              </a:defRPr>
            </a:defPPr>
          </a:lstStyle>
          <a:p xmlns:a="http://schemas.openxmlformats.org/drawingml/2006/main">
            <a:pPr>
              <a:defRPr sz="2400" b="1">
                <a:solidFill>
                  <a:srgbClr val="102A2A"/>
                </a:solidFill>
                <a:latin typeface="Arial"/>
                <a:ea typeface="Arial"/>
                <a:cs typeface="Arial"/>
              </a:defRPr>
            </a:pPr>
            <a:r>
              <a:rPr sz="2400" b="1">
                <a:solidFill>
                  <a:srgbClr val="102A2A"/>
                </a:solidFill>
                <a:latin typeface="Arial"/>
                <a:ea typeface="Arial"/>
                <a:cs typeface="Arial"/>
              </a:rPr>
              <a:t>Skills für Branding, Inhalte</a:t>
            </a:r>
          </a:p>
          <a:p xmlns:a="http://schemas.openxmlformats.org/drawingml/2006/main">
            <a:pPr>
              <a:defRPr sz="2400" b="1">
                <a:solidFill>
                  <a:srgbClr val="102A2A"/>
                </a:solidFill>
                <a:latin typeface="Arial"/>
                <a:ea typeface="Arial"/>
                <a:cs typeface="Arial"/>
              </a:defRPr>
            </a:pPr>
            <a:r>
              <a:rPr sz="2400" b="1">
                <a:solidFill>
                  <a:srgbClr val="102A2A"/>
                </a:solidFill>
                <a:latin typeface="Arial"/>
                <a:ea typeface="Arial"/>
                <a:cs typeface="Arial"/>
              </a:rPr>
              <a:t>und eigene Plugins begleiten</a:t>
            </a:r>
          </a:p>
          <a:p xmlns:a="http://schemas.openxmlformats.org/drawingml/2006/main">
            <a:pPr>
              <a:defRPr sz="2400" b="1">
                <a:solidFill>
                  <a:srgbClr val="102A2A"/>
                </a:solidFill>
                <a:latin typeface="Arial"/>
                <a:ea typeface="Arial"/>
                <a:cs typeface="Arial"/>
              </a:defRPr>
            </a:pPr>
            <a:r>
              <a:rPr sz="2400" b="1">
                <a:solidFill>
                  <a:srgbClr val="102A2A"/>
                </a:solidFill>
                <a:latin typeface="Arial"/>
                <a:ea typeface="Arial"/>
                <a:cs typeface="Arial"/>
              </a:rPr>
              <a:t>die Weiterentwicklung.</a:t>
            </a:r>
          </a:p>
        </p:txBody>
      </p:sp>
      <p:sp>
        <p:nvSpPr>
          <p:cNvPr id="6" name="body">
            <a:extLst xmlns:a="http://schemas.openxmlformats.org/drawingml/2006/main">
              <a:ext uri="{FF2B5EF4-FFF2-40B4-BE49-F238E27FC236}">
                <a16:creationId xmlns:a16="http://schemas.microsoft.com/office/drawing/2014/main" id="{DD886D10-696F-4204-96FB-27A9BCC0EE8D}"/>
              </a:ext>
            </a:extLst>
          </p:cNvPr>
          <p:cNvSpPr>
            <a:spLocks xmlns:a="http://schemas.openxmlformats.org/drawingml/2006/main" noGrp="1"/>
          </p:cNvSpPr>
          <p:nvPr/>
        </p:nvSpPr>
        <p:spPr>
          <a:xfrm xmlns:a="http://schemas.openxmlformats.org/drawingml/2006/main">
            <a:off x="685800" y="4010025"/>
            <a:ext cx="4762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63"/>
                </a:solidFill>
                <a:latin typeface="Arial"/>
                <a:ea typeface="Arial"/>
                <a:cs typeface="Arial"/>
              </a:defRPr>
            </a:defPPr>
          </a:lstStyle>
          <a:p xmlns:a="http://schemas.openxmlformats.org/drawingml/2006/main">
            <a:pPr>
              <a:defRPr sz="2100" b="0">
                <a:solidFill>
                  <a:srgbClr val="526763"/>
                </a:solidFill>
                <a:latin typeface="Arial"/>
                <a:ea typeface="Arial"/>
                <a:cs typeface="Arial"/>
              </a:defRPr>
            </a:pPr>
            <a:r>
              <a:rPr sz="2100" b="0">
                <a:solidFill>
                  <a:srgbClr val="526763"/>
                </a:solidFill>
                <a:latin typeface="Arial"/>
                <a:ea typeface="Arial"/>
                <a:cs typeface="Arial"/>
              </a:rPr>
              <a:t>Gemeinsame UI-Komponenten</a:t>
            </a:r>
          </a:p>
          <a:p xmlns:a="http://schemas.openxmlformats.org/drawingml/2006/main">
            <a:pPr>
              <a:defRPr sz="2100" b="0">
                <a:solidFill>
                  <a:srgbClr val="526763"/>
                </a:solidFill>
                <a:latin typeface="Arial"/>
                <a:ea typeface="Arial"/>
                <a:cs typeface="Arial"/>
              </a:defRPr>
            </a:pPr>
            <a:r>
              <a:rPr sz="2100" b="0">
                <a:solidFill>
                  <a:srgbClr val="526763"/>
                </a:solidFill>
                <a:latin typeface="Arial"/>
                <a:ea typeface="Arial"/>
                <a:cs typeface="Arial"/>
              </a:rPr>
              <a:t>und CI-Tokens halten Website</a:t>
            </a:r>
          </a:p>
          <a:p xmlns:a="http://schemas.openxmlformats.org/drawingml/2006/main">
            <a:pPr>
              <a:defRPr sz="2100" b="0">
                <a:solidFill>
                  <a:srgbClr val="526763"/>
                </a:solidFill>
                <a:latin typeface="Arial"/>
                <a:ea typeface="Arial"/>
                <a:cs typeface="Arial"/>
              </a:defRPr>
            </a:pPr>
            <a:r>
              <a:rPr sz="2100" b="0">
                <a:solidFill>
                  <a:srgbClr val="526763"/>
                </a:solidFill>
                <a:latin typeface="Arial"/>
                <a:ea typeface="Arial"/>
                <a:cs typeface="Arial"/>
              </a:rPr>
              <a:t>und Portal konsistent.</a:t>
            </a:r>
          </a:p>
        </p:txBody>
      </p:sp>
      <p:pic>
        <p:nvPicPr>
          <p:cNvPr id="7" name="">
            <a:extLst xmlns:a="http://schemas.openxmlformats.org/drawingml/2006/main">
              <a:ext uri="{FF2B5EF4-FFF2-40B4-BE49-F238E27FC236}">
                <a16:creationId xmlns:a16="http://schemas.microsoft.com/office/drawing/2014/main" id="{CF4232F2-6644-405B-9934-A5044F3ED0F8}"/>
              </a:ext>
            </a:extLst>
          </p:cNvPr>
          <p:cNvPicPr>
            <a:picLocks xmlns:a="http://schemas.openxmlformats.org/drawingml/2006/main" noChangeAspect="1"/>
          </p:cNvPicPr>
          <p:nvPr/>
        </p:nvPicPr>
        <p:blipFill>
          <a:blip xmlns:r="http://schemas.openxmlformats.org/officeDocument/2006/relationships" xmlns:a="http://schemas.openxmlformats.org/drawingml/2006/main" r:embed="R3c64f46453b54743"/>
          <a:stretch xmlns:a="http://schemas.openxmlformats.org/drawingml/2006/main"/>
        </p:blipFill>
        <p:spPr>
          <a:xfrm xmlns:a="http://schemas.openxmlformats.org/drawingml/2006/main">
            <a:off x="6019800" y="2105025"/>
            <a:ext cx="5486400" cy="381000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7CDEC86D-174B-4E5D-8034-E9505BD60258}"/>
              </a:ext>
            </a:extLst>
          </p:cNvPr>
          <p:cNvSpPr>
            <a:spLocks xmlns:a="http://schemas.openxmlformats.org/drawingml/2006/main" noGrp="1"/>
          </p:cNvSpPr>
          <p:nvPr/>
        </p:nvSpPr>
        <p:spPr>
          <a:xfrm xmlns:a="http://schemas.openxmlformats.org/drawingml/2006/main">
            <a:off x="6038850" y="5962650"/>
            <a:ext cx="542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B64"/>
                </a:solidFill>
                <a:latin typeface="Arial"/>
                <a:ea typeface="Arial"/>
                <a:cs typeface="Arial"/>
              </a:defRPr>
            </a:defPPr>
          </a:lstStyle>
          <a:p xmlns:a="http://schemas.openxmlformats.org/drawingml/2006/main">
            <a:pPr>
              <a:defRPr sz="1425" b="1">
                <a:solidFill>
                  <a:srgbClr val="006B64"/>
                </a:solidFill>
                <a:latin typeface="Arial"/>
                <a:ea typeface="Arial"/>
                <a:cs typeface="Arial"/>
              </a:defRPr>
            </a:pPr>
            <a:r>
              <a:rPr sz="1425" b="1">
                <a:solidFill>
                  <a:srgbClr val="006B64"/>
                </a:solidFill>
                <a:latin typeface="Arial"/>
                <a:ea typeface="Arial"/>
                <a:cs typeface="Arial"/>
              </a:rPr>
              <a:t>Gemeinsame Bibliothek: @kieksme/csp-ui</a:t>
            </a:r>
          </a:p>
        </p:txBody>
      </p:sp>
    </p:spTree>
    <p:extLst>
      <p:ext uri="{BB962C8B-B14F-4D97-AF65-F5344CB8AC3E}">
        <p14:creationId xmlns:p14="http://schemas.microsoft.com/office/powerpoint/2010/main" val="579980888"/>
      </p:ext>
    </p:extLst>
  </p:cSld>
</p:sld>
</file>

<file path=ppt/slides/slide10.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8BFD12A8-4C1E-454F-A346-2B03738EEC7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VORGEHEN</a:t>
            </a:r>
          </a:p>
        </p:txBody>
      </p:sp>
      <p:sp>
        <p:nvSpPr>
          <p:cNvPr id="2" name="slide-title">
            <a:extLst xmlns:a="http://schemas.openxmlformats.org/drawingml/2006/main">
              <a:ext uri="{FF2B5EF4-FFF2-40B4-BE49-F238E27FC236}">
                <a16:creationId xmlns:a16="http://schemas.microsoft.com/office/drawing/2014/main" id="{3EF61AB0-3109-4296-8B9E-2B7301374233}"/>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Ein Pilot mit messbarem Nutzen</a:t>
            </a:r>
          </a:p>
        </p:txBody>
      </p:sp>
      <p:sp>
        <p:nvSpPr>
          <p:cNvPr id="3" name="footer">
            <a:extLst xmlns:a="http://schemas.openxmlformats.org/drawingml/2006/main">
              <a:ext uri="{FF2B5EF4-FFF2-40B4-BE49-F238E27FC236}">
                <a16:creationId xmlns:a16="http://schemas.microsoft.com/office/drawing/2014/main" id="{BEA4B8B2-3D5B-499D-B9D5-354C80A8751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2488DF00-1F1C-4134-A080-C7E2A87BC176}"/>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10</a:t>
            </a:r>
          </a:p>
        </p:txBody>
      </p:sp>
      <p:sp>
        <p:nvSpPr>
          <p:cNvPr id="5" name="body">
            <a:extLst xmlns:a="http://schemas.openxmlformats.org/drawingml/2006/main">
              <a:ext uri="{FF2B5EF4-FFF2-40B4-BE49-F238E27FC236}">
                <a16:creationId xmlns:a16="http://schemas.microsoft.com/office/drawing/2014/main" id="{BB9C8C73-069B-43B9-A09D-37F3B3B5E32D}"/>
              </a:ext>
            </a:extLst>
          </p:cNvPr>
          <p:cNvSpPr>
            <a:spLocks xmlns:a="http://schemas.openxmlformats.org/drawingml/2006/main" noGrp="1"/>
          </p:cNvSpPr>
          <p:nvPr/>
        </p:nvSpPr>
        <p:spPr>
          <a:xfrm xmlns:a="http://schemas.openxmlformats.org/drawingml/2006/main">
            <a:off x="685800" y="213360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01</a:t>
            </a:r>
          </a:p>
        </p:txBody>
      </p:sp>
      <p:sp>
        <p:nvSpPr>
          <p:cNvPr id="6" name="body">
            <a:extLst xmlns:a="http://schemas.openxmlformats.org/drawingml/2006/main">
              <a:ext uri="{FF2B5EF4-FFF2-40B4-BE49-F238E27FC236}">
                <a16:creationId xmlns:a16="http://schemas.microsoft.com/office/drawing/2014/main" id="{CC9F9198-2C4B-47F2-A206-7B9736D86534}"/>
              </a:ext>
            </a:extLst>
          </p:cNvPr>
          <p:cNvSpPr>
            <a:spLocks xmlns:a="http://schemas.openxmlformats.org/drawingml/2006/main" noGrp="1"/>
          </p:cNvSpPr>
          <p:nvPr/>
        </p:nvSpPr>
        <p:spPr>
          <a:xfrm xmlns:a="http://schemas.openxmlformats.org/drawingml/2006/main">
            <a:off x="1885950" y="213360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defRPr sz="2250" b="1">
                <a:solidFill>
                  <a:srgbClr val="102A2A"/>
                </a:solidFill>
                <a:latin typeface="Arial"/>
                <a:ea typeface="Arial"/>
                <a:cs typeface="Arial"/>
              </a:defRPr>
            </a:pPr>
            <a:r>
              <a:rPr sz="2250" b="1">
                <a:solidFill>
                  <a:srgbClr val="102A2A"/>
                </a:solidFill>
                <a:latin typeface="Arial"/>
                <a:ea typeface="Arial"/>
                <a:cs typeface="Arial"/>
              </a:rPr>
              <a:t>Anwendungsfall wählen</a:t>
            </a:r>
          </a:p>
        </p:txBody>
      </p:sp>
      <p:sp>
        <p:nvSpPr>
          <p:cNvPr id="7" name="body">
            <a:extLst xmlns:a="http://schemas.openxmlformats.org/drawingml/2006/main">
              <a:ext uri="{FF2B5EF4-FFF2-40B4-BE49-F238E27FC236}">
                <a16:creationId xmlns:a16="http://schemas.microsoft.com/office/drawing/2014/main" id="{335FF397-CF7A-4AEE-85AC-F815F1663ACF}"/>
              </a:ext>
            </a:extLst>
          </p:cNvPr>
          <p:cNvSpPr>
            <a:spLocks xmlns:a="http://schemas.openxmlformats.org/drawingml/2006/main" noGrp="1"/>
          </p:cNvSpPr>
          <p:nvPr/>
        </p:nvSpPr>
        <p:spPr>
          <a:xfrm xmlns:a="http://schemas.openxmlformats.org/drawingml/2006/main">
            <a:off x="1885950" y="2562225"/>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Häufige Anfragearten und Erfolgskriterien festlegen.</a:t>
            </a:r>
          </a:p>
        </p:txBody>
      </p:sp>
      <p:sp>
        <p:nvSpPr>
          <p:cNvPr id="8" name="body">
            <a:extLst xmlns:a="http://schemas.openxmlformats.org/drawingml/2006/main">
              <a:ext uri="{FF2B5EF4-FFF2-40B4-BE49-F238E27FC236}">
                <a16:creationId xmlns:a16="http://schemas.microsoft.com/office/drawing/2014/main" id="{EAC83FDB-A8D6-4586-B6CB-BF0A2B1B2CF4}"/>
              </a:ext>
            </a:extLst>
          </p:cNvPr>
          <p:cNvSpPr>
            <a:spLocks xmlns:a="http://schemas.openxmlformats.org/drawingml/2006/main" noGrp="1"/>
          </p:cNvSpPr>
          <p:nvPr/>
        </p:nvSpPr>
        <p:spPr>
          <a:xfrm xmlns:a="http://schemas.openxmlformats.org/drawingml/2006/main">
            <a:off x="685800" y="3095625"/>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02</a:t>
            </a:r>
          </a:p>
        </p:txBody>
      </p:sp>
      <p:sp>
        <p:nvSpPr>
          <p:cNvPr id="9" name="body">
            <a:extLst xmlns:a="http://schemas.openxmlformats.org/drawingml/2006/main">
              <a:ext uri="{FF2B5EF4-FFF2-40B4-BE49-F238E27FC236}">
                <a16:creationId xmlns:a16="http://schemas.microsoft.com/office/drawing/2014/main" id="{4D21BE86-0E0C-44E4-A7AE-77C3A79D9F38}"/>
              </a:ext>
            </a:extLst>
          </p:cNvPr>
          <p:cNvSpPr>
            <a:spLocks xmlns:a="http://schemas.openxmlformats.org/drawingml/2006/main" noGrp="1"/>
          </p:cNvSpPr>
          <p:nvPr/>
        </p:nvSpPr>
        <p:spPr>
          <a:xfrm xmlns:a="http://schemas.openxmlformats.org/drawingml/2006/main">
            <a:off x="1885950" y="309562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defRPr sz="2250" b="1">
                <a:solidFill>
                  <a:srgbClr val="102A2A"/>
                </a:solidFill>
                <a:latin typeface="Arial"/>
                <a:ea typeface="Arial"/>
                <a:cs typeface="Arial"/>
              </a:defRPr>
            </a:pPr>
            <a:r>
              <a:rPr sz="2250" b="1">
                <a:solidFill>
                  <a:srgbClr val="102A2A"/>
                </a:solidFill>
                <a:latin typeface="Arial"/>
                <a:ea typeface="Arial"/>
                <a:cs typeface="Arial"/>
              </a:rPr>
              <a:t>Portal integrieren</a:t>
            </a:r>
          </a:p>
        </p:txBody>
      </p:sp>
      <p:sp>
        <p:nvSpPr>
          <p:cNvPr id="10" name="body">
            <a:extLst xmlns:a="http://schemas.openxmlformats.org/drawingml/2006/main">
              <a:ext uri="{FF2B5EF4-FFF2-40B4-BE49-F238E27FC236}">
                <a16:creationId xmlns:a16="http://schemas.microsoft.com/office/drawing/2014/main" id="{66D238F8-1D20-4F3C-B84C-4B98634AFBA7}"/>
              </a:ext>
            </a:extLst>
          </p:cNvPr>
          <p:cNvSpPr>
            <a:spLocks xmlns:a="http://schemas.openxmlformats.org/drawingml/2006/main" noGrp="1"/>
          </p:cNvSpPr>
          <p:nvPr/>
        </p:nvSpPr>
        <p:spPr>
          <a:xfrm xmlns:a="http://schemas.openxmlformats.org/drawingml/2006/main">
            <a:off x="1885950" y="3524250"/>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Wissen, Statusquellen und einen Supportkanal anbinden.</a:t>
            </a:r>
          </a:p>
        </p:txBody>
      </p:sp>
      <p:sp>
        <p:nvSpPr>
          <p:cNvPr id="11" name="body">
            <a:extLst xmlns:a="http://schemas.openxmlformats.org/drawingml/2006/main">
              <a:ext uri="{FF2B5EF4-FFF2-40B4-BE49-F238E27FC236}">
                <a16:creationId xmlns:a16="http://schemas.microsoft.com/office/drawing/2014/main" id="{0A0C382F-11A6-4558-AB20-0D9EF3D0DBED}"/>
              </a:ext>
            </a:extLst>
          </p:cNvPr>
          <p:cNvSpPr>
            <a:spLocks xmlns:a="http://schemas.openxmlformats.org/drawingml/2006/main" noGrp="1"/>
          </p:cNvSpPr>
          <p:nvPr/>
        </p:nvSpPr>
        <p:spPr>
          <a:xfrm xmlns:a="http://schemas.openxmlformats.org/drawingml/2006/main">
            <a:off x="685800" y="405765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03</a:t>
            </a:r>
          </a:p>
        </p:txBody>
      </p:sp>
      <p:sp>
        <p:nvSpPr>
          <p:cNvPr id="12" name="body">
            <a:extLst xmlns:a="http://schemas.openxmlformats.org/drawingml/2006/main">
              <a:ext uri="{FF2B5EF4-FFF2-40B4-BE49-F238E27FC236}">
                <a16:creationId xmlns:a16="http://schemas.microsoft.com/office/drawing/2014/main" id="{650C4BBA-E9E4-4E17-BAB2-BC5706B85E2D}"/>
              </a:ext>
            </a:extLst>
          </p:cNvPr>
          <p:cNvSpPr>
            <a:spLocks xmlns:a="http://schemas.openxmlformats.org/drawingml/2006/main" noGrp="1"/>
          </p:cNvSpPr>
          <p:nvPr/>
        </p:nvSpPr>
        <p:spPr>
          <a:xfrm xmlns:a="http://schemas.openxmlformats.org/drawingml/2006/main">
            <a:off x="1885950" y="40576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defRPr sz="2250" b="1">
                <a:solidFill>
                  <a:srgbClr val="102A2A"/>
                </a:solidFill>
                <a:latin typeface="Arial"/>
                <a:ea typeface="Arial"/>
                <a:cs typeface="Arial"/>
              </a:defRPr>
            </a:pPr>
            <a:r>
              <a:rPr sz="2250" b="1">
                <a:solidFill>
                  <a:srgbClr val="102A2A"/>
                </a:solidFill>
                <a:latin typeface="Arial"/>
                <a:ea typeface="Arial"/>
                <a:cs typeface="Arial"/>
              </a:rPr>
              <a:t>Im Alltag prüfen</a:t>
            </a:r>
          </a:p>
        </p:txBody>
      </p:sp>
      <p:sp>
        <p:nvSpPr>
          <p:cNvPr id="13" name="body">
            <a:extLst xmlns:a="http://schemas.openxmlformats.org/drawingml/2006/main">
              <a:ext uri="{FF2B5EF4-FFF2-40B4-BE49-F238E27FC236}">
                <a16:creationId xmlns:a16="http://schemas.microsoft.com/office/drawing/2014/main" id="{6F0AAA01-54F1-44C2-86A0-F41FCADE8DFB}"/>
              </a:ext>
            </a:extLst>
          </p:cNvPr>
          <p:cNvSpPr>
            <a:spLocks xmlns:a="http://schemas.openxmlformats.org/drawingml/2006/main" noGrp="1"/>
          </p:cNvSpPr>
          <p:nvPr/>
        </p:nvSpPr>
        <p:spPr>
          <a:xfrm xmlns:a="http://schemas.openxmlformats.org/drawingml/2006/main">
            <a:off x="1885950" y="4486275"/>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Antwortqualität, Übergaben und Bearbeitungszeit messen.</a:t>
            </a:r>
          </a:p>
        </p:txBody>
      </p:sp>
      <p:sp>
        <p:nvSpPr>
          <p:cNvPr id="14" name="body">
            <a:extLst xmlns:a="http://schemas.openxmlformats.org/drawingml/2006/main">
              <a:ext uri="{FF2B5EF4-FFF2-40B4-BE49-F238E27FC236}">
                <a16:creationId xmlns:a16="http://schemas.microsoft.com/office/drawing/2014/main" id="{CF8D0EBE-DA3C-4BC8-AB17-F18CF5C21EE6}"/>
              </a:ext>
            </a:extLst>
          </p:cNvPr>
          <p:cNvSpPr>
            <a:spLocks xmlns:a="http://schemas.openxmlformats.org/drawingml/2006/main" noGrp="1"/>
          </p:cNvSpPr>
          <p:nvPr/>
        </p:nvSpPr>
        <p:spPr>
          <a:xfrm xmlns:a="http://schemas.openxmlformats.org/drawingml/2006/main">
            <a:off x="685800" y="5019675"/>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04</a:t>
            </a:r>
          </a:p>
        </p:txBody>
      </p:sp>
      <p:sp>
        <p:nvSpPr>
          <p:cNvPr id="15" name="body">
            <a:extLst xmlns:a="http://schemas.openxmlformats.org/drawingml/2006/main">
              <a:ext uri="{FF2B5EF4-FFF2-40B4-BE49-F238E27FC236}">
                <a16:creationId xmlns:a16="http://schemas.microsoft.com/office/drawing/2014/main" id="{0551D97A-8654-4605-8200-575BA1945F06}"/>
              </a:ext>
            </a:extLst>
          </p:cNvPr>
          <p:cNvSpPr>
            <a:spLocks xmlns:a="http://schemas.openxmlformats.org/drawingml/2006/main" noGrp="1"/>
          </p:cNvSpPr>
          <p:nvPr/>
        </p:nvSpPr>
        <p:spPr>
          <a:xfrm xmlns:a="http://schemas.openxmlformats.org/drawingml/2006/main">
            <a:off x="1885950" y="50196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defRPr sz="2250" b="1">
                <a:solidFill>
                  <a:srgbClr val="102A2A"/>
                </a:solidFill>
                <a:latin typeface="Arial"/>
                <a:ea typeface="Arial"/>
                <a:cs typeface="Arial"/>
              </a:defRPr>
            </a:pPr>
            <a:r>
              <a:rPr sz="2250" b="1">
                <a:solidFill>
                  <a:srgbClr val="102A2A"/>
                </a:solidFill>
                <a:latin typeface="Arial"/>
                <a:ea typeface="Arial"/>
                <a:cs typeface="Arial"/>
              </a:rPr>
              <a:t>Übergeben und entscheiden</a:t>
            </a:r>
          </a:p>
        </p:txBody>
      </p:sp>
      <p:sp>
        <p:nvSpPr>
          <p:cNvPr id="16" name="body">
            <a:extLst xmlns:a="http://schemas.openxmlformats.org/drawingml/2006/main">
              <a:ext uri="{FF2B5EF4-FFF2-40B4-BE49-F238E27FC236}">
                <a16:creationId xmlns:a16="http://schemas.microsoft.com/office/drawing/2014/main" id="{A3A9C306-D3C4-4616-A380-812A46DBDA8E}"/>
              </a:ext>
            </a:extLst>
          </p:cNvPr>
          <p:cNvSpPr>
            <a:spLocks xmlns:a="http://schemas.openxmlformats.org/drawingml/2006/main" noGrp="1"/>
          </p:cNvSpPr>
          <p:nvPr/>
        </p:nvSpPr>
        <p:spPr>
          <a:xfrm xmlns:a="http://schemas.openxmlformats.org/drawingml/2006/main">
            <a:off x="1885950" y="5448300"/>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Skills, Code und Betrieb dokumentieren, Ausbau vereinbaren.</a:t>
            </a:r>
          </a:p>
        </p:txBody>
      </p:sp>
    </p:spTree>
    <p:extLst>
      <p:ext uri="{BB962C8B-B14F-4D97-AF65-F5344CB8AC3E}">
        <p14:creationId xmlns:p14="http://schemas.microsoft.com/office/powerpoint/2010/main" val="833777140"/>
      </p:ext>
    </p:extLst>
  </p:cSld>
</p:sld>
</file>

<file path=ppt/slides/slide11.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D0D91E9D-523C-460F-82CA-23D6254E9D3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ENTSCHEIDUNGSGRUNDLAGE</a:t>
            </a:r>
          </a:p>
        </p:txBody>
      </p:sp>
      <p:sp>
        <p:nvSpPr>
          <p:cNvPr id="2" name="slide-title">
            <a:extLst xmlns:a="http://schemas.openxmlformats.org/drawingml/2006/main">
              <a:ext uri="{FF2B5EF4-FFF2-40B4-BE49-F238E27FC236}">
                <a16:creationId xmlns:a16="http://schemas.microsoft.com/office/drawing/2014/main" id="{39E3684F-8390-421A-B139-3B5DE25165CB}"/>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Was der Pilot messen soll</a:t>
            </a:r>
          </a:p>
        </p:txBody>
      </p:sp>
      <p:sp>
        <p:nvSpPr>
          <p:cNvPr id="3" name="footer">
            <a:extLst xmlns:a="http://schemas.openxmlformats.org/drawingml/2006/main">
              <a:ext uri="{FF2B5EF4-FFF2-40B4-BE49-F238E27FC236}">
                <a16:creationId xmlns:a16="http://schemas.microsoft.com/office/drawing/2014/main" id="{1E78D5A7-A248-4E72-B8FB-8E7EDCC6D3AB}"/>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DB531E28-5181-400A-A507-E7440FC462A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11</a:t>
            </a:r>
          </a:p>
        </p:txBody>
      </p:sp>
      <p:sp>
        <p:nvSpPr>
          <p:cNvPr id="5" name="body">
            <a:extLst xmlns:a="http://schemas.openxmlformats.org/drawingml/2006/main">
              <a:ext uri="{FF2B5EF4-FFF2-40B4-BE49-F238E27FC236}">
                <a16:creationId xmlns:a16="http://schemas.microsoft.com/office/drawing/2014/main" id="{E7BC0E57-A7CC-4886-B2BF-6719183EF526}"/>
              </a:ext>
            </a:extLst>
          </p:cNvPr>
          <p:cNvSpPr>
            <a:spLocks xmlns:a="http://schemas.openxmlformats.org/drawingml/2006/main" noGrp="1"/>
          </p:cNvSpPr>
          <p:nvPr/>
        </p:nvSpPr>
        <p:spPr>
          <a:xfrm xmlns:a="http://schemas.openxmlformats.org/drawingml/2006/main">
            <a:off x="685800" y="226695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Entlastung</a:t>
            </a:r>
          </a:p>
        </p:txBody>
      </p:sp>
      <p:sp>
        <p:nvSpPr>
          <p:cNvPr id="6" name="body">
            <a:extLst xmlns:a="http://schemas.openxmlformats.org/drawingml/2006/main">
              <a:ext uri="{FF2B5EF4-FFF2-40B4-BE49-F238E27FC236}">
                <a16:creationId xmlns:a16="http://schemas.microsoft.com/office/drawing/2014/main" id="{EA9C26F8-977F-47D6-9A86-EE6E8B92710F}"/>
              </a:ext>
            </a:extLst>
          </p:cNvPr>
          <p:cNvSpPr>
            <a:spLocks xmlns:a="http://schemas.openxmlformats.org/drawingml/2006/main" noGrp="1"/>
          </p:cNvSpPr>
          <p:nvPr/>
        </p:nvSpPr>
        <p:spPr>
          <a:xfrm xmlns:a="http://schemas.openxmlformats.org/drawingml/2006/main">
            <a:off x="685800" y="2809875"/>
            <a:ext cx="5191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Anteil sinnvoll vorgefilterter Anfragen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Manuelle Rückfragen je Anfrage</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Bearbeitungszeit im Serviceteam</a:t>
            </a:r>
          </a:p>
        </p:txBody>
      </p:sp>
      <p:sp>
        <p:nvSpPr>
          <p:cNvPr id="7" name="body">
            <a:extLst xmlns:a="http://schemas.openxmlformats.org/drawingml/2006/main">
              <a:ext uri="{FF2B5EF4-FFF2-40B4-BE49-F238E27FC236}">
                <a16:creationId xmlns:a16="http://schemas.microsoft.com/office/drawing/2014/main" id="{5C631708-11D0-4E48-819C-A31346EA3C90}"/>
              </a:ext>
            </a:extLst>
          </p:cNvPr>
          <p:cNvSpPr>
            <a:spLocks xmlns:a="http://schemas.openxmlformats.org/drawingml/2006/main" noGrp="1"/>
          </p:cNvSpPr>
          <p:nvPr/>
        </p:nvSpPr>
        <p:spPr>
          <a:xfrm xmlns:a="http://schemas.openxmlformats.org/drawingml/2006/main">
            <a:off x="6572250" y="2266950"/>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Qualität und Erreichbarkeit</a:t>
            </a:r>
          </a:p>
        </p:txBody>
      </p:sp>
      <p:sp>
        <p:nvSpPr>
          <p:cNvPr id="8" name="body">
            <a:extLst xmlns:a="http://schemas.openxmlformats.org/drawingml/2006/main">
              <a:ext uri="{FF2B5EF4-FFF2-40B4-BE49-F238E27FC236}">
                <a16:creationId xmlns:a16="http://schemas.microsoft.com/office/drawing/2014/main" id="{32DA9B43-0C37-4FA7-A63F-1CA747FED7A2}"/>
              </a:ext>
            </a:extLst>
          </p:cNvPr>
          <p:cNvSpPr>
            <a:spLocks xmlns:a="http://schemas.openxmlformats.org/drawingml/2006/main" noGrp="1"/>
          </p:cNvSpPr>
          <p:nvPr/>
        </p:nvSpPr>
        <p:spPr>
          <a:xfrm xmlns:a="http://schemas.openxmlformats.org/drawingml/2006/main">
            <a:off x="6572250" y="2809875"/>
            <a:ext cx="49339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Korrekte Antworten aus den Quellen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Erfolgreiche menschliche Übergaben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Rückmeldung der Nutzer</a:t>
            </a:r>
          </a:p>
        </p:txBody>
      </p:sp>
      <p:sp>
        <p:nvSpPr>
          <p:cNvPr id="9" name="body">
            <a:extLst xmlns:a="http://schemas.openxmlformats.org/drawingml/2006/main">
              <a:ext uri="{FF2B5EF4-FFF2-40B4-BE49-F238E27FC236}">
                <a16:creationId xmlns:a16="http://schemas.microsoft.com/office/drawing/2014/main" id="{9E43BFCF-E88C-4457-ACAA-095313983679}"/>
              </a:ext>
            </a:extLst>
          </p:cNvPr>
          <p:cNvSpPr>
            <a:spLocks xmlns:a="http://schemas.openxmlformats.org/drawingml/2006/main" noGrp="1"/>
          </p:cNvSpPr>
          <p:nvPr/>
        </p:nvSpPr>
        <p:spPr>
          <a:xfrm xmlns:a="http://schemas.openxmlformats.org/drawingml/2006/main">
            <a:off x="685800" y="48387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6B64"/>
                </a:solidFill>
                <a:latin typeface="Arial"/>
                <a:ea typeface="Arial"/>
                <a:cs typeface="Arial"/>
              </a:defRPr>
            </a:defPPr>
          </a:lstStyle>
          <a:p xmlns:a="http://schemas.openxmlformats.org/drawingml/2006/main">
            <a:pPr>
              <a:defRPr sz="2700" b="1">
                <a:solidFill>
                  <a:srgbClr val="006B64"/>
                </a:solidFill>
                <a:latin typeface="Arial"/>
                <a:ea typeface="Arial"/>
                <a:cs typeface="Arial"/>
              </a:defRPr>
            </a:pPr>
            <a:r>
              <a:rPr sz="2700" b="1">
                <a:solidFill>
                  <a:srgbClr val="006B64"/>
                </a:solidFill>
                <a:latin typeface="Arial"/>
                <a:ea typeface="Arial"/>
                <a:cs typeface="Arial"/>
              </a:rPr>
              <a:t>Der Vergleich beginnt mit Ihrer heutigen Situation.</a:t>
            </a:r>
          </a:p>
        </p:txBody>
      </p:sp>
      <p:sp>
        <p:nvSpPr>
          <p:cNvPr id="10" name="body">
            <a:extLst xmlns:a="http://schemas.openxmlformats.org/drawingml/2006/main">
              <a:ext uri="{FF2B5EF4-FFF2-40B4-BE49-F238E27FC236}">
                <a16:creationId xmlns:a16="http://schemas.microsoft.com/office/drawing/2014/main" id="{D52D2075-F34C-4870-B93F-03E9AB00C0C7}"/>
              </a:ext>
            </a:extLst>
          </p:cNvPr>
          <p:cNvSpPr>
            <a:spLocks xmlns:a="http://schemas.openxmlformats.org/drawingml/2006/main" noGrp="1"/>
          </p:cNvSpPr>
          <p:nvPr/>
        </p:nvSpPr>
        <p:spPr>
          <a:xfrm xmlns:a="http://schemas.openxmlformats.org/drawingml/2006/main">
            <a:off x="685800" y="55911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Einsparpotenzial bewerten wir inklusive Betrieb,</a:t>
            </a:r>
          </a:p>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Modellkosten und Pflege der Wissensbasis.</a:t>
            </a:r>
          </a:p>
        </p:txBody>
      </p:sp>
    </p:spTree>
    <p:extLst>
      <p:ext uri="{BB962C8B-B14F-4D97-AF65-F5344CB8AC3E}">
        <p14:creationId xmlns:p14="http://schemas.microsoft.com/office/powerpoint/2010/main" val="590920031"/>
      </p:ext>
    </p:extLst>
  </p:cSld>
</p:sld>
</file>

<file path=ppt/slides/slide12.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52A3E800-6E29-4DF8-B962-29FC631979BE}"/>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defRPr sz="1275" b="1">
                <a:solidFill>
                  <a:srgbClr val="D5F36B"/>
                </a:solidFill>
                <a:latin typeface="Arial"/>
                <a:ea typeface="Arial"/>
                <a:cs typeface="Arial"/>
              </a:defRPr>
            </a:pPr>
            <a:r>
              <a:rPr sz="1275" b="1">
                <a:solidFill>
                  <a:srgbClr val="D5F36B"/>
                </a:solidFill>
                <a:latin typeface="Arial"/>
                <a:ea typeface="Arial"/>
                <a:cs typeface="Arial"/>
              </a:rPr>
              <a:t>NÄCHSTER SCHRITT</a:t>
            </a:r>
          </a:p>
        </p:txBody>
      </p:sp>
      <p:sp>
        <p:nvSpPr>
          <p:cNvPr id="2" name="slide-title">
            <a:extLst xmlns:a="http://schemas.openxmlformats.org/drawingml/2006/main">
              <a:ext uri="{FF2B5EF4-FFF2-40B4-BE49-F238E27FC236}">
                <a16:creationId xmlns:a16="http://schemas.microsoft.com/office/drawing/2014/main" id="{E2AC19E4-1278-4413-B35F-3A40E71AD867}"/>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defRPr sz="3600" b="1">
                <a:solidFill>
                  <a:srgbClr val="F7FAF9"/>
                </a:solidFill>
                <a:latin typeface="Arial"/>
                <a:ea typeface="Arial"/>
                <a:cs typeface="Arial"/>
              </a:defRPr>
            </a:pPr>
            <a:r>
              <a:rPr sz="3600" b="1">
                <a:solidFill>
                  <a:srgbClr val="F7FAF9"/>
                </a:solidFill>
                <a:latin typeface="Arial"/>
                <a:ea typeface="Arial"/>
                <a:cs typeface="Arial"/>
              </a:rPr>
              <a:t>Ihr erster Anwendungsfall</a:t>
            </a:r>
          </a:p>
        </p:txBody>
      </p:sp>
      <p:sp>
        <p:nvSpPr>
          <p:cNvPr id="3" name="footer">
            <a:extLst xmlns:a="http://schemas.openxmlformats.org/drawingml/2006/main">
              <a:ext uri="{FF2B5EF4-FFF2-40B4-BE49-F238E27FC236}">
                <a16:creationId xmlns:a16="http://schemas.microsoft.com/office/drawing/2014/main" id="{32430DA4-14E6-40FF-97AB-BB3908FDC2D3}"/>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EF8C7E01-3B52-41B0-9D0A-88B29BCBC45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12</a:t>
            </a:r>
          </a:p>
        </p:txBody>
      </p:sp>
      <p:sp>
        <p:nvSpPr>
          <p:cNvPr id="5" name="body">
            <a:extLst xmlns:a="http://schemas.openxmlformats.org/drawingml/2006/main">
              <a:ext uri="{FF2B5EF4-FFF2-40B4-BE49-F238E27FC236}">
                <a16:creationId xmlns:a16="http://schemas.microsoft.com/office/drawing/2014/main" id="{DE9E0756-D9B4-43A6-B83C-32858D00C856}"/>
              </a:ext>
            </a:extLst>
          </p:cNvPr>
          <p:cNvSpPr>
            <a:spLocks xmlns:a="http://schemas.openxmlformats.org/drawingml/2006/main" noGrp="1"/>
          </p:cNvSpPr>
          <p:nvPr/>
        </p:nvSpPr>
        <p:spPr>
          <a:xfrm xmlns:a="http://schemas.openxmlformats.org/drawingml/2006/main">
            <a:off x="685800" y="2190750"/>
            <a:ext cx="10477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AF9"/>
                </a:solidFill>
                <a:latin typeface="Arial"/>
                <a:ea typeface="Arial"/>
                <a:cs typeface="Arial"/>
              </a:defRPr>
            </a:defPPr>
          </a:lstStyle>
          <a:p xmlns:a="http://schemas.openxmlformats.org/drawingml/2006/main">
            <a:pPr>
              <a:defRPr sz="3825" b="1">
                <a:solidFill>
                  <a:srgbClr val="F7FAF9"/>
                </a:solidFill>
                <a:latin typeface="Arial"/>
                <a:ea typeface="Arial"/>
                <a:cs typeface="Arial"/>
              </a:defRPr>
            </a:pPr>
            <a:r>
              <a:rPr sz="3825" b="1">
                <a:solidFill>
                  <a:srgbClr val="F7FAF9"/>
                </a:solidFill>
                <a:latin typeface="Arial"/>
                <a:ea typeface="Arial"/>
                <a:cs typeface="Arial"/>
              </a:rPr>
              <a:t>Welche wiederkehrende Serviceanfrage</a:t>
            </a:r>
          </a:p>
          <a:p xmlns:a="http://schemas.openxmlformats.org/drawingml/2006/main">
            <a:pPr>
              <a:defRPr sz="3825" b="1">
                <a:solidFill>
                  <a:srgbClr val="F7FAF9"/>
                </a:solidFill>
                <a:latin typeface="Arial"/>
                <a:ea typeface="Arial"/>
                <a:cs typeface="Arial"/>
              </a:defRPr>
            </a:pPr>
            <a:r>
              <a:rPr sz="3825" b="1">
                <a:solidFill>
                  <a:srgbClr val="F7FAF9"/>
                </a:solidFill>
                <a:latin typeface="Arial"/>
                <a:ea typeface="Arial"/>
                <a:cs typeface="Arial"/>
              </a:rPr>
              <a:t>soll Ihr Team zuerst entlasten?</a:t>
            </a:r>
          </a:p>
        </p:txBody>
      </p:sp>
      <p:sp>
        <p:nvSpPr>
          <p:cNvPr id="6" name="body">
            <a:extLst xmlns:a="http://schemas.openxmlformats.org/drawingml/2006/main">
              <a:ext uri="{FF2B5EF4-FFF2-40B4-BE49-F238E27FC236}">
                <a16:creationId xmlns:a16="http://schemas.microsoft.com/office/drawing/2014/main" id="{B4BFE952-005B-4005-9EE1-73E86E963D87}"/>
              </a:ext>
            </a:extLst>
          </p:cNvPr>
          <p:cNvSpPr>
            <a:spLocks xmlns:a="http://schemas.openxmlformats.org/drawingml/2006/main" noGrp="1"/>
          </p:cNvSpPr>
          <p:nvPr/>
        </p:nvSpPr>
        <p:spPr>
          <a:xfrm xmlns:a="http://schemas.openxmlformats.org/drawingml/2006/main">
            <a:off x="685800" y="41529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7FAF9"/>
                </a:solidFill>
                <a:latin typeface="Arial"/>
                <a:ea typeface="Arial"/>
                <a:cs typeface="Arial"/>
              </a:defRPr>
            </a:defPPr>
          </a:lstStyle>
          <a:p xmlns:a="http://schemas.openxmlformats.org/drawingml/2006/main">
            <a:pPr>
              <a:defRPr sz="2400" b="0">
                <a:solidFill>
                  <a:srgbClr val="F7FAF9"/>
                </a:solidFill>
                <a:latin typeface="Arial"/>
                <a:ea typeface="Arial"/>
                <a:cs typeface="Arial"/>
              </a:defRPr>
            </a:pPr>
            <a:r>
              <a:rPr sz="2400" b="0">
                <a:solidFill>
                  <a:srgbClr val="F7FAF9"/>
                </a:solidFill>
                <a:latin typeface="Arial"/>
                <a:ea typeface="Arial"/>
                <a:cs typeface="Arial"/>
              </a:rPr>
              <a:t>Ein kurzer Termin klärt Quellen, Supportkanal</a:t>
            </a:r>
          </a:p>
          <a:p xmlns:a="http://schemas.openxmlformats.org/drawingml/2006/main">
            <a:pPr>
              <a:defRPr sz="2400" b="0">
                <a:solidFill>
                  <a:srgbClr val="F7FAF9"/>
                </a:solidFill>
                <a:latin typeface="Arial"/>
                <a:ea typeface="Arial"/>
                <a:cs typeface="Arial"/>
              </a:defRPr>
            </a:pPr>
            <a:r>
              <a:rPr sz="2400" b="0">
                <a:solidFill>
                  <a:srgbClr val="F7FAF9"/>
                </a:solidFill>
                <a:latin typeface="Arial"/>
                <a:ea typeface="Arial"/>
                <a:cs typeface="Arial"/>
              </a:rPr>
              <a:t>und den passenden Pilotumfang.</a:t>
            </a:r>
          </a:p>
        </p:txBody>
      </p:sp>
      <p:sp>
        <p:nvSpPr>
          <p:cNvPr id="7" name="body">
            <a:extLst xmlns:a="http://schemas.openxmlformats.org/drawingml/2006/main">
              <a:ext uri="{FF2B5EF4-FFF2-40B4-BE49-F238E27FC236}">
                <a16:creationId xmlns:a16="http://schemas.microsoft.com/office/drawing/2014/main" id="{868787AC-452E-4798-BB70-A6822F1EBE05}"/>
              </a:ext>
            </a:extLst>
          </p:cNvPr>
          <p:cNvSpPr>
            <a:spLocks xmlns:a="http://schemas.openxmlformats.org/drawingml/2006/main" noGrp="1"/>
          </p:cNvSpPr>
          <p:nvPr/>
        </p:nvSpPr>
        <p:spPr>
          <a:xfrm xmlns:a="http://schemas.openxmlformats.org/drawingml/2006/main">
            <a:off x="685800" y="557212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5F36B"/>
                </a:solidFill>
                <a:latin typeface="Arial"/>
                <a:ea typeface="Arial"/>
                <a:cs typeface="Arial"/>
              </a:defRPr>
            </a:defPPr>
          </a:lstStyle>
          <a:p xmlns:a="http://schemas.openxmlformats.org/drawingml/2006/main">
            <a:pPr>
              <a:defRPr sz="2400" b="0">
                <a:solidFill>
                  <a:srgbClr val="D5F36B"/>
                </a:solidFill>
                <a:latin typeface="Arial"/>
                <a:ea typeface="Arial"/>
                <a:cs typeface="Arial"/>
              </a:defRPr>
            </a:pPr>
            <a:r>
              <a:rPr sz="2400" b="0">
                <a:solidFill>
                  <a:srgbClr val="D5F36B"/>
                </a:solidFill>
                <a:latin typeface="Arial"/>
                <a:ea typeface="Arial"/>
                <a:cs typeface="Arial"/>
                <a:hlinkClick xmlns:r="http://schemas.openxmlformats.org/officeDocument/2006/relationships" r:id="Ra61fb4dc3578477a"/>
              </a:rPr>
              <a:t>kontakt@kieks.me</a:t>
            </a:r>
          </a:p>
        </p:txBody>
      </p:sp>
      <p:sp>
        <p:nvSpPr>
          <p:cNvPr id="8" name="body">
            <a:extLst xmlns:a="http://schemas.openxmlformats.org/drawingml/2006/main">
              <a:ext uri="{FF2B5EF4-FFF2-40B4-BE49-F238E27FC236}">
                <a16:creationId xmlns:a16="http://schemas.microsoft.com/office/drawing/2014/main" id="{D0EB651E-F281-4071-9563-CC8A08E6C1D4}"/>
              </a:ext>
            </a:extLst>
          </p:cNvPr>
          <p:cNvSpPr>
            <a:spLocks xmlns:a="http://schemas.openxmlformats.org/drawingml/2006/main" noGrp="1"/>
          </p:cNvSpPr>
          <p:nvPr/>
        </p:nvSpPr>
        <p:spPr>
          <a:xfrm xmlns:a="http://schemas.openxmlformats.org/drawingml/2006/main">
            <a:off x="6191250" y="56292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5F36B"/>
                </a:solidFill>
                <a:latin typeface="Arial"/>
                <a:ea typeface="Arial"/>
                <a:cs typeface="Arial"/>
              </a:defRPr>
            </a:defPPr>
          </a:lstStyle>
          <a:p xmlns:a="http://schemas.openxmlformats.org/drawingml/2006/main">
            <a:pPr>
              <a:defRPr sz="1875" b="0">
                <a:solidFill>
                  <a:srgbClr val="D5F36B"/>
                </a:solidFill>
                <a:latin typeface="Arial"/>
                <a:ea typeface="Arial"/>
                <a:cs typeface="Arial"/>
              </a:defRPr>
            </a:pPr>
            <a:r>
              <a:rPr sz="1875" b="0">
                <a:solidFill>
                  <a:srgbClr val="D5F36B"/>
                </a:solidFill>
                <a:latin typeface="Arial"/>
                <a:ea typeface="Arial"/>
                <a:cs typeface="Arial"/>
                <a:hlinkClick xmlns:r="http://schemas.openxmlformats.org/officeDocument/2006/relationships" r:id="Rdb60a3e2ef7d4467"/>
              </a:rPr>
              <a:t>csp-brand-kieksme.netlify.app</a:t>
            </a:r>
          </a:p>
        </p:txBody>
      </p:sp>
    </p:spTree>
    <p:extLst>
      <p:ext uri="{BB962C8B-B14F-4D97-AF65-F5344CB8AC3E}">
        <p14:creationId xmlns:p14="http://schemas.microsoft.com/office/powerpoint/2010/main" val="709388657"/>
      </p:ext>
    </p:extLst>
  </p:cSld>
</p:sld>
</file>

<file path=ppt/slides/slide13.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6EEE8767-15F4-4B34-BCCF-FA091FD2EE22}"/>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ZUSATZFOLIE FÜR KOLLEGEN</a:t>
            </a:r>
          </a:p>
        </p:txBody>
      </p:sp>
      <p:sp>
        <p:nvSpPr>
          <p:cNvPr id="2" name="slide-title">
            <a:extLst xmlns:a="http://schemas.openxmlformats.org/drawingml/2006/main">
              <a:ext uri="{FF2B5EF4-FFF2-40B4-BE49-F238E27FC236}">
                <a16:creationId xmlns:a16="http://schemas.microsoft.com/office/drawing/2014/main" id="{7118D290-2511-4896-AC8E-4FF92BEC0F90}"/>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Für die interne Diskussion</a:t>
            </a:r>
          </a:p>
        </p:txBody>
      </p:sp>
      <p:sp>
        <p:nvSpPr>
          <p:cNvPr id="3" name="footer">
            <a:extLst xmlns:a="http://schemas.openxmlformats.org/drawingml/2006/main">
              <a:ext uri="{FF2B5EF4-FFF2-40B4-BE49-F238E27FC236}">
                <a16:creationId xmlns:a16="http://schemas.microsoft.com/office/drawing/2014/main" id="{9985DE2C-F124-419C-81A2-FCFC2F76C3B6}"/>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0A4D415-5E9E-48E7-B781-A6B18068D6C6}"/>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13</a:t>
            </a:r>
          </a:p>
        </p:txBody>
      </p:sp>
      <p:sp>
        <p:nvSpPr>
          <p:cNvPr id="5" name="body">
            <a:extLst xmlns:a="http://schemas.openxmlformats.org/drawingml/2006/main">
              <a:ext uri="{FF2B5EF4-FFF2-40B4-BE49-F238E27FC236}">
                <a16:creationId xmlns:a16="http://schemas.microsoft.com/office/drawing/2014/main" id="{217C70E6-7ADB-4E28-A58B-EB2E361FAF67}"/>
              </a:ext>
            </a:extLst>
          </p:cNvPr>
          <p:cNvSpPr>
            <a:spLocks xmlns:a="http://schemas.openxmlformats.org/drawingml/2006/main" noGrp="1"/>
          </p:cNvSpPr>
          <p:nvPr/>
        </p:nvSpPr>
        <p:spPr>
          <a:xfrm xmlns:a="http://schemas.openxmlformats.org/drawingml/2006/main">
            <a:off x="685800" y="22764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Gemeinsame Produktbasis</a:t>
            </a:r>
          </a:p>
        </p:txBody>
      </p:sp>
      <p:sp>
        <p:nvSpPr>
          <p:cNvPr id="6" name="body">
            <a:extLst xmlns:a="http://schemas.openxmlformats.org/drawingml/2006/main">
              <a:ext uri="{FF2B5EF4-FFF2-40B4-BE49-F238E27FC236}">
                <a16:creationId xmlns:a16="http://schemas.microsoft.com/office/drawing/2014/main" id="{F5429884-79DA-4972-B38E-58FD5AF4951B}"/>
              </a:ext>
            </a:extLst>
          </p:cNvPr>
          <p:cNvSpPr>
            <a:spLocks xmlns:a="http://schemas.openxmlformats.org/drawingml/2006/main" noGrp="1"/>
          </p:cNvSpPr>
          <p:nvPr/>
        </p:nvSpPr>
        <p:spPr>
          <a:xfrm xmlns:a="http://schemas.openxmlformats.org/drawingml/2006/main">
            <a:off x="685800" y="2819400"/>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Plugins und UI wiederverwenden.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Kundenanpassungen gezielt abgrenzen.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Erfahrungen in Skills dokumentieren.</a:t>
            </a:r>
          </a:p>
        </p:txBody>
      </p:sp>
      <p:sp>
        <p:nvSpPr>
          <p:cNvPr id="7" name="body">
            <a:extLst xmlns:a="http://schemas.openxmlformats.org/drawingml/2006/main">
              <a:ext uri="{FF2B5EF4-FFF2-40B4-BE49-F238E27FC236}">
                <a16:creationId xmlns:a16="http://schemas.microsoft.com/office/drawing/2014/main" id="{937B345E-6BC4-4791-9019-F99D77D65486}"/>
              </a:ext>
            </a:extLst>
          </p:cNvPr>
          <p:cNvSpPr>
            <a:spLocks xmlns:a="http://schemas.openxmlformats.org/drawingml/2006/main" noGrp="1"/>
          </p:cNvSpPr>
          <p:nvPr/>
        </p:nvSpPr>
        <p:spPr>
          <a:xfrm xmlns:a="http://schemas.openxmlformats.org/drawingml/2006/main">
            <a:off x="6572250" y="2276475"/>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Verantwortung im Pilot</a:t>
            </a:r>
          </a:p>
        </p:txBody>
      </p:sp>
      <p:sp>
        <p:nvSpPr>
          <p:cNvPr id="8" name="body">
            <a:extLst xmlns:a="http://schemas.openxmlformats.org/drawingml/2006/main">
              <a:ext uri="{FF2B5EF4-FFF2-40B4-BE49-F238E27FC236}">
                <a16:creationId xmlns:a16="http://schemas.microsoft.com/office/drawing/2014/main" id="{DC0D874A-89C3-4FAD-9B46-2314731F8550}"/>
              </a:ext>
            </a:extLst>
          </p:cNvPr>
          <p:cNvSpPr>
            <a:spLocks xmlns:a="http://schemas.openxmlformats.org/drawingml/2006/main" noGrp="1"/>
          </p:cNvSpPr>
          <p:nvPr/>
        </p:nvSpPr>
        <p:spPr>
          <a:xfrm xmlns:a="http://schemas.openxmlformats.org/drawingml/2006/main">
            <a:off x="6572250" y="2819400"/>
            <a:ext cx="49339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Projektumfang und Ansprechpartner</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benennen. Integration testen.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Betrieb und Wissenspflege klären.</a:t>
            </a:r>
          </a:p>
        </p:txBody>
      </p:sp>
      <p:sp>
        <p:nvSpPr>
          <p:cNvPr id="9" name="body">
            <a:extLst xmlns:a="http://schemas.openxmlformats.org/drawingml/2006/main">
              <a:ext uri="{FF2B5EF4-FFF2-40B4-BE49-F238E27FC236}">
                <a16:creationId xmlns:a16="http://schemas.microsoft.com/office/drawing/2014/main" id="{98D225B4-7600-458D-AA5B-67A1B0D251A0}"/>
              </a:ext>
            </a:extLst>
          </p:cNvPr>
          <p:cNvSpPr>
            <a:spLocks xmlns:a="http://schemas.openxmlformats.org/drawingml/2006/main" noGrp="1"/>
          </p:cNvSpPr>
          <p:nvPr/>
        </p:nvSpPr>
        <p:spPr>
          <a:xfrm xmlns:a="http://schemas.openxmlformats.org/drawingml/2006/main">
            <a:off x="685800" y="47815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6B64"/>
                </a:solidFill>
                <a:latin typeface="Arial"/>
                <a:ea typeface="Arial"/>
                <a:cs typeface="Arial"/>
              </a:defRPr>
            </a:defPPr>
          </a:lstStyle>
          <a:p xmlns:a="http://schemas.openxmlformats.org/drawingml/2006/main">
            <a:pPr>
              <a:defRPr sz="2625" b="1">
                <a:solidFill>
                  <a:srgbClr val="006B64"/>
                </a:solidFill>
                <a:latin typeface="Arial"/>
                <a:ea typeface="Arial"/>
                <a:cs typeface="Arial"/>
              </a:defRPr>
            </a:pPr>
            <a:r>
              <a:rPr sz="2625" b="1">
                <a:solidFill>
                  <a:srgbClr val="006B64"/>
                </a:solidFill>
                <a:latin typeface="Arial"/>
                <a:ea typeface="Arial"/>
                <a:cs typeface="Arial"/>
              </a:rPr>
              <a:t>Vorschlag: ein Pilotprojekt als Referenz für das Angebot.</a:t>
            </a:r>
          </a:p>
        </p:txBody>
      </p:sp>
      <p:sp>
        <p:nvSpPr>
          <p:cNvPr id="10" name="body">
            <a:extLst xmlns:a="http://schemas.openxmlformats.org/drawingml/2006/main">
              <a:ext uri="{FF2B5EF4-FFF2-40B4-BE49-F238E27FC236}">
                <a16:creationId xmlns:a16="http://schemas.microsoft.com/office/drawing/2014/main" id="{B6C6890A-0542-4EFF-9128-8E6446B7D453}"/>
              </a:ext>
            </a:extLst>
          </p:cNvPr>
          <p:cNvSpPr>
            <a:spLocks xmlns:a="http://schemas.openxmlformats.org/drawingml/2006/main" noGrp="1"/>
          </p:cNvSpPr>
          <p:nvPr/>
        </p:nvSpPr>
        <p:spPr>
          <a:xfrm xmlns:a="http://schemas.openxmlformats.org/drawingml/2006/main">
            <a:off x="685800" y="5676900"/>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Zuerst eigene Ergebnisse gewinnen. Danach entscheiden wir</a:t>
            </a:r>
          </a:p>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über wiederholbare Leistungen und weitere Kundenprojekte.</a:t>
            </a:r>
          </a:p>
        </p:txBody>
      </p:sp>
    </p:spTree>
    <p:extLst>
      <p:ext uri="{BB962C8B-B14F-4D97-AF65-F5344CB8AC3E}">
        <p14:creationId xmlns:p14="http://schemas.microsoft.com/office/powerpoint/2010/main" val="1513608869"/>
      </p:ext>
    </p:extLst>
  </p:cSld>
</p:sld>
</file>

<file path=ppt/slides/slide14.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E9A493D8-CB4B-4986-9379-74D453243783}"/>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ANHANG FÜR RÜCKFRAGEN</a:t>
            </a:r>
          </a:p>
        </p:txBody>
      </p:sp>
      <p:sp>
        <p:nvSpPr>
          <p:cNvPr id="2" name="slide-title">
            <a:extLst xmlns:a="http://schemas.openxmlformats.org/drawingml/2006/main">
              <a:ext uri="{FF2B5EF4-FFF2-40B4-BE49-F238E27FC236}">
                <a16:creationId xmlns:a16="http://schemas.microsoft.com/office/drawing/2014/main" id="{E3CF1B1E-398E-4C39-AAC5-C2886C2B081D}"/>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Technische Basis und Integrationsgrenzen</a:t>
            </a:r>
          </a:p>
        </p:txBody>
      </p:sp>
      <p:sp>
        <p:nvSpPr>
          <p:cNvPr id="3" name="footer">
            <a:extLst xmlns:a="http://schemas.openxmlformats.org/drawingml/2006/main">
              <a:ext uri="{FF2B5EF4-FFF2-40B4-BE49-F238E27FC236}">
                <a16:creationId xmlns:a16="http://schemas.microsoft.com/office/drawing/2014/main" id="{96360847-E436-43DB-8B5F-77CC0658EEB5}"/>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AB6E8C0-A5B8-41AE-8603-13029C0516E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14</a:t>
            </a:r>
          </a:p>
        </p:txBody>
      </p:sp>
      <p:sp>
        <p:nvSpPr>
          <p:cNvPr id="5" name="body">
            <a:extLst xmlns:a="http://schemas.openxmlformats.org/drawingml/2006/main">
              <a:ext uri="{FF2B5EF4-FFF2-40B4-BE49-F238E27FC236}">
                <a16:creationId xmlns:a16="http://schemas.microsoft.com/office/drawing/2014/main" id="{A28DBF66-9AAA-49BC-A1E3-9B05B4FC6C1B}"/>
              </a:ext>
            </a:extLst>
          </p:cNvPr>
          <p:cNvSpPr>
            <a:spLocks xmlns:a="http://schemas.openxmlformats.org/drawingml/2006/main" noGrp="1"/>
          </p:cNvSpPr>
          <p:nvPr/>
        </p:nvSpPr>
        <p:spPr>
          <a:xfrm xmlns:a="http://schemas.openxmlformats.org/drawingml/2006/main">
            <a:off x="685800" y="22669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Produktbasis</a:t>
            </a:r>
          </a:p>
        </p:txBody>
      </p:sp>
      <p:sp>
        <p:nvSpPr>
          <p:cNvPr id="6" name="body">
            <a:extLst xmlns:a="http://schemas.openxmlformats.org/drawingml/2006/main">
              <a:ext uri="{FF2B5EF4-FFF2-40B4-BE49-F238E27FC236}">
                <a16:creationId xmlns:a16="http://schemas.microsoft.com/office/drawing/2014/main" id="{89667498-A0BD-4135-9501-44495BE7B7E4}"/>
              </a:ext>
            </a:extLst>
          </p:cNvPr>
          <p:cNvSpPr>
            <a:spLocks xmlns:a="http://schemas.openxmlformats.org/drawingml/2006/main" noGrp="1"/>
          </p:cNvSpPr>
          <p:nvPr/>
        </p:nvSpPr>
        <p:spPr>
          <a:xfrm xmlns:a="http://schemas.openxmlformats.org/drawingml/2006/main">
            <a:off x="685800" y="2809875"/>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React-PWA, Fastify und Plugin-SDK</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Modellanbieter nach Konfiguration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Eigene Inhalte und Live-Quellen</a:t>
            </a:r>
          </a:p>
        </p:txBody>
      </p:sp>
      <p:sp>
        <p:nvSpPr>
          <p:cNvPr id="7" name="body">
            <a:extLst xmlns:a="http://schemas.openxmlformats.org/drawingml/2006/main">
              <a:ext uri="{FF2B5EF4-FFF2-40B4-BE49-F238E27FC236}">
                <a16:creationId xmlns:a16="http://schemas.microsoft.com/office/drawing/2014/main" id="{AF5942E3-80DC-4AEC-A596-EE56D677E4EC}"/>
              </a:ext>
            </a:extLst>
          </p:cNvPr>
          <p:cNvSpPr>
            <a:spLocks xmlns:a="http://schemas.openxmlformats.org/drawingml/2006/main" noGrp="1"/>
          </p:cNvSpPr>
          <p:nvPr/>
        </p:nvSpPr>
        <p:spPr>
          <a:xfrm xmlns:a="http://schemas.openxmlformats.org/drawingml/2006/main">
            <a:off x="6572250" y="2266950"/>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Vor dem Kundenstart</a:t>
            </a:r>
          </a:p>
        </p:txBody>
      </p:sp>
      <p:sp>
        <p:nvSpPr>
          <p:cNvPr id="8" name="body">
            <a:extLst xmlns:a="http://schemas.openxmlformats.org/drawingml/2006/main">
              <a:ext uri="{FF2B5EF4-FFF2-40B4-BE49-F238E27FC236}">
                <a16:creationId xmlns:a16="http://schemas.microsoft.com/office/drawing/2014/main" id="{FA262A1A-5C67-4A75-8D2F-2C93E1C54699}"/>
              </a:ext>
            </a:extLst>
          </p:cNvPr>
          <p:cNvSpPr>
            <a:spLocks xmlns:a="http://schemas.openxmlformats.org/drawingml/2006/main" noGrp="1"/>
          </p:cNvSpPr>
          <p:nvPr/>
        </p:nvSpPr>
        <p:spPr>
          <a:xfrm xmlns:a="http://schemas.openxmlformats.org/drawingml/2006/main">
            <a:off x="6572250" y="2809875"/>
            <a:ext cx="49339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Zugänge und Live-Verbindungen testen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Supportzeiten und Datenhaltung klären</a:t>
            </a:r>
          </a:p>
          <a:p xmlns:a="http://schemas.openxmlformats.org/drawingml/2006/main">
            <a:pPr>
              <a:defRPr sz="2025" b="0">
                <a:solidFill>
                  <a:srgbClr val="102A2A"/>
                </a:solidFill>
                <a:latin typeface="Arial"/>
                <a:ea typeface="Arial"/>
                <a:cs typeface="Arial"/>
              </a:defRPr>
            </a:pPr>
            <a:r>
              <a:rPr sz="2025" b="0">
                <a:solidFill>
                  <a:srgbClr val="102A2A"/>
                </a:solidFill>
                <a:latin typeface="Arial"/>
                <a:ea typeface="Arial"/>
                <a:cs typeface="Arial"/>
              </a:rPr>
              <a:t>Antwortqualität im Pilot prüfen</a:t>
            </a:r>
          </a:p>
        </p:txBody>
      </p:sp>
      <p:sp>
        <p:nvSpPr>
          <p:cNvPr id="9" name="body">
            <a:extLst xmlns:a="http://schemas.openxmlformats.org/drawingml/2006/main">
              <a:ext uri="{FF2B5EF4-FFF2-40B4-BE49-F238E27FC236}">
                <a16:creationId xmlns:a16="http://schemas.microsoft.com/office/drawing/2014/main" id="{447BA41E-2B45-431A-841C-3ACFC628C14E}"/>
              </a:ext>
            </a:extLst>
          </p:cNvPr>
          <p:cNvSpPr>
            <a:spLocks xmlns:a="http://schemas.openxmlformats.org/drawingml/2006/main" noGrp="1"/>
          </p:cNvSpPr>
          <p:nvPr/>
        </p:nvSpPr>
        <p:spPr>
          <a:xfrm xmlns:a="http://schemas.openxmlformats.org/drawingml/2006/main">
            <a:off x="685800" y="48006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6B64"/>
                </a:solidFill>
                <a:latin typeface="Arial"/>
                <a:ea typeface="Arial"/>
                <a:cs typeface="Arial"/>
              </a:defRPr>
            </a:defPPr>
          </a:lstStyle>
          <a:p xmlns:a="http://schemas.openxmlformats.org/drawingml/2006/main">
            <a:pPr>
              <a:defRPr sz="2475" b="1">
                <a:solidFill>
                  <a:srgbClr val="006B64"/>
                </a:solidFill>
                <a:latin typeface="Arial"/>
                <a:ea typeface="Arial"/>
                <a:cs typeface="Arial"/>
              </a:defRPr>
            </a:pPr>
            <a:r>
              <a:rPr sz="2475" b="1">
                <a:solidFill>
                  <a:srgbClr val="006B64"/>
                </a:solidFill>
                <a:latin typeface="Arial"/>
                <a:ea typeface="Arial"/>
                <a:cs typeface="Arial"/>
              </a:rPr>
              <a:t>Die KI führt keine eigenständigen Ticket- oder Alert-Aktionen aus.</a:t>
            </a:r>
          </a:p>
        </p:txBody>
      </p:sp>
      <p:sp>
        <p:nvSpPr>
          <p:cNvPr id="10" name="body">
            <a:extLst xmlns:a="http://schemas.openxmlformats.org/drawingml/2006/main">
              <a:ext uri="{FF2B5EF4-FFF2-40B4-BE49-F238E27FC236}">
                <a16:creationId xmlns:a16="http://schemas.microsoft.com/office/drawing/2014/main" id="{90FB0ECC-E469-47C9-B487-C83A1AF77F2D}"/>
              </a:ext>
            </a:extLst>
          </p:cNvPr>
          <p:cNvSpPr>
            <a:spLocks xmlns:a="http://schemas.openxmlformats.org/drawingml/2006/main" noGrp="1"/>
          </p:cNvSpPr>
          <p:nvPr/>
        </p:nvSpPr>
        <p:spPr>
          <a:xfrm xmlns:a="http://schemas.openxmlformats.org/drawingml/2006/main">
            <a:off x="685800" y="572452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763"/>
                </a:solidFill>
                <a:latin typeface="Arial"/>
                <a:ea typeface="Arial"/>
                <a:cs typeface="Arial"/>
              </a:defRPr>
            </a:defPPr>
          </a:lstStyle>
          <a:p xmlns:a="http://schemas.openxmlformats.org/drawingml/2006/main">
            <a:pPr>
              <a:defRPr sz="1650" b="0">
                <a:solidFill>
                  <a:srgbClr val="526763"/>
                </a:solidFill>
                <a:latin typeface="Arial"/>
                <a:ea typeface="Arial"/>
                <a:cs typeface="Arial"/>
              </a:defRPr>
            </a:pPr>
            <a:r>
              <a:rPr sz="1650" b="0">
                <a:solidFill>
                  <a:srgbClr val="526763"/>
                </a:solidFill>
                <a:latin typeface="Arial"/>
                <a:ea typeface="Arial"/>
                <a:cs typeface="Arial"/>
              </a:rPr>
              <a:t>Produktbaseline: CSP 0.13.4. Quellen und Integrationsdetails</a:t>
            </a:r>
          </a:p>
          <a:p xmlns:a="http://schemas.openxmlformats.org/drawingml/2006/main">
            <a:pPr>
              <a:defRPr sz="1650" b="0">
                <a:solidFill>
                  <a:srgbClr val="526763"/>
                </a:solidFill>
                <a:latin typeface="Arial"/>
                <a:ea typeface="Arial"/>
                <a:cs typeface="Arial"/>
              </a:defRPr>
            </a:pPr>
            <a:r>
              <a:rPr sz="1650" b="0">
                <a:solidFill>
                  <a:srgbClr val="526763"/>
                </a:solidFill>
                <a:latin typeface="Arial"/>
                <a:ea typeface="Arial"/>
                <a:cs typeface="Arial"/>
              </a:rPr>
              <a:t>stehen in den jeweiligen Sprechernotizen.</a:t>
            </a:r>
          </a:p>
        </p:txBody>
      </p:sp>
    </p:spTree>
    <p:extLst>
      <p:ext uri="{BB962C8B-B14F-4D97-AF65-F5344CB8AC3E}">
        <p14:creationId xmlns:p14="http://schemas.microsoft.com/office/powerpoint/2010/main" val="2064725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2026-10-14T17:02:50.6620000Z</dcterms:created>
  <dcterms:modified xsi:type="dcterms:W3CDTF">2026-10-14T17:02:50.6620000Z</dcterms:modified>
</coreProperties>
</file>