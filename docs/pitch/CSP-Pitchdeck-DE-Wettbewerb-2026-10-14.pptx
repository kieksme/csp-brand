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7b6fccdc914e55" /><Relationship Type="http://schemas.openxmlformats.org/officeDocument/2006/relationships/extended-properties" Target="/docProps/app.xml" Id="R894e9f5cc24740a9" /><Relationship Type="http://schemas.openxmlformats.org/officeDocument/2006/relationships/officeDocument" Target="/ppt/presentation.xml" Id="Rd444a2bef50c478d" /></Relationships>
</file>

<file path=ppt/presentation.xml><?xml version="1.0" encoding="utf-8"?>
<p:presentation xmlns:p="http://schemas.openxmlformats.org/presentationml/2006/main">
  <p:sldMasterIdLst>
    <p:sldMasterId xmlns:r="http://schemas.openxmlformats.org/officeDocument/2006/relationships" id="2147483648" r:id="R2b0a1b62301a408e"/>
  </p:sldMasterIdLst>
  <p:notesMasterIdLst>
    <p:notesMasterId xmlns:r="http://schemas.openxmlformats.org/officeDocument/2006/relationships" r:id="R66d0804125eb4085"/>
  </p:notesMasterIdLst>
  <p:sldIdLst>
    <p:sldId xmlns:r="http://schemas.openxmlformats.org/officeDocument/2006/relationships" id="256" r:id="R2222fa82348e43bf"/>
    <p:sldId xmlns:r="http://schemas.openxmlformats.org/officeDocument/2006/relationships" id="257" r:id="R2de5e7592abd4c99"/>
    <p:sldId xmlns:r="http://schemas.openxmlformats.org/officeDocument/2006/relationships" id="258" r:id="Rf4d8c02d237642ad"/>
    <p:sldId xmlns:r="http://schemas.openxmlformats.org/officeDocument/2006/relationships" id="259" r:id="Rc0c953c5e4554112"/>
    <p:sldId xmlns:r="http://schemas.openxmlformats.org/officeDocument/2006/relationships" id="260" r:id="Ra265dbc4fdac4083"/>
    <p:sldId xmlns:r="http://schemas.openxmlformats.org/officeDocument/2006/relationships" id="261" r:id="R8c3de540a61b422f"/>
    <p:sldId xmlns:r="http://schemas.openxmlformats.org/officeDocument/2006/relationships" id="262" r:id="R961be2e7234c42db"/>
    <p:sldId xmlns:r="http://schemas.openxmlformats.org/officeDocument/2006/relationships" id="263" r:id="R5e68dfea44744900"/>
    <p:sldId xmlns:r="http://schemas.openxmlformats.org/officeDocument/2006/relationships" id="264" r:id="R7f6d2dcb99f749bc"/>
    <p:sldId xmlns:r="http://schemas.openxmlformats.org/officeDocument/2006/relationships" id="265" r:id="R1f0a352b8b8545d6"/>
    <p:sldId xmlns:r="http://schemas.openxmlformats.org/officeDocument/2006/relationships" id="266" r:id="R7a61dbf617a04da1"/>
    <p:sldId xmlns:r="http://schemas.openxmlformats.org/officeDocument/2006/relationships" id="267" r:id="R12ab1d15addd4a70"/>
    <p:sldId xmlns:r="http://schemas.openxmlformats.org/officeDocument/2006/relationships" id="268" r:id="R030b80d026c34184"/>
    <p:sldId xmlns:r="http://schemas.openxmlformats.org/officeDocument/2006/relationships" id="269" r:id="R77a9dc6b8c774809"/>
    <p:sldId xmlns:r="http://schemas.openxmlformats.org/officeDocument/2006/relationships" id="270" r:id="Rd8f80d79ee05468f"/>
    <p:sldId xmlns:r="http://schemas.openxmlformats.org/officeDocument/2006/relationships" id="271" r:id="R5f787ce073124c1e"/>
    <p:sldId xmlns:r="http://schemas.openxmlformats.org/officeDocument/2006/relationships" id="272" r:id="R66a7bdc6e02b41e8"/>
    <p:sldId xmlns:r="http://schemas.openxmlformats.org/officeDocument/2006/relationships" id="273" r:id="Ref89688fcf86498c"/>
    <p:sldId xmlns:r="http://schemas.openxmlformats.org/officeDocument/2006/relationships" id="274" r:id="Rce339703c83444d6"/>
    <p:sldId xmlns:r="http://schemas.openxmlformats.org/officeDocument/2006/relationships" id="275" r:id="R8a479b049bd74718"/>
    <p:sldId xmlns:r="http://schemas.openxmlformats.org/officeDocument/2006/relationships" id="276" r:id="R3ffe6b725d9840ac"/>
    <p:sldId xmlns:r="http://schemas.openxmlformats.org/officeDocument/2006/relationships" id="277" r:id="R33e5784e8d754b26"/>
    <p:sldId xmlns:r="http://schemas.openxmlformats.org/officeDocument/2006/relationships" id="278" r:id="R47849705a7264634"/>
    <p:sldId xmlns:r="http://schemas.openxmlformats.org/officeDocument/2006/relationships" id="279" r:id="Rf01657de924543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8f80abb64c4773" /><Relationship Type="http://schemas.openxmlformats.org/officeDocument/2006/relationships/slideMaster" Target="/ppt/slideMasters/slideMaster1.xml" Id="R2b0a1b62301a408e" /><Relationship Type="http://schemas.openxmlformats.org/officeDocument/2006/relationships/notesMaster" Target="/ppt/notesMasters/notesMaster1.xml" Id="R66d0804125eb4085" /><Relationship Type="http://schemas.openxmlformats.org/officeDocument/2006/relationships/presProps" Target="/ppt/presProps.xml" Id="R96394131fa674d6b" /><Relationship Type="http://schemas.openxmlformats.org/officeDocument/2006/relationships/tableStyles" Target="/ppt/tableStyles.xml" Id="Rb261d3114b554573" /><Relationship Type="http://schemas.openxmlformats.org/officeDocument/2006/relationships/slide" Target="/ppt/slides/slide1.xml" Id="R2222fa82348e43bf" /><Relationship Type="http://schemas.openxmlformats.org/officeDocument/2006/relationships/slide" Target="/ppt/slides/slide2.xml" Id="R2de5e7592abd4c99" /><Relationship Type="http://schemas.openxmlformats.org/officeDocument/2006/relationships/slide" Target="/ppt/slides/slide3.xml" Id="Rf4d8c02d237642ad" /><Relationship Type="http://schemas.openxmlformats.org/officeDocument/2006/relationships/slide" Target="/ppt/slides/slide4.xml" Id="Rc0c953c5e4554112" /><Relationship Type="http://schemas.openxmlformats.org/officeDocument/2006/relationships/slide" Target="/ppt/slides/slide5.xml" Id="Ra265dbc4fdac4083" /><Relationship Type="http://schemas.openxmlformats.org/officeDocument/2006/relationships/slide" Target="/ppt/slides/slide6.xml" Id="R8c3de540a61b422f" /><Relationship Type="http://schemas.openxmlformats.org/officeDocument/2006/relationships/slide" Target="/ppt/slides/slide7.xml" Id="R961be2e7234c42db" /><Relationship Type="http://schemas.openxmlformats.org/officeDocument/2006/relationships/slide" Target="/ppt/slides/slide8.xml" Id="R5e68dfea44744900" /><Relationship Type="http://schemas.openxmlformats.org/officeDocument/2006/relationships/slide" Target="/ppt/slides/slide9.xml" Id="R7f6d2dcb99f749bc" /><Relationship Type="http://schemas.openxmlformats.org/officeDocument/2006/relationships/slide" Target="/ppt/slides/slide10.xml" Id="R1f0a352b8b8545d6" /><Relationship Type="http://schemas.openxmlformats.org/officeDocument/2006/relationships/slide" Target="/ppt/slides/slide11.xml" Id="R7a61dbf617a04da1" /><Relationship Type="http://schemas.openxmlformats.org/officeDocument/2006/relationships/slide" Target="/ppt/slides/slide12.xml" Id="R12ab1d15addd4a70" /><Relationship Type="http://schemas.openxmlformats.org/officeDocument/2006/relationships/slide" Target="/ppt/slides/slide13.xml" Id="R030b80d026c34184" /><Relationship Type="http://schemas.openxmlformats.org/officeDocument/2006/relationships/slide" Target="/ppt/slides/slide14.xml" Id="R77a9dc6b8c774809" /><Relationship Type="http://schemas.openxmlformats.org/officeDocument/2006/relationships/slide" Target="/ppt/slides/slide15.xml" Id="Rd8f80d79ee05468f" /><Relationship Type="http://schemas.openxmlformats.org/officeDocument/2006/relationships/slide" Target="/ppt/slides/slide16.xml" Id="R5f787ce073124c1e" /><Relationship Type="http://schemas.openxmlformats.org/officeDocument/2006/relationships/slide" Target="/ppt/slides/slide17.xml" Id="R66a7bdc6e02b41e8" /><Relationship Type="http://schemas.openxmlformats.org/officeDocument/2006/relationships/slide" Target="/ppt/slides/slide18.xml" Id="Ref89688fcf86498c" /><Relationship Type="http://schemas.openxmlformats.org/officeDocument/2006/relationships/slide" Target="/ppt/slides/slide19.xml" Id="Rce339703c83444d6" /><Relationship Type="http://schemas.openxmlformats.org/officeDocument/2006/relationships/slide" Target="/ppt/slides/slide20.xml" Id="R8a479b049bd74718" /><Relationship Type="http://schemas.openxmlformats.org/officeDocument/2006/relationships/slide" Target="/ppt/slides/slide21.xml" Id="R3ffe6b725d9840ac" /><Relationship Type="http://schemas.openxmlformats.org/officeDocument/2006/relationships/slide" Target="/ppt/slides/slide22.xml" Id="R33e5784e8d754b26" /><Relationship Type="http://schemas.openxmlformats.org/officeDocument/2006/relationships/slide" Target="/ppt/slides/slide23.xml" Id="R47849705a7264634" /><Relationship Type="http://schemas.openxmlformats.org/officeDocument/2006/relationships/slide" Target="/ppt/slides/slide24.xml" Id="Rf01657de924543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67616606004a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e7ada847e647e9" /><Relationship Type="http://schemas.openxmlformats.org/officeDocument/2006/relationships/notesMaster" Target="/ppt/notesMasters/notesMaster1.xml" Id="R1e0a5bcfdf3448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a4d57e4520484c" /><Relationship Type="http://schemas.openxmlformats.org/officeDocument/2006/relationships/notesMaster" Target="/ppt/notesMasters/notesMaster1.xml" Id="R295f2bacf14f45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0c54bbdb9e4e09" /><Relationship Type="http://schemas.openxmlformats.org/officeDocument/2006/relationships/notesMaster" Target="/ppt/notesMasters/notesMaster1.xml" Id="R1e11eebc6d1e49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7a5a91ae5b452a" /><Relationship Type="http://schemas.openxmlformats.org/officeDocument/2006/relationships/notesMaster" Target="/ppt/notesMasters/notesMaster1.xml" Id="R22a4eb2d7f5f4b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5e6651f63e47b1" /><Relationship Type="http://schemas.openxmlformats.org/officeDocument/2006/relationships/notesMaster" Target="/ppt/notesMasters/notesMaster1.xml" Id="Ra10bdb1dd6e54f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9ec38740654ae3" /><Relationship Type="http://schemas.openxmlformats.org/officeDocument/2006/relationships/notesMaster" Target="/ppt/notesMasters/notesMaster1.xml" Id="R87c706a798ce45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341adee9474915" /><Relationship Type="http://schemas.openxmlformats.org/officeDocument/2006/relationships/notesMaster" Target="/ppt/notesMasters/notesMaster1.xml" Id="R5fb5f7b64ab446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13de1a0e9c42a3" /><Relationship Type="http://schemas.openxmlformats.org/officeDocument/2006/relationships/notesMaster" Target="/ppt/notesMasters/notesMaster1.xml" Id="R509b7af187174e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c626bbd8594b12" /><Relationship Type="http://schemas.openxmlformats.org/officeDocument/2006/relationships/notesMaster" Target="/ppt/notesMasters/notesMaster1.xml" Id="R77e746b0082e4b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6ea4ad92b3498a" /><Relationship Type="http://schemas.openxmlformats.org/officeDocument/2006/relationships/notesMaster" Target="/ppt/notesMasters/notesMaster1.xml" Id="Rf122dbcdf8d949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361c2cb23e4ce8" /><Relationship Type="http://schemas.openxmlformats.org/officeDocument/2006/relationships/notesMaster" Target="/ppt/notesMasters/notesMaster1.xml" Id="R823e23a544cb43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f0e2dc9fb94cbf" /><Relationship Type="http://schemas.openxmlformats.org/officeDocument/2006/relationships/notesMaster" Target="/ppt/notesMasters/notesMaster1.xml" Id="R17294562650b4d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6ff93a203a4140" /><Relationship Type="http://schemas.openxmlformats.org/officeDocument/2006/relationships/notesMaster" Target="/ppt/notesMasters/notesMaster1.xml" Id="R8cd9ae57999348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b503deb1fe410e" /><Relationship Type="http://schemas.openxmlformats.org/officeDocument/2006/relationships/notesMaster" Target="/ppt/notesMasters/notesMaster1.xml" Id="R392d15016a4c48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3a8426e6b04bcf" /><Relationship Type="http://schemas.openxmlformats.org/officeDocument/2006/relationships/notesMaster" Target="/ppt/notesMasters/notesMaster1.xml" Id="R9db56b5fd99d44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2d9f254ebf4e75" /><Relationship Type="http://schemas.openxmlformats.org/officeDocument/2006/relationships/notesMaster" Target="/ppt/notesMasters/notesMaster1.xml" Id="R0e22af60f73348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b360b09a87e4958" /><Relationship Type="http://schemas.openxmlformats.org/officeDocument/2006/relationships/notesMaster" Target="/ppt/notesMasters/notesMaster1.xml" Id="Rb7415f2bda944c4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e455b3d33404f17" /><Relationship Type="http://schemas.openxmlformats.org/officeDocument/2006/relationships/notesMaster" Target="/ppt/notesMasters/notesMaster1.xml" Id="R4c78858a40004a0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c43e6bfd5eb4ceb" /><Relationship Type="http://schemas.openxmlformats.org/officeDocument/2006/relationships/notesMaster" Target="/ppt/notesMasters/notesMaster1.xml" Id="Rbe8ca448ae7a4f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b99589938c422b" /><Relationship Type="http://schemas.openxmlformats.org/officeDocument/2006/relationships/notesMaster" Target="/ppt/notesMasters/notesMaster1.xml" Id="R0e167eef993c4c7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d637bf3da774076" /><Relationship Type="http://schemas.openxmlformats.org/officeDocument/2006/relationships/notesMaster" Target="/ppt/notesMasters/notesMaster1.xml" Id="Rabb72902b8124c5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e83c7fd4f6644a7" /><Relationship Type="http://schemas.openxmlformats.org/officeDocument/2006/relationships/notesMaster" Target="/ppt/notesMasters/notesMaster1.xml" Id="R907cd3adef1d4e3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4c5343cf48547fc" /><Relationship Type="http://schemas.openxmlformats.org/officeDocument/2006/relationships/notesMaster" Target="/ppt/notesMasters/notesMaster1.xml" Id="Rc3e0eb1b487845d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6aa45cff4514978" /><Relationship Type="http://schemas.openxmlformats.org/officeDocument/2006/relationships/notesMaster" Target="/ppt/notesMasters/notesMaster1.xml" Id="R1cc9f58b88dd4d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Kundenpitch: Folien 1–8 und 13–18; passende Vergleichsfolie 10, 11 oder 12 ergänzen. Folie 9: optionale Marktübersicht. Folie 19: intern. Folie 20: technische Details. Folien 21–24: Preis- und Quellenanhang. Vollständige Recherche: competition-research-2026-10-14.md.</a:t>
            </a:r>
          </a:p>
          <a:p xmlns:a="http://schemas.openxmlformats.org/drawingml/2006/main">
            <a:r>
              <a:t/>
            </a:r>
          </a:p>
          <a:p xmlns:a="http://schemas.openxmlformats.org/drawingml/2006/main">
            <a:r>
              <a:t>Kernpitch, ca. 10 Minuten für Folien 1–18. Folie 19 dient der internen Diskussion, Folie 20 technischen Rückfragen. Einstieg: CSP bündelt Supportzugänge und Wissen in einem eigenen Portal. Das Projektangebot umfasst Einrichtung und Integration.</a:t>
            </a:r>
          </a:p>
          <a:p xmlns:a="http://schemas.openxmlformats.org/drawingml/2006/main">
            <a:r>
              <a:t/>
            </a:r>
          </a:p>
          <a:p xmlns:a="http://schemas.openxmlformats.org/drawingml/2006/main">
            <a:r>
              <a:t>Quelle: https://github.com/kieksme/csp-brand/blob/main/brand/README.md</a:t>
            </a:r>
          </a:p>
          <a:p xmlns:a="http://schemas.openxmlformats.org/drawingml/2006/main">
            <a:r>
              <a:t>Original-Logo: brand/assets/logo-light.svg, Nutzungsregeln BRAND-LICENSE.md. Arial dient als portabler Fallback für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Als typische Situation beschreiben, nicht als erhobenen Marktbeleg. Fragen Sie die Zuhörer, welche Frage in ihrem Support besonders oft vorkommt. CSP soll die passenden Informationen früher im Prozess sichtbar machen.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https://github.com/kieksme/csp/blob/main/docs/plugins.md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Ansicht stammt aus der synthetischen Acme-Demo. Keine Kundenreferenz und keine echten Kundendaten. Zeigen Sie Bereitschaft, Status und Assistenten im Screenshot. Ticketlinks führen in vorhandene Systeme. Das Portal stellt keine automatische Ticketanlage durch die KI in Aussicht.</a:t>
            </a:r>
          </a:p>
          <a:p xmlns:a="http://schemas.openxmlformats.org/drawingml/2006/main">
            <a:r>
              <a:t/>
            </a:r>
          </a:p>
          <a:p xmlns:a="http://schemas.openxmlformats.org/drawingml/2006/main">
            <a:r>
              <a:t>Quellen / Grundlage:</a:t>
            </a:r>
          </a:p>
          <a:p xmlns:a="http://schemas.openxmlformats.org/drawingml/2006/main">
            <a:r>
              <a:t>https://github.com/kieksme/csp/blob/main/docs/plugins.md</a:t>
            </a:r>
          </a:p>
          <a:p xmlns:a="http://schemas.openxmlformats.org/drawingml/2006/main">
            <a:r>
              <a:t>https://github.com/kieksme/csp-acme</a:t>
            </a:r>
          </a:p>
          <a:p xmlns:a="http://schemas.openxmlformats.org/drawingml/2006/main">
            <a:r>
              <a:t>https://github.com/kieksme/csp-brand/blob/main/THIRD-PARTY-NOTICES.md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80 Prozent stammen aus der vom Auftraggeber gesetzten Zielsetzung. Es gibt noch keine eigene Messung. Vorfiltern heißt zum Beispiel Kontext sammeln, Fragen einordnen und auf passende Inhalte hinweisen. Das ist weder eine Lösungsquote noch eine garantierte Kostensenkung. Der Pilot muss zeigen, was mit den tatsächlichen Anfragen und Wissensquellen erreichbar ist.</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https://github.com/kieksme/csp/blob/main/docs/chat.md</a:t>
            </a:r>
          </a:p>
          <a:p xmlns:a="http://schemas.openxmlformats.org/drawingml/2006/main">
            <a:r>
              <a:t>Zielwert vom Auftraggeber, ausdrücklich noch keine eigene Messung.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KI ist optional. Kunden können die Hotline nutzen oder mit einem eingerichteten Support-Plugin eine menschliche Übernahme anfordern, auch vor der ersten Nachricht an die KI. Das Supportteam übernimmt ausdrücklich, danach pausiert der Bot. Die tatsächliche Erreichbarkeit richtet sich nach den vereinbarten Servicezeiten. Kein Versprechen einer sofortigen Verbindung oder 24/7-Besetzung.</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https://github.com/kieksme/csp/blob/main/docs/chat.md</a:t>
            </a:r>
          </a:p>
          <a:p xmlns:a="http://schemas.openxmlformats.org/drawingml/2006/main">
            <a:r>
              <a:t>https://github.com/kieksme/csp/blob/main/docs/teams-support.md</a:t>
            </a:r>
          </a:p>
          <a:p xmlns:a="http://schemas.openxmlformats.org/drawingml/2006/main">
            <a:r>
              <a:t>https://github.com/kieksme/csp/blob/main/docs/slack-support.md</a:t>
            </a:r>
          </a:p>
          <a:p xmlns:a="http://schemas.openxmlformats.org/drawingml/2006/main">
            <a:r>
              <a:t>https://github.com/kieksme/csp/blob/main/docs/telegram-support.md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Katalog entspricht der geprüften Produktbaseline CSP 0.13.4. Teams, Slack und Telegram bauen auf dem Chat-Plugin auf. Integrationen brauchen die jeweiligen Zugänge und Konfiguration. Live-Verbindungen der Support-Provider sind pro Kundenprojekt zu verifizieren. SIGNL4 und Uptime Kuma liefern Informationen aus vorhandenen Quellen. Inhalte &amp; FAQ bieten Links und kopierbare Vorlagen für externe Ticketsysteme.</a:t>
            </a:r>
          </a:p>
          <a:p xmlns:a="http://schemas.openxmlformats.org/drawingml/2006/main">
            <a:r>
              <a:t/>
            </a:r>
          </a:p>
          <a:p xmlns:a="http://schemas.openxmlformats.org/drawingml/2006/main">
            <a:r>
              <a:t>Quellen / Grundlage:</a:t>
            </a:r>
          </a:p>
          <a:p xmlns:a="http://schemas.openxmlformats.org/drawingml/2006/main">
            <a:r>
              <a:t>https://github.com/kieksme/csp/blob/main/docs/plugins.md</a:t>
            </a:r>
          </a:p>
          <a:p xmlns:a="http://schemas.openxmlformats.org/drawingml/2006/main">
            <a:r>
              <a:t>https://github.com/kieksme/csp-brand/blob/main/src/data/plugins.ts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CSP-Code ist MIT lizenziert. Verkauft werden Einrichtung, Anpassung, Integration und Übergabe. Keine laufende CSP-Lizenzgebühr und kein verpflichtendes CSP-Abonnement. Betrieb, KI und externe Anbieter können eigene laufende Kosten verursachen. Markenassets haben gesonderte Nutzungsregeln. Keine unbelegten Aussagen über Wettbewerber oder eine kostenlose Gesamtbetriebsrechnung.</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https://github.com/kieksme/csp/blob/main/LICENSE</a:t>
            </a:r>
          </a:p>
          <a:p xmlns:a="http://schemas.openxmlformats.org/drawingml/2006/main">
            <a:r>
              <a:t>https://github.com/kieksme/csp-brand/blob/main/docs/handover.md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Darstellung beschreibt die Angebotslogik und ist kein verbindliches Angebot. Preis, Aufwand, Leistungen und Servicezeiten vereinbaren wir nach Klärung der Systeme und Anforderungen. Fremdkosten werden getrennt behandelt. Eine spätere Weiterentwicklung durch kieks.me ist ein gesonderter Auftrag und keine Pflicht. Keine Preise erfinden.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https://github.com/kieksme/csp-brand/blob/main/docs/handover.md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Auswahl von elf Angeboten, nicht vollständige Marktinventur. Kategorien erklären unterschiedliche Beschaffungswege, keine Rangliste. Microsoft ist ein Plattformbaukasten. SaaS-Pakete, Community Edition und Enterprise-Edition sauber trennen.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https://www.zendesk.com/pricing/</a:t>
            </a:r>
          </a:p>
          <a:p xmlns:a="http://schemas.openxmlformats.org/drawingml/2006/main">
            <a:r>
              <a:t>https://www.freshworks.com/freshdesk/omni/pricing/</a:t>
            </a:r>
          </a:p>
          <a:p xmlns:a="http://schemas.openxmlformats.org/drawingml/2006/main">
            <a:r>
              <a:t>https://www.intercom.com/pricing</a:t>
            </a:r>
          </a:p>
          <a:p xmlns:a="http://schemas.openxmlformats.org/drawingml/2006/main">
            <a:r>
              <a:t>https://crisp.chat/en/pricing/</a:t>
            </a:r>
          </a:p>
          <a:p xmlns:a="http://schemas.openxmlformats.org/drawingml/2006/main">
            <a:r>
              <a:t>https://www.atlassian.com/collections/service/pricing?bundle=jira-service-management</a:t>
            </a:r>
          </a:p>
          <a:p xmlns:a="http://schemas.openxmlformats.org/drawingml/2006/main">
            <a:r>
              <a:t>https://www.servicenow.com/products/customer-service-management/pricing.html</a:t>
            </a:r>
          </a:p>
          <a:p xmlns:a="http://schemas.openxmlformats.org/drawingml/2006/main">
            <a:r>
              <a:t>https://www.microsoft.com/en-us/copilot/pricing/copilot-studio</a:t>
            </a:r>
          </a:p>
          <a:p xmlns:a="http://schemas.openxmlformats.org/drawingml/2006/main">
            <a:r>
              <a:t>https://learn.microsoft.com/en-us/power-platform/admin/powerapps-flow-licensing-faq</a:t>
            </a:r>
          </a:p>
          <a:p xmlns:a="http://schemas.openxmlformats.org/drawingml/2006/main">
            <a:r>
              <a:t>https://zammad.com/en/pricing</a:t>
            </a:r>
          </a:p>
          <a:p xmlns:a="http://schemas.openxmlformats.org/drawingml/2006/main">
            <a:r>
              <a:t>https://zammad.com/en/company/press/zammad-introduces-ai-features-with-free-choice-of-large-language-model</a:t>
            </a:r>
          </a:p>
          <a:p xmlns:a="http://schemas.openxmlformats.org/drawingml/2006/main">
            <a:r>
              <a:t>https://www.chatwoot.com/pricing/self-hosted-plans</a:t>
            </a:r>
          </a:p>
          <a:p xmlns:a="http://schemas.openxmlformats.org/drawingml/2006/main">
            <a:r>
              <a:t>https://app.chatwoot.com/hc/user-guide/articles/1755284287-how-to-enable-captain-on-self_hosted-installations</a:t>
            </a:r>
          </a:p>
          <a:p xmlns:a="http://schemas.openxmlformats.org/drawingml/2006/main">
            <a:r>
              <a:t>https://freescout.net/modules-faq/</a:t>
            </a:r>
          </a:p>
          <a:p xmlns:a="http://schemas.openxmlformats.org/drawingml/2006/main">
            <a:r>
              <a:t>https://www.freescout.net/module/ai-integration/</a:t>
            </a:r>
          </a:p>
          <a:p xmlns:a="http://schemas.openxmlformats.org/drawingml/2006/main">
            <a:r>
              <a:t>https://www.glpi-project.org/en/</a:t>
            </a:r>
          </a:p>
          <a:p xmlns:a="http://schemas.openxmlformats.org/drawingml/2006/main">
            <a:r>
              <a:t>https://www.glpi-project.org/en/glpi-gpl-3-0/</a:t>
            </a:r>
          </a:p>
          <a:p xmlns:a="http://schemas.openxmlformats.org/drawingml/2006/main">
            <a:r>
              <a:t>https://www.glpi-project.org/en/pricing/</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Kein funktionsgleicher Preisvergleich. Suites sind umfassender bei Ticketing. Crisp ist eine Workspace-Pauschale, also nicht pauschal pro Agent. Fin lässt sich auch vor vorhandenen Helpdesks nutzen. CSP darf keinen Exklusivitätsanspruch für Integration oder Human-Handoff stellen.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https://www.zendesk.com/pricing/</a:t>
            </a:r>
          </a:p>
          <a:p xmlns:a="http://schemas.openxmlformats.org/drawingml/2006/main">
            <a:r>
              <a:t>https://www.freshworks.com/freshdesk/omni/pricing/</a:t>
            </a:r>
          </a:p>
          <a:p xmlns:a="http://schemas.openxmlformats.org/drawingml/2006/main">
            <a:r>
              <a:t>https://www.intercom.com/pricing</a:t>
            </a:r>
          </a:p>
          <a:p xmlns:a="http://schemas.openxmlformats.org/drawingml/2006/main">
            <a:r>
              <a:t>https://crisp.chat/en/pricing/</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JSM Cloud/Service Collection, nicht Data Center. JSM hat eigene Bereitschaft, Assets, Wissen und Supportkanäle. ServiceNow Preise nur auf Anfrage, Virtual-Agent-Konversationen laut Preisseite unbegrenzt enthalten. Microsoft ist ein Baukasten mit separater Agenten- und Portalabrechnung sowie PAYG-Option.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https://www.atlassian.com/collections/service/pricing?bundle=jira-service-management</a:t>
            </a:r>
          </a:p>
          <a:p xmlns:a="http://schemas.openxmlformats.org/drawingml/2006/main">
            <a:r>
              <a:t>https://www.servicenow.com/products/customer-service-management/pricing.html</a:t>
            </a:r>
          </a:p>
          <a:p xmlns:a="http://schemas.openxmlformats.org/drawingml/2006/main">
            <a:r>
              <a:t>https://www.microsoft.com/en-us/copilot/pricing/copilot-studio</a:t>
            </a:r>
          </a:p>
          <a:p xmlns:a="http://schemas.openxmlformats.org/drawingml/2006/main">
            <a:r>
              <a:t>https://learn.microsoft.com/en-us/power-platform/admin/powerapps-flow-licensing-faq</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Source und keine verpflichtende Softwarelizenz allein sind keine USPs. Zammad und FreeScout unterstützen eigene/lokale KI-Modelle. FreeScout-Modulkäufe sind einmalig, AI-Modul aktuell kostenlos. Chatwoot CE ist MIT, Captain in paid self-hosted Premium/Enterprise, nicht in CE. GLPI AI-Marktplatz nicht vollständig untersucht, keine Behauptung KI-abwesend.</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https://zammad.com/en/pricing</a:t>
            </a:r>
          </a:p>
          <a:p xmlns:a="http://schemas.openxmlformats.org/drawingml/2006/main">
            <a:r>
              <a:t>https://zammad.com/en/company/press/zammad-introduces-ai-features-with-free-choice-of-large-language-model</a:t>
            </a:r>
          </a:p>
          <a:p xmlns:a="http://schemas.openxmlformats.org/drawingml/2006/main">
            <a:r>
              <a:t>https://www.chatwoot.com/pricing/self-hosted-plans</a:t>
            </a:r>
          </a:p>
          <a:p xmlns:a="http://schemas.openxmlformats.org/drawingml/2006/main">
            <a:r>
              <a:t>https://app.chatwoot.com/hc/user-guide/articles/1755284287-how-to-enable-captain-on-self_hosted-installations</a:t>
            </a:r>
          </a:p>
          <a:p xmlns:a="http://schemas.openxmlformats.org/drawingml/2006/main">
            <a:r>
              <a:t>https://freescout.net/modules-faq/</a:t>
            </a:r>
          </a:p>
          <a:p xmlns:a="http://schemas.openxmlformats.org/drawingml/2006/main">
            <a:r>
              <a:t>https://www.freescout.net/module/ai-integration/</a:t>
            </a:r>
          </a:p>
          <a:p xmlns:a="http://schemas.openxmlformats.org/drawingml/2006/main">
            <a:r>
              <a:t>https://www.glpi-project.org/en/</a:t>
            </a:r>
          </a:p>
          <a:p xmlns:a="http://schemas.openxmlformats.org/drawingml/2006/main">
            <a:r>
              <a:t>https://www.glpi-project.org/en/glpi-gpl-3-0/</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Positionierung durch Kombination, kein belegtes weltweit exklusives Alleinstellungsmerkmal. Mitgelieferte Skills und shared UI sind CSP-Projektbestandteile. Mitbewerber bieten ebenfalls Integration, Beratung und Training. Human-Handoff und Modellwahl sind nicht exklusiv. Externe Kosten und Betriebsverantwortung offenlegen.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https://github.com/kieksme/csp-brand/blob/main/brand/README.md</a:t>
            </a:r>
          </a:p>
          <a:p xmlns:a="http://schemas.openxmlformats.org/drawingml/2006/main">
            <a:r>
              <a:t>https://zammad.com/en/pricing</a:t>
            </a:r>
          </a:p>
          <a:p xmlns:a="http://schemas.openxmlformats.org/drawingml/2006/main">
            <a:r>
              <a:t>https://freescout.net/modules-faq/</a:t>
            </a:r>
          </a:p>
          <a:p xmlns:a="http://schemas.openxmlformats.org/drawingml/2006/main">
            <a:r>
              <a:t>https://www.chatwoot.com/pricing/self-hosted-plans</a:t>
            </a:r>
          </a:p>
          <a:p xmlns:a="http://schemas.openxmlformats.org/drawingml/2006/main">
            <a:r>
              <a:t/>
            </a:r>
          </a:p>
          <a:p xmlns:a="http://schemas.openxmlformats.org/drawingml/2006/main">
            <a:r>
              <a:t>Detaillierte Recherche: docs/pitch/competition-research-2026-10-14.md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Empfehlung aus Funktions-/Architekturvergleich, kein geprüfter TCO-Rang. Bestehende Backend-Systeme erhalten, konkrete Connector-Abdeckung prüfen. CSP hat keine vollständige Ticketverwaltung/CMDB. Auch bei Competitors Anpassung möglich, keinen generellen Lock-in-Absolutismus behaupten.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https://www.zendesk.com/pricing/</a:t>
            </a:r>
          </a:p>
          <a:p xmlns:a="http://schemas.openxmlformats.org/drawingml/2006/main">
            <a:r>
              <a:t>https://www.freshworks.com/freshdesk/omni/pricing/</a:t>
            </a:r>
          </a:p>
          <a:p xmlns:a="http://schemas.openxmlformats.org/drawingml/2006/main">
            <a:r>
              <a:t>https://www.intercom.com/pricing</a:t>
            </a:r>
          </a:p>
          <a:p xmlns:a="http://schemas.openxmlformats.org/drawingml/2006/main">
            <a:r>
              <a:t>https://crisp.chat/en/pricing/</a:t>
            </a:r>
          </a:p>
          <a:p xmlns:a="http://schemas.openxmlformats.org/drawingml/2006/main">
            <a:r>
              <a:t>https://www.atlassian.com/collections/service/pricing?bundle=jira-service-management</a:t>
            </a:r>
          </a:p>
          <a:p xmlns:a="http://schemas.openxmlformats.org/drawingml/2006/main">
            <a:r>
              <a:t>https://www.servicenow.com/products/customer-service-management/pricing.html</a:t>
            </a:r>
          </a:p>
          <a:p xmlns:a="http://schemas.openxmlformats.org/drawingml/2006/main">
            <a:r>
              <a:t>https://www.microsoft.com/en-us/copilot/pricing/copilot-studio</a:t>
            </a:r>
          </a:p>
          <a:p xmlns:a="http://schemas.openxmlformats.org/drawingml/2006/main">
            <a:r>
              <a:t>https://learn.microsoft.com/en-us/power-platform/admin/powerapps-flow-licensing-faq</a:t>
            </a:r>
          </a:p>
          <a:p xmlns:a="http://schemas.openxmlformats.org/drawingml/2006/main">
            <a:r>
              <a:t>https://zammad.com/en/pricing</a:t>
            </a:r>
          </a:p>
          <a:p xmlns:a="http://schemas.openxmlformats.org/drawingml/2006/main">
            <a:r>
              <a:t>https://zammad.com/en/company/press/zammad-introduces-ai-features-with-free-choice-of-large-language-model</a:t>
            </a:r>
          </a:p>
          <a:p xmlns:a="http://schemas.openxmlformats.org/drawingml/2006/main">
            <a:r>
              <a:t>https://www.chatwoot.com/pricing/self-hosted-plans</a:t>
            </a:r>
          </a:p>
          <a:p xmlns:a="http://schemas.openxmlformats.org/drawingml/2006/main">
            <a:r>
              <a:t>https://app.chatwoot.com/hc/user-guide/articles/1755284287-how-to-enable-captain-on-self_hosted-installations</a:t>
            </a:r>
          </a:p>
          <a:p xmlns:a="http://schemas.openxmlformats.org/drawingml/2006/main">
            <a:r>
              <a:t>https://freescout.net/modules-faq/</a:t>
            </a:r>
          </a:p>
          <a:p xmlns:a="http://schemas.openxmlformats.org/drawingml/2006/main">
            <a:r>
              <a:t>https://www.freescout.net/module/ai-integration/</a:t>
            </a:r>
          </a:p>
          <a:p xmlns:a="http://schemas.openxmlformats.org/drawingml/2006/main">
            <a:r>
              <a:t>https://www.glpi-project.org/en/</a:t>
            </a:r>
          </a:p>
          <a:p xmlns:a="http://schemas.openxmlformats.org/drawingml/2006/main">
            <a:r>
              <a:t>https://www.glpi-project.org/en/glpi-gpl-3-0/</a:t>
            </a:r>
          </a:p>
          <a:p xmlns:a="http://schemas.openxmlformats.org/drawingml/2006/main">
            <a:r>
              <a:t>https://www.glpi-project.org/en/pricing/</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Paket enthält drei Kunden-Skills für Branding, Contentpflege und Plugin-Entwicklung. Sie führen die Kunden durch konkrete Arbeitsabläufe, ersetzen aber keine technische Verantwortung. Die UI-Bibliothek enthält React-Komponenten, CI-Tokens, Fonts und separat lizenzierte Brand-Assets. Sie wird als versionierter Tarball verteilt und ist nicht als npm-Veröffentlichung bestätigt. Die Brand-Seite nutzt dieselben Implementierungen. Installation und Interaktion wurden in einer temporären CSP-Instanz geprüft. Der Screenshot zeigt die öffentliche Komponenten-Demo, keinen Kundenbeleg.</a:t>
            </a:r>
          </a:p>
          <a:p xmlns:a="http://schemas.openxmlformats.org/drawingml/2006/main">
            <a:r>
              <a:t/>
            </a:r>
          </a:p>
          <a:p xmlns:a="http://schemas.openxmlformats.org/drawingml/2006/main">
            <a:r>
              <a:t>Quellen / Grundlage:</a:t>
            </a:r>
          </a:p>
          <a:p xmlns:a="http://schemas.openxmlformats.org/drawingml/2006/main">
            <a:r>
              <a:t>https://github.com/kieksme/csp-brand/blob/main/docs/handover.md</a:t>
            </a:r>
          </a:p>
          <a:p xmlns:a="http://schemas.openxmlformats.org/drawingml/2006/main">
            <a:r>
              <a:t>https://github.com/kieksme/csp-brand/tree/main/packages/ui</a:t>
            </a:r>
          </a:p>
          <a:p xmlns:a="http://schemas.openxmlformats.org/drawingml/2006/main">
            <a:r>
              <a:t>https://csp-brand-kieksme.netlify.app/docs/components/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 ist ein vorgeschlagenes Vorgehen, keine zugesagte Dauer. Mit einem begrenzten Anwendungsfall und klaren Quellen starten. Einen Supportkanal bewusst auswählen, direkte menschliche Erreichbarkeit im Pilot testen und Referenzanfragen dokumentieren. Nach dem Pilot gemeinsam über weitere Plugins und Betriebsumfang entscheiden.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https://github.com/kieksme/csp-brand/blob/main/docs/handover.md</a:t>
            </a:r>
          </a:p>
          <a:p xmlns:a="http://schemas.openxmlformats.org/drawingml/2006/main">
            <a:r>
              <a:t>Vorgeschlagenes Pilotvorgehen für das Projektangebot.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 dem Pilot eine Vergleichsbasis erfassen. Gleiche Anfragearten vor und während des Pilots betrachten und Zeitaufwand zur Pflege der Wissensbasis, KI-/Providerkosten sowie Supportzeiten einbeziehen. Vorfilterung ist von vollständig gelösten Anfragen zu trennen. Direktwahl zum Menschen darf keine versteckte Hürde erhalten. Die 80-Prozent-Marke bleibt ein Ziel, bis eigene Daten vorliegen. Keine ROI-Rechnung ohne Kundendaten.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Vorgeschlagene Messgrößen, noch keine gemessenen Projektergebnisse.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Kundenpitch hier abschließen. Den nächsten Termin an einer konkreten Anfrageart aufhängen: Was kommt häufig vor, welche Quellen sind vorhanden, welcher menschliche Supportkanal soll erreichbar sein? Ziel des Gesprächs ist ein begrenzter Pilotumfang, nicht sofort ein vollständiger Rollout. Bei Kollegen mit Folie 19 fortfahren. Quellen- und technischen Anhang nur bei Rückfragen nutzen.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https://csp-brand-kieksme.netlify.app/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 für den internen Pitch. Vorschlag: einen verantwortlichen Ansprechpartner und ein erstes Pilotprojekt benennen. Die gemeinsame Produktbasis und UI reduzieren doppelte Entwicklungsarbeit, der tatsächliche Wiederverwendungsgrad ist noch pro Projekt zu prüfen. Leistungen als Projekt anbieten und Aufwand für Betrieb, Tests sowie Wissenspflege ausdrücklich einplanen. Das ist ein Entscheidungsvorschlag, kein bereits beschlossenes Vertriebsmodell.</a:t>
            </a:r>
          </a:p>
          <a:p xmlns:a="http://schemas.openxmlformats.org/drawingml/2006/main">
            <a:r>
              <a:t/>
            </a:r>
          </a:p>
          <a:p xmlns:a="http://schemas.openxmlformats.org/drawingml/2006/main">
            <a:r>
              <a:t>Quellen / Grundlage:</a:t>
            </a:r>
          </a:p>
          <a:p xmlns:a="http://schemas.openxmlformats.org/drawingml/2006/main">
            <a:r>
              <a:t>https://github.com/kieksme/csp-brand/tree/main/packages/ui</a:t>
            </a:r>
          </a:p>
          <a:p xmlns:a="http://schemas.openxmlformats.org/drawingml/2006/main">
            <a:r>
              <a:t>https://github.com/kieksme/csp-brand/blob/main/docs/handover.md</a:t>
            </a:r>
          </a:p>
          <a:p xmlns:a="http://schemas.openxmlformats.org/drawingml/2006/main">
            <a:r>
              <a:t>https://github.com/kieksme/csp-brand/blob/main/brand/README.md</a:t>
            </a:r>
          </a:p>
          <a:p xmlns:a="http://schemas.openxmlformats.org/drawingml/2006/main">
            <a:r>
              <a:t>Interner Entscheidungsvorschlag.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CSP 0.13.4, geprüfter Katalog vom 13.10.2026. React/PWA und Fastify mit Plugin-SDK. OpenAI, Azure OpenAI und Ollama sind konfigurierbare Modellanbieter. KI-Antworten können fehlerhaft sein. KI-Chat führt keine eigenständige Ticket- oder Alert-Aktion aus. Teams, Slack und Telegram brauchen Chat-Plugin und Persistenz sowie providerbezogene Apps/Zugänge. Authentifizierung und anonyme Sitzungen hängen von der konkreten Integration ab. Provider-Live-Verbindungen und Datenschutz-/Betriebskonzept müssen vor Kundenstart geprüft werden. Auf dieser Folie keine zugesicherte Zertifizierung oder allgemeine DSGVO-Konformität behaupten.</a:t>
            </a:r>
          </a:p>
          <a:p xmlns:a="http://schemas.openxmlformats.org/drawingml/2006/main">
            <a:r>
              <a:t/>
            </a:r>
          </a:p>
          <a:p xmlns:a="http://schemas.openxmlformats.org/drawingml/2006/main">
            <a:r>
              <a:t>Quellen / Grundlage:</a:t>
            </a:r>
          </a:p>
          <a:p xmlns:a="http://schemas.openxmlformats.org/drawingml/2006/main">
            <a:r>
              <a:t>https://github.com/kieksme/csp</a:t>
            </a:r>
          </a:p>
          <a:p xmlns:a="http://schemas.openxmlformats.org/drawingml/2006/main">
            <a:r>
              <a:t>https://github.com/kieksme/csp/blob/main/docs/plugins.md</a:t>
            </a:r>
          </a:p>
          <a:p xmlns:a="http://schemas.openxmlformats.org/drawingml/2006/main">
            <a:r>
              <a:t>https://github.com/kieksme/csp/blob/main/docs/chat.md</a:t>
            </a:r>
          </a:p>
          <a:p xmlns:a="http://schemas.openxmlformats.org/drawingml/2006/main">
            <a:r>
              <a:t>https://github.com/kieksme/csp/blob/main/docs/teams-support.md</a:t>
            </a:r>
          </a:p>
          <a:p xmlns:a="http://schemas.openxmlformats.org/drawingml/2006/main">
            <a:r>
              <a:t>https://github.com/kieksme/csp/blob/main/docs/slack-support.md</a:t>
            </a:r>
          </a:p>
          <a:p xmlns:a="http://schemas.openxmlformats.org/drawingml/2006/main">
            <a:r>
              <a:t>https://github.com/kieksme/csp/blob/main/docs/telegram-support.md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Listenpreise in Originalwährung, Stand 14.10.2026. Zendesk Suite Team: 55 USD monatlich bei jährlicher Zahlung; Resolution-Tiers accountabhängig. Freshdesk Omni Growth: 29 USD jährlich; 500 KI-Sessions einmalig pro Account, weitere 100 für 49 USD. Intercom Essential: 29 USD in jährlicher Ansicht, Fin 0,99 USD pro Outcome. Crisp Essentials: 95 USD mit zehn Plätzen; Ticketing im Plus für 295 USD mit 20 Plätzen. Kein Vergleich gleichwertiger Pakete oder Gesamtkosten.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https://www.zendesk.com/pricing/</a:t>
            </a:r>
          </a:p>
          <a:p xmlns:a="http://schemas.openxmlformats.org/drawingml/2006/main">
            <a:r>
              <a:t>https://support.zendesk.com/hc/en-us/articles/11207423976986-Increasing-your-resolution-allowance</a:t>
            </a:r>
          </a:p>
          <a:p xmlns:a="http://schemas.openxmlformats.org/drawingml/2006/main">
            <a:r>
              <a:t>https://www.freshworks.com/freshdesk/omni/pricing/</a:t>
            </a:r>
          </a:p>
          <a:p xmlns:a="http://schemas.openxmlformats.org/drawingml/2006/main">
            <a:r>
              <a:t>https://www.intercom.com/pricing</a:t>
            </a:r>
          </a:p>
          <a:p xmlns:a="http://schemas.openxmlformats.org/drawingml/2006/main">
            <a:r>
              <a:t>https://crisp.chat/en/pricing/</a:t>
            </a:r>
          </a:p>
          <a:p xmlns:a="http://schemas.openxmlformats.org/drawingml/2006/main">
            <a:r>
              <a:t/>
            </a:r>
          </a:p>
          <a:p xmlns:a="http://schemas.openxmlformats.org/drawingml/2006/main">
            <a:r>
              <a:t>Detaillierte Recherche: docs/pitch/competition-research-2026-10-14.md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Softwarekosten sind nicht Gesamtkosten. Zammad ist im Eigenbetrieb lizenzkostenfrei; Managed AI optional 0,03 EUR pro Call. Chatwoot CE ist frei, Captain gehört zu bezahlten Plänen. FreeScout bietet ein kostenloses KI-Modul und einmalig bezahlte Erweiterungen. GLPI bietet freien Code und optionale Network-/Cloud-Angebote. Betrieb, Modelle, Updates, Sicherheit und Backups brauchen Budget. Keine allgemeine Kostenüberlegenheit von CSP behaupten.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https://zammad.com/en/pricing</a:t>
            </a:r>
          </a:p>
          <a:p xmlns:a="http://schemas.openxmlformats.org/drawingml/2006/main">
            <a:r>
              <a:t>https://www.chatwoot.com/pricing/self-hosted-plans</a:t>
            </a:r>
          </a:p>
          <a:p xmlns:a="http://schemas.openxmlformats.org/drawingml/2006/main">
            <a:r>
              <a:t>https://app.chatwoot.com/hc/user-guide/articles/1755284287-how-to-enable-captain-on-self_hosted-installations</a:t>
            </a:r>
          </a:p>
          <a:p xmlns:a="http://schemas.openxmlformats.org/drawingml/2006/main">
            <a:r>
              <a:t>https://freescout.net/modules-faq/</a:t>
            </a:r>
          </a:p>
          <a:p xmlns:a="http://schemas.openxmlformats.org/drawingml/2006/main">
            <a:r>
              <a:t>https://www.freescout.net/module/ai-integration/</a:t>
            </a:r>
          </a:p>
          <a:p xmlns:a="http://schemas.openxmlformats.org/drawingml/2006/main">
            <a:r>
              <a:t>https://www.glpi-project.org/en/glpi-gpl-3-0/</a:t>
            </a:r>
          </a:p>
          <a:p xmlns:a="http://schemas.openxmlformats.org/drawingml/2006/main">
            <a:r>
              <a:t>https://www.glpi-project.org/en/pricing/</a:t>
            </a:r>
          </a:p>
          <a:p xmlns:a="http://schemas.openxmlformats.org/drawingml/2006/main">
            <a:r>
              <a:t/>
            </a:r>
          </a:p>
          <a:p xmlns:a="http://schemas.openxmlformats.org/drawingml/2006/main">
            <a:r>
              <a:t>Detaillierte Recherche: docs/pitch/competition-research-2026-10-14.md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Keine pauschale Microsoft-Gesamtsumme: authentifizierte, anonyme und PAYG-Nutzung unterscheiden. Credits sind keine Gespräche. JSM Premium/Enterprise enthalten 1.000 unterstützte Gespräche monatlich bzw. 12.000 jährlich; Mehrnutzung ab 0,30 USD pro Gespräch, volumenabhängig. ServiceNow Advanced/Prime nur nach Angebot, Virtual-Agent-Gespräche laut Preisübersicht unbegrenzt. Kein erfundener Agentenpreis.</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https://www.atlassian.com/collections/service/pricing?bundle=jira-service-management</a:t>
            </a:r>
          </a:p>
          <a:p xmlns:a="http://schemas.openxmlformats.org/drawingml/2006/main">
            <a:r>
              <a:t>https://www.servicenow.com/products/customer-service-management/pricing.html</a:t>
            </a:r>
          </a:p>
          <a:p xmlns:a="http://schemas.openxmlformats.org/drawingml/2006/main">
            <a:r>
              <a:t>https://www.microsoft.com/en-us/copilot/pricing/copilot-studio</a:t>
            </a:r>
          </a:p>
          <a:p xmlns:a="http://schemas.openxmlformats.org/drawingml/2006/main">
            <a:r>
              <a:t>https://learn.microsoft.com/en-us/power-platform/admin/powerapps-flow-licensing-faq</a:t>
            </a:r>
          </a:p>
          <a:p xmlns:a="http://schemas.openxmlformats.org/drawingml/2006/main">
            <a:r>
              <a:t/>
            </a:r>
          </a:p>
          <a:p xmlns:a="http://schemas.openxmlformats.org/drawingml/2006/main">
            <a:r>
              <a:t>Detaillierte Recherche: docs/pitch/competition-research-2026-10-14.md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Primärquellen zu elf Angeboten, Stand 14.10.2026. Keine Installationen oder unabhängigen Tests. Quellen zu Preisen und Funktionen stehen in den jeweiligen Notizen und im Recherchebericht. Fin-Outcomes können abgeschlossene Procedures mit Übergabe umfassen; Freddy-Sessions, JSM-Intents und Credits sind anders definiert als CSP-Vorfilterung. Herstellerangaben sind keine unabhängigen Benchmarks. Menschliche Erreichbarkeit hängt von Kanal und Servicezeiten ab. CSP-ROI ist noch ungemessen.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https://www.zendesk.com/pricing/</a:t>
            </a:r>
          </a:p>
          <a:p xmlns:a="http://schemas.openxmlformats.org/drawingml/2006/main">
            <a:r>
              <a:t>https://www.freshworks.com/freshdesk/omni/pricing/</a:t>
            </a:r>
          </a:p>
          <a:p xmlns:a="http://schemas.openxmlformats.org/drawingml/2006/main">
            <a:r>
              <a:t>https://www.intercom.com/pricing</a:t>
            </a:r>
          </a:p>
          <a:p xmlns:a="http://schemas.openxmlformats.org/drawingml/2006/main">
            <a:r>
              <a:t>https://crisp.chat/en/pricing/</a:t>
            </a:r>
          </a:p>
          <a:p xmlns:a="http://schemas.openxmlformats.org/drawingml/2006/main">
            <a:r>
              <a:t>https://www.atlassian.com/collections/service/pricing?bundle=jira-service-management</a:t>
            </a:r>
          </a:p>
          <a:p xmlns:a="http://schemas.openxmlformats.org/drawingml/2006/main">
            <a:r>
              <a:t>https://www.servicenow.com/products/customer-service-management/pricing.html</a:t>
            </a:r>
          </a:p>
          <a:p xmlns:a="http://schemas.openxmlformats.org/drawingml/2006/main">
            <a:r>
              <a:t>https://www.microsoft.com/en-us/copilot/pricing/copilot-studio</a:t>
            </a:r>
          </a:p>
          <a:p xmlns:a="http://schemas.openxmlformats.org/drawingml/2006/main">
            <a:r>
              <a:t>https://learn.microsoft.com/en-us/power-platform/admin/powerapps-flow-licensing-faq</a:t>
            </a:r>
          </a:p>
          <a:p xmlns:a="http://schemas.openxmlformats.org/drawingml/2006/main">
            <a:r>
              <a:t>https://zammad.com/en/pricing</a:t>
            </a:r>
          </a:p>
          <a:p xmlns:a="http://schemas.openxmlformats.org/drawingml/2006/main">
            <a:r>
              <a:t>https://zammad.com/en/company/press/zammad-introduces-ai-features-with-free-choice-of-large-language-model</a:t>
            </a:r>
          </a:p>
          <a:p xmlns:a="http://schemas.openxmlformats.org/drawingml/2006/main">
            <a:r>
              <a:t>https://www.chatwoot.com/pricing/self-hosted-plans</a:t>
            </a:r>
          </a:p>
          <a:p xmlns:a="http://schemas.openxmlformats.org/drawingml/2006/main">
            <a:r>
              <a:t>https://app.chatwoot.com/hc/user-guide/articles/1755284287-how-to-enable-captain-on-self_hosted-installations</a:t>
            </a:r>
          </a:p>
          <a:p xmlns:a="http://schemas.openxmlformats.org/drawingml/2006/main">
            <a:r>
              <a:t>https://freescout.net/modules-faq/</a:t>
            </a:r>
          </a:p>
          <a:p xmlns:a="http://schemas.openxmlformats.org/drawingml/2006/main">
            <a:r>
              <a:t>https://www.freescout.net/module/ai-integration/</a:t>
            </a:r>
          </a:p>
          <a:p xmlns:a="http://schemas.openxmlformats.org/drawingml/2006/main">
            <a:r>
              <a:t>https://www.glpi-project.org/en/</a:t>
            </a:r>
          </a:p>
          <a:p xmlns:a="http://schemas.openxmlformats.org/drawingml/2006/main">
            <a:r>
              <a:t>https://www.glpi-project.org/en/glpi-gpl-3-0/</a:t>
            </a:r>
          </a:p>
          <a:p xmlns:a="http://schemas.openxmlformats.org/drawingml/2006/main">
            <a:r>
              <a:t>https://www.glpi-project.org/en/pricing/</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e878062ece44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f6c53f5b0847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e7bb3c0ae34d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4c4ab8072944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b50d1a78424f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38db5c15de44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A08392-F31E-48D3-9D5C-BCB6BA8F35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CF0018-5B48-4BF3-B20D-665AA954358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D527FF-AC4F-4EF2-9F8C-0F64CE5A11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6F660C-65BF-4D04-979B-5BCFFE79EE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623BD87-4D06-42B9-B8DF-D0FE85CAF8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2EA143-9072-4043-B8EE-5B58FE092E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4B0F92-7EF2-41C5-A332-164ED71479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462294-AEE9-43FE-872D-01933C998F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9042F6-EA1B-4D91-ADFB-AEFA777C86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5FFAC4-EF71-4696-A682-BE401A5029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23b71ce29b4a74" /><Relationship Type="http://schemas.openxmlformats.org/officeDocument/2006/relationships/slideLayout" Target="/ppt/slideLayouts/slideLayout1.xml" Id="R3d0c3e4cb4ce4ce3" /><Relationship Type="http://schemas.openxmlformats.org/officeDocument/2006/relationships/slideLayout" Target="/ppt/slideLayouts/slideLayout2.xml" Id="Rdb2fe627f35349e3" /><Relationship Type="http://schemas.openxmlformats.org/officeDocument/2006/relationships/slideLayout" Target="/ppt/slideLayouts/slideLayout3.xml" Id="Re076c2356b444243" /><Relationship Type="http://schemas.openxmlformats.org/officeDocument/2006/relationships/slideLayout" Target="/ppt/slideLayouts/slideLayout4.xml" Id="R4cf90980c0cd4c01" /><Relationship Type="http://schemas.openxmlformats.org/officeDocument/2006/relationships/slideLayout" Target="/ppt/slideLayouts/slideLayout5.xml" Id="R2482e66372024582" /><Relationship Type="http://schemas.openxmlformats.org/officeDocument/2006/relationships/slideLayout" Target="/ppt/slideLayouts/slideLayout6.xml" Id="R24ea08a1639c47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0c3e4cb4ce4ce3"/>
    <p:sldLayoutId xmlns:r="http://schemas.openxmlformats.org/officeDocument/2006/relationships" id="2147483650" r:id="Rdb2fe627f35349e3"/>
    <p:sldLayoutId xmlns:r="http://schemas.openxmlformats.org/officeDocument/2006/relationships" id="2147483651" r:id="Re076c2356b444243"/>
    <p:sldLayoutId xmlns:r="http://schemas.openxmlformats.org/officeDocument/2006/relationships" id="2147483652" r:id="R4cf90980c0cd4c01"/>
    <p:sldLayoutId xmlns:r="http://schemas.openxmlformats.org/officeDocument/2006/relationships" id="2147483653" r:id="R2482e66372024582"/>
    <p:sldLayoutId xmlns:r="http://schemas.openxmlformats.org/officeDocument/2006/relationships" id="2147483654" r:id="R24ea08a1639c47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41b3e8206440cb" /><Relationship Type="http://schemas.openxmlformats.org/officeDocument/2006/relationships/image" Target="/ppt/media/image.png" Id="R28c398cda5f74caf" /><Relationship Type="http://schemas.openxmlformats.org/officeDocument/2006/relationships/notesSlide" Target="/ppt/notesSlides/notesSlide1.xml" Id="Rb92b542ea3a543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9f6b524024431e" /><Relationship Type="http://schemas.openxmlformats.org/officeDocument/2006/relationships/notesSlide" Target="/ppt/notesSlides/notesSlide2.xml" Id="Rdfb6094e7ebd43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31c994c4054d5a" /><Relationship Type="http://schemas.openxmlformats.org/officeDocument/2006/relationships/image" Target="/ppt/media/image2.png" Id="R85b9052926f944f9" /><Relationship Type="http://schemas.openxmlformats.org/officeDocument/2006/relationships/notesSlide" Target="/ppt/notesSlides/notesSlide3.xml" Id="Rce02c30d1cbf43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1788804a81c4457" /><Relationship Type="http://schemas.openxmlformats.org/officeDocument/2006/relationships/notesSlide" Target="/ppt/notesSlides/notesSlide4.xml" Id="R04d5951721d444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0f36b050da14e52" /><Relationship Type="http://schemas.openxmlformats.org/officeDocument/2006/relationships/notesSlide" Target="/ppt/notesSlides/notesSlide5.xml" Id="R6bd033a1967a46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1820d3c68b422a" /><Relationship Type="http://schemas.openxmlformats.org/officeDocument/2006/relationships/notesSlide" Target="/ppt/notesSlides/notesSlide6.xml" Id="R85e1f1dba3e34c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f0587a2f07a4f12" /><Relationship Type="http://schemas.openxmlformats.org/officeDocument/2006/relationships/notesSlide" Target="/ppt/notesSlides/notesSlide7.xml" Id="R8a79132f3c3d49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d7b367e8e842d0" /><Relationship Type="http://schemas.openxmlformats.org/officeDocument/2006/relationships/notesSlide" Target="/ppt/notesSlides/notesSlide8.xml" Id="R8a0ad49d9f7540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4225f9b3d84556" /><Relationship Type="http://schemas.openxmlformats.org/officeDocument/2006/relationships/notesSlide" Target="/ppt/notesSlides/notesSlide9.xml" Id="Rb2bd9f71259042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55a31fee1d24799" /><Relationship Type="http://schemas.openxmlformats.org/officeDocument/2006/relationships/notesSlide" Target="/ppt/notesSlides/notesSlide10.xml" Id="R4ee95015d9af49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7a63aa35e804ac3" /><Relationship Type="http://schemas.openxmlformats.org/officeDocument/2006/relationships/notesSlide" Target="/ppt/notesSlides/notesSlide11.xml" Id="Re789b95a09f74c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9c4e2eed8654879" /><Relationship Type="http://schemas.openxmlformats.org/officeDocument/2006/relationships/notesSlide" Target="/ppt/notesSlides/notesSlide12.xml" Id="R939d9e558afe4b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e706573947e4800" /><Relationship Type="http://schemas.openxmlformats.org/officeDocument/2006/relationships/notesSlide" Target="/ppt/notesSlides/notesSlide13.xml" Id="Rc6b241f607a84eb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7b01c35da2f47ce" /><Relationship Type="http://schemas.openxmlformats.org/officeDocument/2006/relationships/notesSlide" Target="/ppt/notesSlides/notesSlide14.xml" Id="Rd7bffe83c7914e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36246f69c5c48f3" /><Relationship Type="http://schemas.openxmlformats.org/officeDocument/2006/relationships/image" Target="/ppt/media/image3.png" Id="R7b8681c866324f95" /><Relationship Type="http://schemas.openxmlformats.org/officeDocument/2006/relationships/notesSlide" Target="/ppt/notesSlides/notesSlide15.xml" Id="R7acec6be5cff43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577567e539a467e" /><Relationship Type="http://schemas.openxmlformats.org/officeDocument/2006/relationships/notesSlide" Target="/ppt/notesSlides/notesSlide16.xml" Id="Rab227aa65a9b40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aaf9d9262704435" /><Relationship Type="http://schemas.openxmlformats.org/officeDocument/2006/relationships/notesSlide" Target="/ppt/notesSlides/notesSlide17.xml" Id="R969ff88f1f9d44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2938f00afaa4473" /><Relationship Type="http://schemas.openxmlformats.org/officeDocument/2006/relationships/hyperlink" Target="mailto:kontakt@kieks.me" TargetMode="External" Id="R6d9cddb0670e4081" /><Relationship Type="http://schemas.openxmlformats.org/officeDocument/2006/relationships/hyperlink" Target="https://csp-brand-kieksme.netlify.app/" TargetMode="External" Id="Rba87b5384d5247fa" /><Relationship Type="http://schemas.openxmlformats.org/officeDocument/2006/relationships/notesSlide" Target="/ppt/notesSlides/notesSlide18.xml" Id="R604308305533481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696afc614d74db0" /><Relationship Type="http://schemas.openxmlformats.org/officeDocument/2006/relationships/notesSlide" Target="/ppt/notesSlides/notesSlide19.xml" Id="R323e47426e8d482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c6bad1e42074ed7" /><Relationship Type="http://schemas.openxmlformats.org/officeDocument/2006/relationships/notesSlide" Target="/ppt/notesSlides/notesSlide20.xml" Id="Re8439f0e3d42435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0d85361fa9245f5" /><Relationship Type="http://schemas.openxmlformats.org/officeDocument/2006/relationships/notesSlide" Target="/ppt/notesSlides/notesSlide21.xml" Id="R0799d8bb8c5d4b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9b186ceb33a46d6" /><Relationship Type="http://schemas.openxmlformats.org/officeDocument/2006/relationships/notesSlide" Target="/ppt/notesSlides/notesSlide22.xml" Id="R165ff68e4d2643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1604f11f2544fb2" /><Relationship Type="http://schemas.openxmlformats.org/officeDocument/2006/relationships/notesSlide" Target="/ppt/notesSlides/notesSlide23.xml" Id="R5b6f1b733eb14e8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a7c88da6d184e63" /><Relationship Type="http://schemas.openxmlformats.org/officeDocument/2006/relationships/notesSlide" Target="/ppt/notesSlides/notesSlide24.xml" Id="Rd3fb15a74bc7416f" /></Relationships>
</file>

<file path=ppt/slides/slide1.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D59DCF1-42CA-4EE6-A8EA-C2AA253DAA6E}"/>
              </a:ext>
            </a:extLst>
          </p:cNvPr>
          <p:cNvPicPr>
            <a:picLocks xmlns:a="http://schemas.openxmlformats.org/drawingml/2006/main" noChangeAspect="1"/>
          </p:cNvPicPr>
          <p:nvPr/>
        </p:nvPicPr>
        <p:blipFill>
          <a:blip xmlns:r="http://schemas.openxmlformats.org/officeDocument/2006/relationships" xmlns:a="http://schemas.openxmlformats.org/drawingml/2006/main" r:embed="R28c398cda5f74caf"/>
          <a:stretch xmlns:a="http://schemas.openxmlformats.org/drawingml/2006/main"/>
        </p:blipFill>
        <p:spPr>
          <a:xfrm xmlns:a="http://schemas.openxmlformats.org/drawingml/2006/main">
            <a:off x="685800" y="546222"/>
            <a:ext cx="2667000" cy="774456"/>
          </a:xfrm>
          <a:prstGeom xmlns:a="http://schemas.openxmlformats.org/drawingml/2006/main" prst="rect">
            <a:avLst/>
          </a:prstGeom>
        </p:spPr>
      </p:pic>
      <p:sp>
        <p:nvSpPr>
          <p:cNvPr id="2" name="body">
            <a:extLst xmlns:a="http://schemas.openxmlformats.org/drawingml/2006/main">
              <a:ext uri="{FF2B5EF4-FFF2-40B4-BE49-F238E27FC236}">
                <a16:creationId xmlns:a16="http://schemas.microsoft.com/office/drawing/2014/main" id="{7BC0D018-1D2F-4AB0-8B6D-D6234CDCE59B}"/>
              </a:ext>
            </a:extLst>
          </p:cNvPr>
          <p:cNvSpPr>
            <a:spLocks xmlns:a="http://schemas.openxmlformats.org/drawingml/2006/main" noGrp="1"/>
          </p:cNvSpPr>
          <p:nvPr/>
        </p:nvSpPr>
        <p:spPr>
          <a:xfrm xmlns:a="http://schemas.openxmlformats.org/drawingml/2006/main">
            <a:off x="685800" y="193357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5F36B"/>
                </a:solidFill>
                <a:latin typeface="Arial"/>
                <a:ea typeface="Arial"/>
                <a:cs typeface="Arial"/>
              </a:defRPr>
            </a:defPPr>
          </a:lstStyle>
          <a:p xmlns:a="http://schemas.openxmlformats.org/drawingml/2006/main">
            <a:pPr>
              <a:buNone/>
              <a:defRPr sz="1875" b="1">
                <a:solidFill>
                  <a:srgbClr val="D5F36B"/>
                </a:solidFill>
                <a:latin typeface="Arial"/>
                <a:ea typeface="Arial"/>
                <a:cs typeface="Arial"/>
              </a:defRPr>
            </a:pPr>
            <a:r>
              <a:rPr sz="1875" b="1">
                <a:solidFill>
                  <a:srgbClr val="D5F36B"/>
                </a:solidFill>
                <a:latin typeface="Arial"/>
                <a:ea typeface="Arial"/>
                <a:cs typeface="Arial"/>
              </a:rPr>
              <a:t>Customer Service Portal</a:t>
            </a:r>
          </a:p>
        </p:txBody>
      </p:sp>
      <p:sp>
        <p:nvSpPr>
          <p:cNvPr id="3" name="deck-title">
            <a:extLst xmlns:a="http://schemas.openxmlformats.org/drawingml/2006/main">
              <a:ext uri="{FF2B5EF4-FFF2-40B4-BE49-F238E27FC236}">
                <a16:creationId xmlns:a16="http://schemas.microsoft.com/office/drawing/2014/main" id="{FDC0250C-3526-4E1A-A43E-C8B3ABDA3479}"/>
              </a:ext>
            </a:extLst>
          </p:cNvPr>
          <p:cNvSpPr>
            <a:spLocks xmlns:a="http://schemas.openxmlformats.org/drawingml/2006/main" noGrp="1"/>
          </p:cNvSpPr>
          <p:nvPr/>
        </p:nvSpPr>
        <p:spPr>
          <a:xfrm xmlns:a="http://schemas.openxmlformats.org/drawingml/2006/main">
            <a:off x="685800" y="2657475"/>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7FAF9"/>
                </a:solidFill>
                <a:latin typeface="Arial"/>
                <a:ea typeface="Arial"/>
                <a:cs typeface="Arial"/>
              </a:defRPr>
            </a:defPPr>
          </a:lstStyle>
          <a:p xmlns:a="http://schemas.openxmlformats.org/drawingml/2006/main">
            <a:pPr>
              <a:buNone/>
              <a:defRPr sz="5850" b="1">
                <a:solidFill>
                  <a:srgbClr val="F7FAF9"/>
                </a:solidFill>
                <a:latin typeface="Arial"/>
                <a:ea typeface="Arial"/>
                <a:cs typeface="Arial"/>
              </a:defRPr>
            </a:pPr>
            <a:r>
              <a:rPr sz="5850" b="1">
                <a:solidFill>
                  <a:srgbClr val="F7FAF9"/>
                </a:solidFill>
                <a:latin typeface="Arial"/>
                <a:ea typeface="Arial"/>
                <a:cs typeface="Arial"/>
              </a:rPr>
              <a:t>Kundenservice</a:t>
            </a:r>
          </a:p>
          <a:p xmlns:a="http://schemas.openxmlformats.org/drawingml/2006/main">
            <a:pPr>
              <a:buNone/>
              <a:defRPr sz="5850" b="1">
                <a:solidFill>
                  <a:srgbClr val="F7FAF9"/>
                </a:solidFill>
                <a:latin typeface="Arial"/>
                <a:ea typeface="Arial"/>
                <a:cs typeface="Arial"/>
              </a:defRPr>
            </a:pPr>
            <a:r>
              <a:rPr sz="5850" b="1">
                <a:solidFill>
                  <a:srgbClr val="F7FAF9"/>
                </a:solidFill>
                <a:latin typeface="Arial"/>
                <a:ea typeface="Arial"/>
                <a:cs typeface="Arial"/>
              </a:rPr>
              <a:t>mit freier Wahl</a:t>
            </a:r>
          </a:p>
        </p:txBody>
      </p:sp>
      <p:sp>
        <p:nvSpPr>
          <p:cNvPr id="4" name="body">
            <a:extLst xmlns:a="http://schemas.openxmlformats.org/drawingml/2006/main">
              <a:ext uri="{FF2B5EF4-FFF2-40B4-BE49-F238E27FC236}">
                <a16:creationId xmlns:a16="http://schemas.microsoft.com/office/drawing/2014/main" id="{9A7498B2-140F-413A-8D28-286F638A3593}"/>
              </a:ext>
            </a:extLst>
          </p:cNvPr>
          <p:cNvSpPr>
            <a:spLocks xmlns:a="http://schemas.openxmlformats.org/drawingml/2006/main" noGrp="1"/>
          </p:cNvSpPr>
          <p:nvPr/>
        </p:nvSpPr>
        <p:spPr>
          <a:xfrm xmlns:a="http://schemas.openxmlformats.org/drawingml/2006/main">
            <a:off x="723900" y="5019675"/>
            <a:ext cx="952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7FAF9"/>
                </a:solidFill>
                <a:latin typeface="Arial"/>
                <a:ea typeface="Arial"/>
                <a:cs typeface="Arial"/>
              </a:defRPr>
            </a:defPPr>
          </a:lstStyle>
          <a:p xmlns:a="http://schemas.openxmlformats.org/drawingml/2006/main">
            <a:pPr>
              <a:buNone/>
              <a:defRPr sz="2400" b="0">
                <a:solidFill>
                  <a:srgbClr val="F7FAF9"/>
                </a:solidFill>
                <a:latin typeface="Arial"/>
                <a:ea typeface="Arial"/>
                <a:cs typeface="Arial"/>
              </a:defRPr>
            </a:pPr>
            <a:r>
              <a:rPr sz="2400" b="0">
                <a:solidFill>
                  <a:srgbClr val="F7FAF9"/>
                </a:solidFill>
                <a:latin typeface="Arial"/>
                <a:ea typeface="Arial"/>
                <a:cs typeface="Arial"/>
              </a:rPr>
              <a:t>Open Source. Individuell eingerichtet.</a:t>
            </a:r>
          </a:p>
          <a:p xmlns:a="http://schemas.openxmlformats.org/drawingml/2006/main">
            <a:pPr>
              <a:buNone/>
              <a:defRPr sz="2400" b="0">
                <a:solidFill>
                  <a:srgbClr val="F7FAF9"/>
                </a:solidFill>
                <a:latin typeface="Arial"/>
                <a:ea typeface="Arial"/>
                <a:cs typeface="Arial"/>
              </a:defRPr>
            </a:pPr>
            <a:r>
              <a:rPr sz="2400" b="0">
                <a:solidFill>
                  <a:srgbClr val="F7FAF9"/>
                </a:solidFill>
                <a:latin typeface="Arial"/>
                <a:ea typeface="Arial"/>
                <a:cs typeface="Arial"/>
              </a:rPr>
              <a:t>Mit Ihrem Team weiterentwickelt.</a:t>
            </a:r>
          </a:p>
        </p:txBody>
      </p:sp>
    </p:spTree>
    <p:extLst>
      <p:ext uri="{BB962C8B-B14F-4D97-AF65-F5344CB8AC3E}">
        <p14:creationId xmlns:p14="http://schemas.microsoft.com/office/powerpoint/2010/main" val="410014145"/>
      </p:ext>
    </p:extLst>
  </p:cSld>
</p:sld>
</file>

<file path=ppt/slides/slide2.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A60D2533-8237-430E-92E3-F40C8347014D}"/>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AUSGANGSLAGE</a:t>
            </a:r>
          </a:p>
        </p:txBody>
      </p:sp>
      <p:sp>
        <p:nvSpPr>
          <p:cNvPr id="2" name="slide-title">
            <a:extLst xmlns:a="http://schemas.openxmlformats.org/drawingml/2006/main">
              <a:ext uri="{FF2B5EF4-FFF2-40B4-BE49-F238E27FC236}">
                <a16:creationId xmlns:a16="http://schemas.microsoft.com/office/drawing/2014/main" id="{8B1A2D95-270A-48E5-A7EA-7EADF047C4C8}"/>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Der Support beginnt oft mit Rückfragen</a:t>
            </a:r>
          </a:p>
        </p:txBody>
      </p:sp>
      <p:sp>
        <p:nvSpPr>
          <p:cNvPr id="3" name="footer">
            <a:extLst xmlns:a="http://schemas.openxmlformats.org/drawingml/2006/main">
              <a:ext uri="{FF2B5EF4-FFF2-40B4-BE49-F238E27FC236}">
                <a16:creationId xmlns:a16="http://schemas.microsoft.com/office/drawing/2014/main" id="{65A96F84-7782-4982-87C2-B2A4341A4DD1}"/>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88AD0977-FC32-4FD5-93A7-60A6B8157B4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02</a:t>
            </a:r>
          </a:p>
        </p:txBody>
      </p:sp>
      <p:sp>
        <p:nvSpPr>
          <p:cNvPr id="5" name="body">
            <a:extLst xmlns:a="http://schemas.openxmlformats.org/drawingml/2006/main">
              <a:ext uri="{FF2B5EF4-FFF2-40B4-BE49-F238E27FC236}">
                <a16:creationId xmlns:a16="http://schemas.microsoft.com/office/drawing/2014/main" id="{272E1949-4047-450C-96D7-EC35761C00E3}"/>
              </a:ext>
            </a:extLst>
          </p:cNvPr>
          <p:cNvSpPr>
            <a:spLocks xmlns:a="http://schemas.openxmlformats.org/drawingml/2006/main" noGrp="1"/>
          </p:cNvSpPr>
          <p:nvPr/>
        </p:nvSpPr>
        <p:spPr>
          <a:xfrm xmlns:a="http://schemas.openxmlformats.org/drawingml/2006/main">
            <a:off x="685800" y="219075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06B64"/>
                </a:solidFill>
                <a:latin typeface="Arial"/>
                <a:ea typeface="Arial"/>
                <a:cs typeface="Arial"/>
              </a:defRPr>
            </a:defPPr>
          </a:lstStyle>
          <a:p xmlns:a="http://schemas.openxmlformats.org/drawingml/2006/main">
            <a:pPr>
              <a:buNone/>
              <a:defRPr sz="2850" b="1">
                <a:solidFill>
                  <a:srgbClr val="006B64"/>
                </a:solidFill>
                <a:latin typeface="Arial"/>
                <a:ea typeface="Arial"/>
                <a:cs typeface="Arial"/>
              </a:defRPr>
            </a:pPr>
            <a:r>
              <a:rPr sz="2850" b="1">
                <a:solidFill>
                  <a:srgbClr val="006B64"/>
                </a:solidFill>
                <a:latin typeface="Arial"/>
                <a:ea typeface="Arial"/>
                <a:cs typeface="Arial"/>
              </a:rPr>
              <a:t>„Ist mein System gestört?“</a:t>
            </a:r>
          </a:p>
        </p:txBody>
      </p:sp>
      <p:sp>
        <p:nvSpPr>
          <p:cNvPr id="6" name="body">
            <a:extLst xmlns:a="http://schemas.openxmlformats.org/drawingml/2006/main">
              <a:ext uri="{FF2B5EF4-FFF2-40B4-BE49-F238E27FC236}">
                <a16:creationId xmlns:a16="http://schemas.microsoft.com/office/drawing/2014/main" id="{303AD5B4-247D-4D00-B6B7-B713D9155D74}"/>
              </a:ext>
            </a:extLst>
          </p:cNvPr>
          <p:cNvSpPr>
            <a:spLocks xmlns:a="http://schemas.openxmlformats.org/drawingml/2006/main" noGrp="1"/>
          </p:cNvSpPr>
          <p:nvPr/>
        </p:nvSpPr>
        <p:spPr>
          <a:xfrm xmlns:a="http://schemas.openxmlformats.org/drawingml/2006/main">
            <a:off x="685800" y="2943225"/>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06B64"/>
                </a:solidFill>
                <a:latin typeface="Arial"/>
                <a:ea typeface="Arial"/>
                <a:cs typeface="Arial"/>
              </a:defRPr>
            </a:defPPr>
          </a:lstStyle>
          <a:p xmlns:a="http://schemas.openxmlformats.org/drawingml/2006/main">
            <a:pPr>
              <a:buNone/>
              <a:defRPr sz="2850" b="1">
                <a:solidFill>
                  <a:srgbClr val="006B64"/>
                </a:solidFill>
                <a:latin typeface="Arial"/>
                <a:ea typeface="Arial"/>
                <a:cs typeface="Arial"/>
              </a:defRPr>
            </a:pPr>
            <a:r>
              <a:rPr sz="2850" b="1">
                <a:solidFill>
                  <a:srgbClr val="006B64"/>
                </a:solidFill>
                <a:latin typeface="Arial"/>
                <a:ea typeface="Arial"/>
                <a:cs typeface="Arial"/>
              </a:rPr>
              <a:t>„Wer ist gerade zuständig?“</a:t>
            </a:r>
          </a:p>
        </p:txBody>
      </p:sp>
      <p:sp>
        <p:nvSpPr>
          <p:cNvPr id="7" name="body">
            <a:extLst xmlns:a="http://schemas.openxmlformats.org/drawingml/2006/main">
              <a:ext uri="{FF2B5EF4-FFF2-40B4-BE49-F238E27FC236}">
                <a16:creationId xmlns:a16="http://schemas.microsoft.com/office/drawing/2014/main" id="{93D5B134-D943-427E-B504-AF85DAD97A3D}"/>
              </a:ext>
            </a:extLst>
          </p:cNvPr>
          <p:cNvSpPr>
            <a:spLocks xmlns:a="http://schemas.openxmlformats.org/drawingml/2006/main" noGrp="1"/>
          </p:cNvSpPr>
          <p:nvPr/>
        </p:nvSpPr>
        <p:spPr>
          <a:xfrm xmlns:a="http://schemas.openxmlformats.org/drawingml/2006/main">
            <a:off x="685800" y="3695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06B64"/>
                </a:solidFill>
                <a:latin typeface="Arial"/>
                <a:ea typeface="Arial"/>
                <a:cs typeface="Arial"/>
              </a:defRPr>
            </a:defPPr>
          </a:lstStyle>
          <a:p xmlns:a="http://schemas.openxmlformats.org/drawingml/2006/main">
            <a:pPr>
              <a:buNone/>
              <a:defRPr sz="2850" b="1">
                <a:solidFill>
                  <a:srgbClr val="006B64"/>
                </a:solidFill>
                <a:latin typeface="Arial"/>
                <a:ea typeface="Arial"/>
                <a:cs typeface="Arial"/>
              </a:defRPr>
            </a:pPr>
            <a:r>
              <a:rPr sz="2850" b="1">
                <a:solidFill>
                  <a:srgbClr val="006B64"/>
                </a:solidFill>
                <a:latin typeface="Arial"/>
                <a:ea typeface="Arial"/>
                <a:cs typeface="Arial"/>
              </a:rPr>
              <a:t>„Wo finde ich die richtige Anleitung?“</a:t>
            </a:r>
          </a:p>
        </p:txBody>
      </p:sp>
      <p:sp>
        <p:nvSpPr>
          <p:cNvPr id="8" name="body">
            <a:extLst xmlns:a="http://schemas.openxmlformats.org/drawingml/2006/main">
              <a:ext uri="{FF2B5EF4-FFF2-40B4-BE49-F238E27FC236}">
                <a16:creationId xmlns:a16="http://schemas.microsoft.com/office/drawing/2014/main" id="{B81AAE40-02FD-4357-BAE7-1C22B8FBB390}"/>
              </a:ext>
            </a:extLst>
          </p:cNvPr>
          <p:cNvSpPr>
            <a:spLocks xmlns:a="http://schemas.openxmlformats.org/drawingml/2006/main" noGrp="1"/>
          </p:cNvSpPr>
          <p:nvPr/>
        </p:nvSpPr>
        <p:spPr>
          <a:xfrm xmlns:a="http://schemas.openxmlformats.org/drawingml/2006/main">
            <a:off x="685800" y="48958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A2A"/>
                </a:solidFill>
                <a:latin typeface="Arial"/>
                <a:ea typeface="Arial"/>
                <a:cs typeface="Arial"/>
              </a:defRPr>
            </a:defPPr>
          </a:lstStyle>
          <a:p xmlns:a="http://schemas.openxmlformats.org/drawingml/2006/main">
            <a:pPr>
              <a:buNone/>
              <a:defRPr sz="2100" b="0">
                <a:solidFill>
                  <a:srgbClr val="102A2A"/>
                </a:solidFill>
                <a:latin typeface="Arial"/>
                <a:ea typeface="Arial"/>
                <a:cs typeface="Arial"/>
              </a:defRPr>
            </a:pPr>
            <a:r>
              <a:rPr sz="2100" b="0">
                <a:solidFill>
                  <a:srgbClr val="102A2A"/>
                </a:solidFill>
                <a:latin typeface="Arial"/>
                <a:ea typeface="Arial"/>
                <a:cs typeface="Arial"/>
              </a:rPr>
              <a:t>Informationen aus verschiedenen Quellen machen den Einstieg</a:t>
            </a:r>
          </a:p>
          <a:p xmlns:a="http://schemas.openxmlformats.org/drawingml/2006/main">
            <a:pPr>
              <a:buNone/>
              <a:defRPr sz="2100" b="0">
                <a:solidFill>
                  <a:srgbClr val="102A2A"/>
                </a:solidFill>
                <a:latin typeface="Arial"/>
                <a:ea typeface="Arial"/>
                <a:cs typeface="Arial"/>
              </a:defRPr>
            </a:pPr>
            <a:r>
              <a:rPr sz="2100" b="0">
                <a:solidFill>
                  <a:srgbClr val="102A2A"/>
                </a:solidFill>
                <a:latin typeface="Arial"/>
                <a:ea typeface="Arial"/>
                <a:cs typeface="Arial"/>
              </a:rPr>
              <a:t>unnötig aufwendig. Ein gemeinsames Portal schafft Orientierung.</a:t>
            </a:r>
          </a:p>
        </p:txBody>
      </p:sp>
    </p:spTree>
    <p:extLst>
      <p:ext uri="{BB962C8B-B14F-4D97-AF65-F5344CB8AC3E}">
        <p14:creationId xmlns:p14="http://schemas.microsoft.com/office/powerpoint/2010/main" val="1931143498"/>
      </p:ext>
    </p:extLst>
  </p:cSld>
</p:sld>
</file>

<file path=ppt/slides/slide3.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C6F918D0-E972-4625-8177-0187969E46A3}"/>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DAS PRODUKT</a:t>
            </a:r>
          </a:p>
        </p:txBody>
      </p:sp>
      <p:sp>
        <p:nvSpPr>
          <p:cNvPr id="2" name="slide-title">
            <a:extLst xmlns:a="http://schemas.openxmlformats.org/drawingml/2006/main">
              <a:ext uri="{FF2B5EF4-FFF2-40B4-BE49-F238E27FC236}">
                <a16:creationId xmlns:a16="http://schemas.microsoft.com/office/drawing/2014/main" id="{72BAA53F-2852-49F4-BF42-C5EA9549AC2D}"/>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Ein Einstieg für Support und Systemstatus</a:t>
            </a:r>
          </a:p>
        </p:txBody>
      </p:sp>
      <p:sp>
        <p:nvSpPr>
          <p:cNvPr id="3" name="footer">
            <a:extLst xmlns:a="http://schemas.openxmlformats.org/drawingml/2006/main">
              <a:ext uri="{FF2B5EF4-FFF2-40B4-BE49-F238E27FC236}">
                <a16:creationId xmlns:a16="http://schemas.microsoft.com/office/drawing/2014/main" id="{4AD7C092-0373-479F-932F-CAFBB2831BE2}"/>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50A169DA-F848-4A02-AE64-32E22903EE91}"/>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03</a:t>
            </a:r>
          </a:p>
        </p:txBody>
      </p:sp>
      <p:sp>
        <p:nvSpPr>
          <p:cNvPr id="5" name="body">
            <a:extLst xmlns:a="http://schemas.openxmlformats.org/drawingml/2006/main">
              <a:ext uri="{FF2B5EF4-FFF2-40B4-BE49-F238E27FC236}">
                <a16:creationId xmlns:a16="http://schemas.microsoft.com/office/drawing/2014/main" id="{FB133132-3D57-42EC-9270-F871C9D48AF7}"/>
              </a:ext>
            </a:extLst>
          </p:cNvPr>
          <p:cNvSpPr>
            <a:spLocks xmlns:a="http://schemas.openxmlformats.org/drawingml/2006/main" noGrp="1"/>
          </p:cNvSpPr>
          <p:nvPr/>
        </p:nvSpPr>
        <p:spPr>
          <a:xfrm xmlns:a="http://schemas.openxmlformats.org/drawingml/2006/main">
            <a:off x="685800" y="2286000"/>
            <a:ext cx="3762375"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02A2A"/>
                </a:solidFill>
                <a:latin typeface="Arial"/>
                <a:ea typeface="Arial"/>
                <a:cs typeface="Arial"/>
              </a:defRPr>
            </a:defPPr>
          </a:lstStyle>
          <a:p xmlns:a="http://schemas.openxmlformats.org/drawingml/2006/main">
            <a:pPr>
              <a:buNone/>
              <a:defRPr sz="2325" b="1">
                <a:solidFill>
                  <a:srgbClr val="102A2A"/>
                </a:solidFill>
                <a:latin typeface="Arial"/>
                <a:ea typeface="Arial"/>
                <a:cs typeface="Arial"/>
              </a:defRPr>
            </a:pPr>
            <a:r>
              <a:rPr sz="2325" b="1">
                <a:solidFill>
                  <a:srgbClr val="102A2A"/>
                </a:solidFill>
                <a:latin typeface="Arial"/>
                <a:ea typeface="Arial"/>
                <a:cs typeface="Arial"/>
              </a:rPr>
              <a:t>Kunden finden Kontakte,</a:t>
            </a:r>
          </a:p>
          <a:p xmlns:a="http://schemas.openxmlformats.org/drawingml/2006/main">
            <a:pPr>
              <a:buNone/>
              <a:defRPr sz="2325" b="1">
                <a:solidFill>
                  <a:srgbClr val="102A2A"/>
                </a:solidFill>
                <a:latin typeface="Arial"/>
                <a:ea typeface="Arial"/>
                <a:cs typeface="Arial"/>
              </a:defRPr>
            </a:pPr>
            <a:r>
              <a:rPr sz="2325" b="1">
                <a:solidFill>
                  <a:srgbClr val="102A2A"/>
                </a:solidFill>
                <a:latin typeface="Arial"/>
                <a:ea typeface="Arial"/>
                <a:cs typeface="Arial"/>
              </a:rPr>
              <a:t>Bereitschaften, Status</a:t>
            </a:r>
          </a:p>
          <a:p xmlns:a="http://schemas.openxmlformats.org/drawingml/2006/main">
            <a:pPr>
              <a:buNone/>
              <a:defRPr sz="2325" b="1">
                <a:solidFill>
                  <a:srgbClr val="102A2A"/>
                </a:solidFill>
                <a:latin typeface="Arial"/>
                <a:ea typeface="Arial"/>
                <a:cs typeface="Arial"/>
              </a:defRPr>
            </a:pPr>
            <a:r>
              <a:rPr sz="2325" b="1">
                <a:solidFill>
                  <a:srgbClr val="102A2A"/>
                </a:solidFill>
                <a:latin typeface="Arial"/>
                <a:ea typeface="Arial"/>
                <a:cs typeface="Arial"/>
              </a:rPr>
              <a:t>und Supportwissen</a:t>
            </a:r>
          </a:p>
          <a:p xmlns:a="http://schemas.openxmlformats.org/drawingml/2006/main">
            <a:pPr>
              <a:buNone/>
              <a:defRPr sz="2325" b="1">
                <a:solidFill>
                  <a:srgbClr val="102A2A"/>
                </a:solidFill>
                <a:latin typeface="Arial"/>
                <a:ea typeface="Arial"/>
                <a:cs typeface="Arial"/>
              </a:defRPr>
            </a:pPr>
            <a:r>
              <a:rPr sz="2325" b="1">
                <a:solidFill>
                  <a:srgbClr val="102A2A"/>
                </a:solidFill>
                <a:latin typeface="Arial"/>
                <a:ea typeface="Arial"/>
                <a:cs typeface="Arial"/>
              </a:rPr>
              <a:t>an einem Ort.</a:t>
            </a:r>
          </a:p>
        </p:txBody>
      </p:sp>
      <p:sp>
        <p:nvSpPr>
          <p:cNvPr id="6" name="body">
            <a:extLst xmlns:a="http://schemas.openxmlformats.org/drawingml/2006/main">
              <a:ext uri="{FF2B5EF4-FFF2-40B4-BE49-F238E27FC236}">
                <a16:creationId xmlns:a16="http://schemas.microsoft.com/office/drawing/2014/main" id="{9B3F4181-804B-439F-B16D-ADE07D0068DC}"/>
              </a:ext>
            </a:extLst>
          </p:cNvPr>
          <p:cNvSpPr>
            <a:spLocks xmlns:a="http://schemas.openxmlformats.org/drawingml/2006/main" noGrp="1"/>
          </p:cNvSpPr>
          <p:nvPr/>
        </p:nvSpPr>
        <p:spPr>
          <a:xfrm xmlns:a="http://schemas.openxmlformats.org/drawingml/2006/main">
            <a:off x="685800" y="4371975"/>
            <a:ext cx="37623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763"/>
                </a:solidFill>
                <a:latin typeface="Arial"/>
                <a:ea typeface="Arial"/>
                <a:cs typeface="Arial"/>
              </a:defRPr>
            </a:defPPr>
          </a:lstStyle>
          <a:p xmlns:a="http://schemas.openxmlformats.org/drawingml/2006/main">
            <a:pPr>
              <a:buNone/>
              <a:defRPr sz="2025" b="0">
                <a:solidFill>
                  <a:srgbClr val="526763"/>
                </a:solidFill>
                <a:latin typeface="Arial"/>
                <a:ea typeface="Arial"/>
                <a:cs typeface="Arial"/>
              </a:defRPr>
            </a:pPr>
            <a:r>
              <a:rPr sz="2025" b="0">
                <a:solidFill>
                  <a:srgbClr val="526763"/>
                </a:solidFill>
                <a:latin typeface="Arial"/>
                <a:ea typeface="Arial"/>
                <a:cs typeface="Arial"/>
              </a:rPr>
              <a:t>Der Assistent nutzt die</a:t>
            </a:r>
          </a:p>
          <a:p xmlns:a="http://schemas.openxmlformats.org/drawingml/2006/main">
            <a:pPr>
              <a:buNone/>
              <a:defRPr sz="2025" b="0">
                <a:solidFill>
                  <a:srgbClr val="526763"/>
                </a:solidFill>
                <a:latin typeface="Arial"/>
                <a:ea typeface="Arial"/>
                <a:cs typeface="Arial"/>
              </a:defRPr>
            </a:pPr>
            <a:r>
              <a:rPr sz="2025" b="0">
                <a:solidFill>
                  <a:srgbClr val="526763"/>
                </a:solidFill>
                <a:latin typeface="Arial"/>
                <a:ea typeface="Arial"/>
                <a:cs typeface="Arial"/>
              </a:rPr>
              <a:t>Inhalte und Live-Quellen</a:t>
            </a:r>
          </a:p>
          <a:p xmlns:a="http://schemas.openxmlformats.org/drawingml/2006/main">
            <a:pPr>
              <a:buNone/>
              <a:defRPr sz="2025" b="0">
                <a:solidFill>
                  <a:srgbClr val="526763"/>
                </a:solidFill>
                <a:latin typeface="Arial"/>
                <a:ea typeface="Arial"/>
                <a:cs typeface="Arial"/>
              </a:defRPr>
            </a:pPr>
            <a:r>
              <a:rPr sz="2025" b="0">
                <a:solidFill>
                  <a:srgbClr val="526763"/>
                </a:solidFill>
                <a:latin typeface="Arial"/>
                <a:ea typeface="Arial"/>
                <a:cs typeface="Arial"/>
              </a:rPr>
              <a:t>der eigenen Instanz.</a:t>
            </a:r>
          </a:p>
        </p:txBody>
      </p:sp>
      <p:pic>
        <p:nvPicPr>
          <p:cNvPr id="7" name="">
            <a:extLst xmlns:a="http://schemas.openxmlformats.org/drawingml/2006/main">
              <a:ext uri="{FF2B5EF4-FFF2-40B4-BE49-F238E27FC236}">
                <a16:creationId xmlns:a16="http://schemas.microsoft.com/office/drawing/2014/main" id="{9FB9FF29-B44A-4658-9775-3913C55E3A50}"/>
              </a:ext>
            </a:extLst>
          </p:cNvPr>
          <p:cNvPicPr>
            <a:picLocks xmlns:a="http://schemas.openxmlformats.org/drawingml/2006/main" noChangeAspect="1"/>
          </p:cNvPicPr>
          <p:nvPr/>
        </p:nvPicPr>
        <p:blipFill>
          <a:blip xmlns:r="http://schemas.openxmlformats.org/officeDocument/2006/relationships" xmlns:a="http://schemas.openxmlformats.org/drawingml/2006/main" r:embed="R85b9052926f944f9"/>
          <a:stretch xmlns:a="http://schemas.openxmlformats.org/drawingml/2006/main"/>
        </p:blipFill>
        <p:spPr>
          <a:xfrm xmlns:a="http://schemas.openxmlformats.org/drawingml/2006/main">
            <a:off x="5520542" y="1838325"/>
            <a:ext cx="5418117" cy="417195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4975A62D-1C38-47F2-9BA7-3D40A4FB37D3}"/>
              </a:ext>
            </a:extLst>
          </p:cNvPr>
          <p:cNvSpPr>
            <a:spLocks xmlns:a="http://schemas.openxmlformats.org/drawingml/2006/main" noGrp="1"/>
          </p:cNvSpPr>
          <p:nvPr/>
        </p:nvSpPr>
        <p:spPr>
          <a:xfrm xmlns:a="http://schemas.openxmlformats.org/drawingml/2006/main">
            <a:off x="5162550" y="6000750"/>
            <a:ext cx="6305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63"/>
                </a:solidFill>
                <a:latin typeface="Arial"/>
                <a:ea typeface="Arial"/>
                <a:cs typeface="Arial"/>
              </a:defRPr>
            </a:defPPr>
          </a:lstStyle>
          <a:p xmlns:a="http://schemas.openxmlformats.org/drawingml/2006/main">
            <a:pPr>
              <a:buNone/>
              <a:defRPr sz="1275" b="0">
                <a:solidFill>
                  <a:srgbClr val="526763"/>
                </a:solidFill>
                <a:latin typeface="Arial"/>
                <a:ea typeface="Arial"/>
                <a:cs typeface="Arial"/>
              </a:defRPr>
            </a:pPr>
            <a:r>
              <a:rPr sz="1275" b="0">
                <a:solidFill>
                  <a:srgbClr val="526763"/>
                </a:solidFill>
                <a:latin typeface="Arial"/>
                <a:ea typeface="Arial"/>
                <a:cs typeface="Arial"/>
              </a:rPr>
              <a:t>Produktdemo mit synthetischen Daten</a:t>
            </a:r>
          </a:p>
        </p:txBody>
      </p:sp>
    </p:spTree>
    <p:extLst>
      <p:ext uri="{BB962C8B-B14F-4D97-AF65-F5344CB8AC3E}">
        <p14:creationId xmlns:p14="http://schemas.microsoft.com/office/powerpoint/2010/main" val="1444707450"/>
      </p:ext>
    </p:extLst>
  </p:cSld>
</p:sld>
</file>

<file path=ppt/slides/slide4.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623B9E88-3205-49E4-8B78-1DC95ECDDA0A}"/>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buNone/>
              <a:defRPr sz="1275" b="1">
                <a:solidFill>
                  <a:srgbClr val="D5F36B"/>
                </a:solidFill>
                <a:latin typeface="Arial"/>
                <a:ea typeface="Arial"/>
                <a:cs typeface="Arial"/>
              </a:defRPr>
            </a:pPr>
            <a:r>
              <a:rPr sz="1275" b="1">
                <a:solidFill>
                  <a:srgbClr val="D5F36B"/>
                </a:solidFill>
                <a:latin typeface="Arial"/>
                <a:ea typeface="Arial"/>
                <a:cs typeface="Arial"/>
              </a:rPr>
              <a:t>ENTLASTUNG</a:t>
            </a:r>
          </a:p>
        </p:txBody>
      </p:sp>
      <p:sp>
        <p:nvSpPr>
          <p:cNvPr id="2" name="slide-title">
            <a:extLst xmlns:a="http://schemas.openxmlformats.org/drawingml/2006/main">
              <a:ext uri="{FF2B5EF4-FFF2-40B4-BE49-F238E27FC236}">
                <a16:creationId xmlns:a16="http://schemas.microsoft.com/office/drawing/2014/main" id="{C01C91DD-2F3B-445F-9C3D-8E4B86DA7859}"/>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buNone/>
              <a:defRPr sz="3600" b="1">
                <a:solidFill>
                  <a:srgbClr val="F7FAF9"/>
                </a:solidFill>
                <a:latin typeface="Arial"/>
                <a:ea typeface="Arial"/>
                <a:cs typeface="Arial"/>
              </a:defRPr>
            </a:pPr>
            <a:r>
              <a:rPr sz="3600" b="1">
                <a:solidFill>
                  <a:srgbClr val="F7FAF9"/>
                </a:solidFill>
                <a:latin typeface="Arial"/>
                <a:ea typeface="Arial"/>
                <a:cs typeface="Arial"/>
              </a:rPr>
              <a:t>KI-Vorfilterung mit messbarem Ziel</a:t>
            </a:r>
          </a:p>
        </p:txBody>
      </p:sp>
      <p:sp>
        <p:nvSpPr>
          <p:cNvPr id="3" name="footer">
            <a:extLst xmlns:a="http://schemas.openxmlformats.org/drawingml/2006/main">
              <a:ext uri="{FF2B5EF4-FFF2-40B4-BE49-F238E27FC236}">
                <a16:creationId xmlns:a16="http://schemas.microsoft.com/office/drawing/2014/main" id="{AEB34D1F-C0A1-49C6-BEA3-1939799899E4}"/>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CBC0436-0922-4DDF-9499-F8B8FA56ED3F}"/>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04</a:t>
            </a:r>
          </a:p>
        </p:txBody>
      </p:sp>
      <p:sp>
        <p:nvSpPr>
          <p:cNvPr id="5" name="target-number">
            <a:extLst xmlns:a="http://schemas.openxmlformats.org/drawingml/2006/main">
              <a:ext uri="{FF2B5EF4-FFF2-40B4-BE49-F238E27FC236}">
                <a16:creationId xmlns:a16="http://schemas.microsoft.com/office/drawing/2014/main" id="{D4F3C811-B8BB-4D2B-B634-6461C11FE15E}"/>
              </a:ext>
            </a:extLst>
          </p:cNvPr>
          <p:cNvSpPr>
            <a:spLocks xmlns:a="http://schemas.openxmlformats.org/drawingml/2006/main" noGrp="1"/>
          </p:cNvSpPr>
          <p:nvPr/>
        </p:nvSpPr>
        <p:spPr>
          <a:xfrm xmlns:a="http://schemas.openxmlformats.org/drawingml/2006/main">
            <a:off x="685800" y="2190750"/>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0" b="1">
                <a:solidFill>
                  <a:srgbClr val="D5F36B"/>
                </a:solidFill>
                <a:latin typeface="Arial"/>
                <a:ea typeface="Arial"/>
                <a:cs typeface="Arial"/>
              </a:defRPr>
            </a:defPPr>
          </a:lstStyle>
          <a:p xmlns:a="http://schemas.openxmlformats.org/drawingml/2006/main">
            <a:pPr>
              <a:buNone/>
              <a:defRPr sz="12750" b="1">
                <a:solidFill>
                  <a:srgbClr val="D5F36B"/>
                </a:solidFill>
                <a:latin typeface="Arial"/>
                <a:ea typeface="Arial"/>
                <a:cs typeface="Arial"/>
              </a:defRPr>
            </a:pPr>
            <a:r>
              <a:rPr sz="12750" b="1">
                <a:solidFill>
                  <a:srgbClr val="D5F36B"/>
                </a:solidFill>
                <a:latin typeface="Arial"/>
                <a:ea typeface="Arial"/>
                <a:cs typeface="Arial"/>
              </a:rPr>
              <a:t>80 %</a:t>
            </a:r>
          </a:p>
        </p:txBody>
      </p:sp>
      <p:sp>
        <p:nvSpPr>
          <p:cNvPr id="6" name="body">
            <a:extLst xmlns:a="http://schemas.openxmlformats.org/drawingml/2006/main">
              <a:ext uri="{FF2B5EF4-FFF2-40B4-BE49-F238E27FC236}">
                <a16:creationId xmlns:a16="http://schemas.microsoft.com/office/drawing/2014/main" id="{7C85EB4C-2B51-4249-8736-7143F98C5E7F}"/>
              </a:ext>
            </a:extLst>
          </p:cNvPr>
          <p:cNvSpPr>
            <a:spLocks xmlns:a="http://schemas.openxmlformats.org/drawingml/2006/main" noGrp="1"/>
          </p:cNvSpPr>
          <p:nvPr/>
        </p:nvSpPr>
        <p:spPr>
          <a:xfrm xmlns:a="http://schemas.openxmlformats.org/drawingml/2006/main">
            <a:off x="781050" y="4333875"/>
            <a:ext cx="4914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7FAF9"/>
                </a:solidFill>
                <a:latin typeface="Arial"/>
                <a:ea typeface="Arial"/>
                <a:cs typeface="Arial"/>
              </a:defRPr>
            </a:defPPr>
          </a:lstStyle>
          <a:p xmlns:a="http://schemas.openxmlformats.org/drawingml/2006/main">
            <a:pPr>
              <a:buNone/>
              <a:defRPr sz="2175" b="1">
                <a:solidFill>
                  <a:srgbClr val="F7FAF9"/>
                </a:solidFill>
                <a:latin typeface="Arial"/>
                <a:ea typeface="Arial"/>
                <a:cs typeface="Arial"/>
              </a:defRPr>
            </a:pPr>
            <a:r>
              <a:rPr sz="2175" b="1">
                <a:solidFill>
                  <a:srgbClr val="F7FAF9"/>
                </a:solidFill>
                <a:latin typeface="Arial"/>
                <a:ea typeface="Arial"/>
                <a:cs typeface="Arial"/>
              </a:rPr>
              <a:t>Zielwert für die Vorfilterung</a:t>
            </a:r>
          </a:p>
          <a:p xmlns:a="http://schemas.openxmlformats.org/drawingml/2006/main">
            <a:pPr>
              <a:buNone/>
              <a:defRPr sz="2175" b="1">
                <a:solidFill>
                  <a:srgbClr val="F7FAF9"/>
                </a:solidFill>
                <a:latin typeface="Arial"/>
                <a:ea typeface="Arial"/>
                <a:cs typeface="Arial"/>
              </a:defRPr>
            </a:pPr>
            <a:r>
              <a:rPr sz="2175" b="1">
                <a:solidFill>
                  <a:srgbClr val="F7FAF9"/>
                </a:solidFill>
                <a:latin typeface="Arial"/>
                <a:ea typeface="Arial"/>
                <a:cs typeface="Arial"/>
              </a:rPr>
              <a:t>von Serviceanfragen</a:t>
            </a:r>
          </a:p>
        </p:txBody>
      </p:sp>
      <p:sp>
        <p:nvSpPr>
          <p:cNvPr id="7" name="body">
            <a:extLst xmlns:a="http://schemas.openxmlformats.org/drawingml/2006/main">
              <a:ext uri="{FF2B5EF4-FFF2-40B4-BE49-F238E27FC236}">
                <a16:creationId xmlns:a16="http://schemas.microsoft.com/office/drawing/2014/main" id="{E76515C7-D973-4938-AD25-F69B7AEEA78D}"/>
              </a:ext>
            </a:extLst>
          </p:cNvPr>
          <p:cNvSpPr>
            <a:spLocks xmlns:a="http://schemas.openxmlformats.org/drawingml/2006/main" noGrp="1"/>
          </p:cNvSpPr>
          <p:nvPr/>
        </p:nvSpPr>
        <p:spPr>
          <a:xfrm xmlns:a="http://schemas.openxmlformats.org/drawingml/2006/main">
            <a:off x="781050" y="53911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BCFC7"/>
                </a:solidFill>
                <a:latin typeface="Arial"/>
                <a:ea typeface="Arial"/>
                <a:cs typeface="Arial"/>
              </a:defRPr>
            </a:defPPr>
          </a:lstStyle>
          <a:p xmlns:a="http://schemas.openxmlformats.org/drawingml/2006/main">
            <a:pPr>
              <a:buNone/>
              <a:defRPr sz="1725" b="0">
                <a:solidFill>
                  <a:srgbClr val="BBCFC7"/>
                </a:solidFill>
                <a:latin typeface="Arial"/>
                <a:ea typeface="Arial"/>
                <a:cs typeface="Arial"/>
              </a:defRPr>
            </a:pPr>
            <a:r>
              <a:rPr sz="1725" b="0">
                <a:solidFill>
                  <a:srgbClr val="BBCFC7"/>
                </a:solidFill>
                <a:latin typeface="Arial"/>
                <a:ea typeface="Arial"/>
                <a:cs typeface="Arial"/>
              </a:rPr>
              <a:t>Noch keine eigene Messung.</a:t>
            </a:r>
          </a:p>
          <a:p xmlns:a="http://schemas.openxmlformats.org/drawingml/2006/main">
            <a:pPr>
              <a:buNone/>
              <a:defRPr sz="1725" b="0">
                <a:solidFill>
                  <a:srgbClr val="BBCFC7"/>
                </a:solidFill>
                <a:latin typeface="Arial"/>
                <a:ea typeface="Arial"/>
                <a:cs typeface="Arial"/>
              </a:defRPr>
            </a:pPr>
            <a:r>
              <a:rPr sz="1725" b="0">
                <a:solidFill>
                  <a:srgbClr val="BBCFC7"/>
                </a:solidFill>
                <a:latin typeface="Arial"/>
                <a:ea typeface="Arial"/>
                <a:cs typeface="Arial"/>
              </a:rPr>
              <a:t>Keine garantierte Einsparung.</a:t>
            </a:r>
          </a:p>
        </p:txBody>
      </p:sp>
      <p:sp>
        <p:nvSpPr>
          <p:cNvPr id="8" name="body">
            <a:extLst xmlns:a="http://schemas.openxmlformats.org/drawingml/2006/main">
              <a:ext uri="{FF2B5EF4-FFF2-40B4-BE49-F238E27FC236}">
                <a16:creationId xmlns:a16="http://schemas.microsoft.com/office/drawing/2014/main" id="{E4FA4DC2-7BCC-489D-B3D9-C376C5BEB9B0}"/>
              </a:ext>
            </a:extLst>
          </p:cNvPr>
          <p:cNvSpPr>
            <a:spLocks xmlns:a="http://schemas.openxmlformats.org/drawingml/2006/main" noGrp="1"/>
          </p:cNvSpPr>
          <p:nvPr/>
        </p:nvSpPr>
        <p:spPr>
          <a:xfrm xmlns:a="http://schemas.openxmlformats.org/drawingml/2006/main">
            <a:off x="6572250" y="2476500"/>
            <a:ext cx="4905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7FAF9"/>
                </a:solidFill>
                <a:latin typeface="Arial"/>
                <a:ea typeface="Arial"/>
                <a:cs typeface="Arial"/>
              </a:defRPr>
            </a:defPPr>
          </a:lstStyle>
          <a:p xmlns:a="http://schemas.openxmlformats.org/drawingml/2006/main">
            <a:pPr>
              <a:buNone/>
              <a:defRPr sz="2700" b="1">
                <a:solidFill>
                  <a:srgbClr val="F7FAF9"/>
                </a:solidFill>
                <a:latin typeface="Arial"/>
                <a:ea typeface="Arial"/>
                <a:cs typeface="Arial"/>
              </a:defRPr>
            </a:pPr>
            <a:r>
              <a:rPr sz="2700" b="1">
                <a:solidFill>
                  <a:srgbClr val="F7FAF9"/>
                </a:solidFill>
                <a:latin typeface="Arial"/>
                <a:ea typeface="Arial"/>
                <a:cs typeface="Arial"/>
              </a:rPr>
              <a:t>Weniger manuelle Rückfragen</a:t>
            </a:r>
          </a:p>
          <a:p xmlns:a="http://schemas.openxmlformats.org/drawingml/2006/main">
            <a:pPr>
              <a:buNone/>
              <a:defRPr sz="2700" b="1">
                <a:solidFill>
                  <a:srgbClr val="F7FAF9"/>
                </a:solidFill>
                <a:latin typeface="Arial"/>
                <a:ea typeface="Arial"/>
                <a:cs typeface="Arial"/>
              </a:defRPr>
            </a:pPr>
            <a:r>
              <a:rPr sz="2700" b="1">
                <a:solidFill>
                  <a:srgbClr val="F7FAF9"/>
                </a:solidFill>
                <a:latin typeface="Arial"/>
                <a:ea typeface="Arial"/>
                <a:cs typeface="Arial"/>
              </a:rPr>
              <a:t>können Bearbeitungszeit</a:t>
            </a:r>
          </a:p>
          <a:p xmlns:a="http://schemas.openxmlformats.org/drawingml/2006/main">
            <a:pPr>
              <a:buNone/>
              <a:defRPr sz="2700" b="1">
                <a:solidFill>
                  <a:srgbClr val="F7FAF9"/>
                </a:solidFill>
                <a:latin typeface="Arial"/>
                <a:ea typeface="Arial"/>
                <a:cs typeface="Arial"/>
              </a:defRPr>
            </a:pPr>
            <a:r>
              <a:rPr sz="2700" b="1">
                <a:solidFill>
                  <a:srgbClr val="F7FAF9"/>
                </a:solidFill>
                <a:latin typeface="Arial"/>
                <a:ea typeface="Arial"/>
                <a:cs typeface="Arial"/>
              </a:rPr>
              <a:t>und Kosten senken.</a:t>
            </a:r>
          </a:p>
        </p:txBody>
      </p:sp>
      <p:sp>
        <p:nvSpPr>
          <p:cNvPr id="9" name="body">
            <a:extLst xmlns:a="http://schemas.openxmlformats.org/drawingml/2006/main">
              <a:ext uri="{FF2B5EF4-FFF2-40B4-BE49-F238E27FC236}">
                <a16:creationId xmlns:a16="http://schemas.microsoft.com/office/drawing/2014/main" id="{B6410917-5D61-40C4-BF16-840482264A37}"/>
              </a:ext>
            </a:extLst>
          </p:cNvPr>
          <p:cNvSpPr>
            <a:spLocks xmlns:a="http://schemas.openxmlformats.org/drawingml/2006/main" noGrp="1"/>
          </p:cNvSpPr>
          <p:nvPr/>
        </p:nvSpPr>
        <p:spPr>
          <a:xfrm xmlns:a="http://schemas.openxmlformats.org/drawingml/2006/main">
            <a:off x="6572250" y="4448175"/>
            <a:ext cx="4905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7FAF9"/>
                </a:solidFill>
                <a:latin typeface="Arial"/>
                <a:ea typeface="Arial"/>
                <a:cs typeface="Arial"/>
              </a:defRPr>
            </a:defPPr>
          </a:lstStyle>
          <a:p xmlns:a="http://schemas.openxmlformats.org/drawingml/2006/main">
            <a:pPr>
              <a:buNone/>
              <a:defRPr sz="2100" b="0">
                <a:solidFill>
                  <a:srgbClr val="F7FAF9"/>
                </a:solidFill>
                <a:latin typeface="Arial"/>
                <a:ea typeface="Arial"/>
                <a:cs typeface="Arial"/>
              </a:defRPr>
            </a:pPr>
            <a:r>
              <a:rPr sz="2100" b="0">
                <a:solidFill>
                  <a:srgbClr val="F7FAF9"/>
                </a:solidFill>
                <a:latin typeface="Arial"/>
                <a:ea typeface="Arial"/>
                <a:cs typeface="Arial"/>
              </a:rPr>
              <a:t>Wir prüfen den Effekt im Pilot</a:t>
            </a:r>
          </a:p>
          <a:p xmlns:a="http://schemas.openxmlformats.org/drawingml/2006/main">
            <a:pPr>
              <a:buNone/>
              <a:defRPr sz="2100" b="0">
                <a:solidFill>
                  <a:srgbClr val="F7FAF9"/>
                </a:solidFill>
                <a:latin typeface="Arial"/>
                <a:ea typeface="Arial"/>
                <a:cs typeface="Arial"/>
              </a:defRPr>
            </a:pPr>
            <a:r>
              <a:rPr sz="2100" b="0">
                <a:solidFill>
                  <a:srgbClr val="F7FAF9"/>
                </a:solidFill>
                <a:latin typeface="Arial"/>
                <a:ea typeface="Arial"/>
                <a:cs typeface="Arial"/>
              </a:rPr>
              <a:t>mit Ihren realen Anfragearten</a:t>
            </a:r>
          </a:p>
          <a:p xmlns:a="http://schemas.openxmlformats.org/drawingml/2006/main">
            <a:pPr>
              <a:buNone/>
              <a:defRPr sz="2100" b="0">
                <a:solidFill>
                  <a:srgbClr val="F7FAF9"/>
                </a:solidFill>
                <a:latin typeface="Arial"/>
                <a:ea typeface="Arial"/>
                <a:cs typeface="Arial"/>
              </a:defRPr>
            </a:pPr>
            <a:r>
              <a:rPr sz="2100" b="0">
                <a:solidFill>
                  <a:srgbClr val="F7FAF9"/>
                </a:solidFill>
                <a:latin typeface="Arial"/>
                <a:ea typeface="Arial"/>
                <a:cs typeface="Arial"/>
              </a:rPr>
              <a:t>und Ihrer Wissensbasis.</a:t>
            </a:r>
          </a:p>
        </p:txBody>
      </p:sp>
    </p:spTree>
    <p:extLst>
      <p:ext uri="{BB962C8B-B14F-4D97-AF65-F5344CB8AC3E}">
        <p14:creationId xmlns:p14="http://schemas.microsoft.com/office/powerpoint/2010/main" val="1712389765"/>
      </p:ext>
    </p:extLst>
  </p:cSld>
</p:sld>
</file>

<file path=ppt/slides/slide5.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15B330FA-0607-4D38-AA34-F7EA8FB8514A}"/>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FREIE WAHL</a:t>
            </a:r>
          </a:p>
        </p:txBody>
      </p:sp>
      <p:sp>
        <p:nvSpPr>
          <p:cNvPr id="2" name="slide-title">
            <a:extLst xmlns:a="http://schemas.openxmlformats.org/drawingml/2006/main">
              <a:ext uri="{FF2B5EF4-FFF2-40B4-BE49-F238E27FC236}">
                <a16:creationId xmlns:a16="http://schemas.microsoft.com/office/drawing/2014/main" id="{E22DFA14-8B2A-466D-BA64-6FBA0285D71F}"/>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Der Mensch bleibt direkt erreichbar</a:t>
            </a:r>
          </a:p>
        </p:txBody>
      </p:sp>
      <p:sp>
        <p:nvSpPr>
          <p:cNvPr id="3" name="footer">
            <a:extLst xmlns:a="http://schemas.openxmlformats.org/drawingml/2006/main">
              <a:ext uri="{FF2B5EF4-FFF2-40B4-BE49-F238E27FC236}">
                <a16:creationId xmlns:a16="http://schemas.microsoft.com/office/drawing/2014/main" id="{00CD6F91-9A12-4021-960C-DE0D5DAFFD6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00038804-65D0-4BEE-9B91-62BA32B8C3F0}"/>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05</a:t>
            </a:r>
          </a:p>
        </p:txBody>
      </p:sp>
      <p:sp>
        <p:nvSpPr>
          <p:cNvPr id="5" name="body">
            <a:extLst xmlns:a="http://schemas.openxmlformats.org/drawingml/2006/main">
              <a:ext uri="{FF2B5EF4-FFF2-40B4-BE49-F238E27FC236}">
                <a16:creationId xmlns:a16="http://schemas.microsoft.com/office/drawing/2014/main" id="{8921CA86-4C35-4D0E-9863-401E75B4B821}"/>
              </a:ext>
            </a:extLst>
          </p:cNvPr>
          <p:cNvSpPr>
            <a:spLocks xmlns:a="http://schemas.openxmlformats.org/drawingml/2006/main" noGrp="1"/>
          </p:cNvSpPr>
          <p:nvPr/>
        </p:nvSpPr>
        <p:spPr>
          <a:xfrm xmlns:a="http://schemas.openxmlformats.org/drawingml/2006/main">
            <a:off x="685800" y="2286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buNone/>
              <a:defRPr sz="2325" b="1">
                <a:solidFill>
                  <a:srgbClr val="006B64"/>
                </a:solidFill>
                <a:latin typeface="Arial"/>
                <a:ea typeface="Arial"/>
                <a:cs typeface="Arial"/>
              </a:defRPr>
            </a:pPr>
            <a:r>
              <a:rPr sz="2325" b="1">
                <a:solidFill>
                  <a:srgbClr val="006B64"/>
                </a:solidFill>
                <a:latin typeface="Arial"/>
                <a:ea typeface="Arial"/>
                <a:cs typeface="Arial"/>
              </a:rPr>
              <a:t>KI-Assistent auf Wunsch</a:t>
            </a:r>
          </a:p>
        </p:txBody>
      </p:sp>
      <p:sp>
        <p:nvSpPr>
          <p:cNvPr id="6" name="body">
            <a:extLst xmlns:a="http://schemas.openxmlformats.org/drawingml/2006/main">
              <a:ext uri="{FF2B5EF4-FFF2-40B4-BE49-F238E27FC236}">
                <a16:creationId xmlns:a16="http://schemas.microsoft.com/office/drawing/2014/main" id="{9B39E1CC-59B7-4488-AE5D-245EA7781D80}"/>
              </a:ext>
            </a:extLst>
          </p:cNvPr>
          <p:cNvSpPr>
            <a:spLocks xmlns:a="http://schemas.openxmlformats.org/drawingml/2006/main" noGrp="1"/>
          </p:cNvSpPr>
          <p:nvPr/>
        </p:nvSpPr>
        <p:spPr>
          <a:xfrm xmlns:a="http://schemas.openxmlformats.org/drawingml/2006/main">
            <a:off x="685800" y="2828925"/>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Fragen einordnen, passende Inhalte</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finden und Kontext für den Support</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vorbereiten.</a:t>
            </a:r>
          </a:p>
        </p:txBody>
      </p:sp>
      <p:sp>
        <p:nvSpPr>
          <p:cNvPr id="7" name="body">
            <a:extLst xmlns:a="http://schemas.openxmlformats.org/drawingml/2006/main">
              <a:ext uri="{FF2B5EF4-FFF2-40B4-BE49-F238E27FC236}">
                <a16:creationId xmlns:a16="http://schemas.microsoft.com/office/drawing/2014/main" id="{A9B2FF4B-0377-4D04-9361-F621B417FFB8}"/>
              </a:ext>
            </a:extLst>
          </p:cNvPr>
          <p:cNvSpPr>
            <a:spLocks xmlns:a="http://schemas.openxmlformats.org/drawingml/2006/main" noGrp="1"/>
          </p:cNvSpPr>
          <p:nvPr/>
        </p:nvSpPr>
        <p:spPr>
          <a:xfrm xmlns:a="http://schemas.openxmlformats.org/drawingml/2006/main">
            <a:off x="6572250" y="22860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buNone/>
              <a:defRPr sz="2325" b="1">
                <a:solidFill>
                  <a:srgbClr val="006B64"/>
                </a:solidFill>
                <a:latin typeface="Arial"/>
                <a:ea typeface="Arial"/>
                <a:cs typeface="Arial"/>
              </a:defRPr>
            </a:pPr>
            <a:r>
              <a:rPr sz="2325" b="1">
                <a:solidFill>
                  <a:srgbClr val="006B64"/>
                </a:solidFill>
                <a:latin typeface="Arial"/>
                <a:ea typeface="Arial"/>
                <a:cs typeface="Arial"/>
              </a:rPr>
              <a:t>Direkt zum Serviceteam</a:t>
            </a:r>
          </a:p>
        </p:txBody>
      </p:sp>
      <p:sp>
        <p:nvSpPr>
          <p:cNvPr id="8" name="body">
            <a:extLst xmlns:a="http://schemas.openxmlformats.org/drawingml/2006/main">
              <a:ext uri="{FF2B5EF4-FFF2-40B4-BE49-F238E27FC236}">
                <a16:creationId xmlns:a16="http://schemas.microsoft.com/office/drawing/2014/main" id="{AF7D26D5-2E99-4C42-B696-249D9F6D062A}"/>
              </a:ext>
            </a:extLst>
          </p:cNvPr>
          <p:cNvSpPr>
            <a:spLocks xmlns:a="http://schemas.openxmlformats.org/drawingml/2006/main" noGrp="1"/>
          </p:cNvSpPr>
          <p:nvPr/>
        </p:nvSpPr>
        <p:spPr>
          <a:xfrm xmlns:a="http://schemas.openxmlformats.org/drawingml/2006/main">
            <a:off x="6572250" y="2828925"/>
            <a:ext cx="4857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KI jederzeit überspringen.</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Hotline nutzen oder menschliche</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Chat-Übernahme anfordern.</a:t>
            </a:r>
          </a:p>
        </p:txBody>
      </p:sp>
      <p:sp>
        <p:nvSpPr>
          <p:cNvPr id="9" name="body">
            <a:extLst xmlns:a="http://schemas.openxmlformats.org/drawingml/2006/main">
              <a:ext uri="{FF2B5EF4-FFF2-40B4-BE49-F238E27FC236}">
                <a16:creationId xmlns:a16="http://schemas.microsoft.com/office/drawing/2014/main" id="{E73A0010-9FDD-4DCE-AC58-C2ECE4F205BC}"/>
              </a:ext>
            </a:extLst>
          </p:cNvPr>
          <p:cNvSpPr>
            <a:spLocks xmlns:a="http://schemas.openxmlformats.org/drawingml/2006/main" noGrp="1"/>
          </p:cNvSpPr>
          <p:nvPr/>
        </p:nvSpPr>
        <p:spPr>
          <a:xfrm xmlns:a="http://schemas.openxmlformats.org/drawingml/2006/main">
            <a:off x="685800" y="46577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06B64"/>
                </a:solidFill>
                <a:latin typeface="Arial"/>
                <a:ea typeface="Arial"/>
                <a:cs typeface="Arial"/>
              </a:defRPr>
            </a:defPPr>
          </a:lstStyle>
          <a:p xmlns:a="http://schemas.openxmlformats.org/drawingml/2006/main">
            <a:pPr>
              <a:buNone/>
              <a:defRPr sz="2625" b="1">
                <a:solidFill>
                  <a:srgbClr val="006B64"/>
                </a:solidFill>
                <a:latin typeface="Arial"/>
                <a:ea typeface="Arial"/>
                <a:cs typeface="Arial"/>
              </a:defRPr>
            </a:pPr>
            <a:r>
              <a:rPr sz="2625" b="1">
                <a:solidFill>
                  <a:srgbClr val="006B64"/>
                </a:solidFill>
                <a:latin typeface="Arial"/>
                <a:ea typeface="Arial"/>
                <a:cs typeface="Arial"/>
              </a:rPr>
              <a:t>Bei menschlicher Übernahme pausiert der Bot.</a:t>
            </a:r>
          </a:p>
        </p:txBody>
      </p:sp>
      <p:sp>
        <p:nvSpPr>
          <p:cNvPr id="10" name="body">
            <a:extLst xmlns:a="http://schemas.openxmlformats.org/drawingml/2006/main">
              <a:ext uri="{FF2B5EF4-FFF2-40B4-BE49-F238E27FC236}">
                <a16:creationId xmlns:a16="http://schemas.microsoft.com/office/drawing/2014/main" id="{A97F6414-E006-4569-88DA-9B52F0DFB802}"/>
              </a:ext>
            </a:extLst>
          </p:cNvPr>
          <p:cNvSpPr>
            <a:spLocks xmlns:a="http://schemas.openxmlformats.org/drawingml/2006/main" noGrp="1"/>
          </p:cNvSpPr>
          <p:nvPr/>
        </p:nvSpPr>
        <p:spPr>
          <a:xfrm xmlns:a="http://schemas.openxmlformats.org/drawingml/2006/main">
            <a:off x="685800" y="551497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763"/>
                </a:solidFill>
                <a:latin typeface="Arial"/>
                <a:ea typeface="Arial"/>
                <a:cs typeface="Arial"/>
              </a:defRPr>
            </a:defPPr>
          </a:lstStyle>
          <a:p xmlns:a="http://schemas.openxmlformats.org/drawingml/2006/main">
            <a:pPr>
              <a:buNone/>
              <a:defRPr sz="1725" b="0">
                <a:solidFill>
                  <a:srgbClr val="526763"/>
                </a:solidFill>
                <a:latin typeface="Arial"/>
                <a:ea typeface="Arial"/>
                <a:cs typeface="Arial"/>
              </a:defRPr>
            </a:pPr>
            <a:r>
              <a:rPr sz="1725" b="0">
                <a:solidFill>
                  <a:srgbClr val="526763"/>
                </a:solidFill>
                <a:latin typeface="Arial"/>
                <a:ea typeface="Arial"/>
                <a:cs typeface="Arial"/>
              </a:rPr>
              <a:t>Chat-Zugang erfordert ein eingerichtetes Support-Plugin.</a:t>
            </a:r>
          </a:p>
          <a:p xmlns:a="http://schemas.openxmlformats.org/drawingml/2006/main">
            <a:pPr>
              <a:buNone/>
              <a:defRPr sz="1725" b="0">
                <a:solidFill>
                  <a:srgbClr val="526763"/>
                </a:solidFill>
                <a:latin typeface="Arial"/>
                <a:ea typeface="Arial"/>
                <a:cs typeface="Arial"/>
              </a:defRPr>
            </a:pPr>
            <a:r>
              <a:rPr sz="1725" b="0">
                <a:solidFill>
                  <a:srgbClr val="526763"/>
                </a:solidFill>
                <a:latin typeface="Arial"/>
                <a:ea typeface="Arial"/>
                <a:cs typeface="Arial"/>
              </a:rPr>
              <a:t>Die vereinbarten Servicezeiten gelten.</a:t>
            </a:r>
          </a:p>
        </p:txBody>
      </p:sp>
    </p:spTree>
    <p:extLst>
      <p:ext uri="{BB962C8B-B14F-4D97-AF65-F5344CB8AC3E}">
        <p14:creationId xmlns:p14="http://schemas.microsoft.com/office/powerpoint/2010/main" val="1954968968"/>
      </p:ext>
    </p:extLst>
  </p:cSld>
</p:sld>
</file>

<file path=ppt/slides/slide6.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CC36D894-930E-4AE5-89CF-9480FDA0D6C8}"/>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FUNKTIONSUMFANG</a:t>
            </a:r>
          </a:p>
        </p:txBody>
      </p:sp>
      <p:sp>
        <p:nvSpPr>
          <p:cNvPr id="2" name="slide-title">
            <a:extLst xmlns:a="http://schemas.openxmlformats.org/drawingml/2006/main">
              <a:ext uri="{FF2B5EF4-FFF2-40B4-BE49-F238E27FC236}">
                <a16:creationId xmlns:a16="http://schemas.microsoft.com/office/drawing/2014/main" id="{8B2A425F-D0D3-4A09-A936-F4A7D682D531}"/>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Acht Plugins für Ihr Serviceportal</a:t>
            </a:r>
          </a:p>
        </p:txBody>
      </p:sp>
      <p:sp>
        <p:nvSpPr>
          <p:cNvPr id="3" name="footer">
            <a:extLst xmlns:a="http://schemas.openxmlformats.org/drawingml/2006/main">
              <a:ext uri="{FF2B5EF4-FFF2-40B4-BE49-F238E27FC236}">
                <a16:creationId xmlns:a16="http://schemas.microsoft.com/office/drawing/2014/main" id="{BB42E6B0-F477-4145-9CBE-DEA395ADDBE9}"/>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E1E92BD3-E4B7-4384-B902-4A3BAB2C58AC}"/>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06</a:t>
            </a:r>
          </a:p>
        </p:txBody>
      </p:sp>
      <p:sp>
        <p:nvSpPr>
          <p:cNvPr id="5" name="body">
            <a:extLst xmlns:a="http://schemas.openxmlformats.org/drawingml/2006/main">
              <a:ext uri="{FF2B5EF4-FFF2-40B4-BE49-F238E27FC236}">
                <a16:creationId xmlns:a16="http://schemas.microsoft.com/office/drawing/2014/main" id="{8C47A789-398C-4609-8DBC-482512F3952B}"/>
              </a:ext>
            </a:extLst>
          </p:cNvPr>
          <p:cNvSpPr>
            <a:spLocks xmlns:a="http://schemas.openxmlformats.org/drawingml/2006/main" noGrp="1"/>
          </p:cNvSpPr>
          <p:nvPr/>
        </p:nvSpPr>
        <p:spPr>
          <a:xfrm xmlns:a="http://schemas.openxmlformats.org/drawingml/2006/main">
            <a:off x="685800" y="20764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buNone/>
              <a:defRPr sz="2175" b="1">
                <a:solidFill>
                  <a:srgbClr val="006B64"/>
                </a:solidFill>
                <a:latin typeface="Arial"/>
                <a:ea typeface="Arial"/>
                <a:cs typeface="Arial"/>
              </a:defRPr>
            </a:pPr>
            <a:r>
              <a:rPr sz="2175" b="1">
                <a:solidFill>
                  <a:srgbClr val="006B64"/>
                </a:solidFill>
                <a:latin typeface="Arial"/>
                <a:ea typeface="Arial"/>
                <a:cs typeface="Arial"/>
              </a:rPr>
              <a:t>Kontakt</a:t>
            </a:r>
          </a:p>
        </p:txBody>
      </p:sp>
      <p:sp>
        <p:nvSpPr>
          <p:cNvPr id="6" name="body">
            <a:extLst xmlns:a="http://schemas.openxmlformats.org/drawingml/2006/main">
              <a:ext uri="{FF2B5EF4-FFF2-40B4-BE49-F238E27FC236}">
                <a16:creationId xmlns:a16="http://schemas.microsoft.com/office/drawing/2014/main" id="{0F0BA47D-9F4D-4F10-A772-91AE786FA025}"/>
              </a:ext>
            </a:extLst>
          </p:cNvPr>
          <p:cNvSpPr>
            <a:spLocks xmlns:a="http://schemas.openxmlformats.org/drawingml/2006/main" noGrp="1"/>
          </p:cNvSpPr>
          <p:nvPr/>
        </p:nvSpPr>
        <p:spPr>
          <a:xfrm xmlns:a="http://schemas.openxmlformats.org/drawingml/2006/main">
            <a:off x="685800" y="2466975"/>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buNone/>
              <a:defRPr sz="1725" b="0">
                <a:solidFill>
                  <a:srgbClr val="102A2A"/>
                </a:solidFill>
                <a:latin typeface="Arial"/>
                <a:ea typeface="Arial"/>
                <a:cs typeface="Arial"/>
              </a:defRPr>
            </a:pPr>
            <a:r>
              <a:rPr sz="1725" b="0">
                <a:solidFill>
                  <a:srgbClr val="102A2A"/>
                </a:solidFill>
                <a:latin typeface="Arial"/>
                <a:ea typeface="Arial"/>
                <a:cs typeface="Arial"/>
              </a:rPr>
              <a:t>Hotline und Kontaktinformationen</a:t>
            </a:r>
          </a:p>
        </p:txBody>
      </p:sp>
      <p:sp>
        <p:nvSpPr>
          <p:cNvPr id="7" name="body">
            <a:extLst xmlns:a="http://schemas.openxmlformats.org/drawingml/2006/main">
              <a:ext uri="{FF2B5EF4-FFF2-40B4-BE49-F238E27FC236}">
                <a16:creationId xmlns:a16="http://schemas.microsoft.com/office/drawing/2014/main" id="{881937A8-3075-461C-9887-DFFD4651F1E3}"/>
              </a:ext>
            </a:extLst>
          </p:cNvPr>
          <p:cNvSpPr>
            <a:spLocks xmlns:a="http://schemas.openxmlformats.org/drawingml/2006/main" noGrp="1"/>
          </p:cNvSpPr>
          <p:nvPr/>
        </p:nvSpPr>
        <p:spPr>
          <a:xfrm xmlns:a="http://schemas.openxmlformats.org/drawingml/2006/main">
            <a:off x="685800" y="296227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buNone/>
              <a:defRPr sz="2175" b="1">
                <a:solidFill>
                  <a:srgbClr val="006B64"/>
                </a:solidFill>
                <a:latin typeface="Arial"/>
                <a:ea typeface="Arial"/>
                <a:cs typeface="Arial"/>
              </a:defRPr>
            </a:pPr>
            <a:r>
              <a:rPr sz="2175" b="1">
                <a:solidFill>
                  <a:srgbClr val="006B64"/>
                </a:solidFill>
                <a:latin typeface="Arial"/>
                <a:ea typeface="Arial"/>
                <a:cs typeface="Arial"/>
              </a:rPr>
              <a:t>SIGNL4</a:t>
            </a:r>
          </a:p>
        </p:txBody>
      </p:sp>
      <p:sp>
        <p:nvSpPr>
          <p:cNvPr id="8" name="body">
            <a:extLst xmlns:a="http://schemas.openxmlformats.org/drawingml/2006/main">
              <a:ext uri="{FF2B5EF4-FFF2-40B4-BE49-F238E27FC236}">
                <a16:creationId xmlns:a16="http://schemas.microsoft.com/office/drawing/2014/main" id="{6FF63308-C4C2-4ABF-8A6E-823D3A62B51E}"/>
              </a:ext>
            </a:extLst>
          </p:cNvPr>
          <p:cNvSpPr>
            <a:spLocks xmlns:a="http://schemas.openxmlformats.org/drawingml/2006/main" noGrp="1"/>
          </p:cNvSpPr>
          <p:nvPr/>
        </p:nvSpPr>
        <p:spPr>
          <a:xfrm xmlns:a="http://schemas.openxmlformats.org/drawingml/2006/main">
            <a:off x="685800" y="335280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buNone/>
              <a:defRPr sz="1725" b="0">
                <a:solidFill>
                  <a:srgbClr val="102A2A"/>
                </a:solidFill>
                <a:latin typeface="Arial"/>
                <a:ea typeface="Arial"/>
                <a:cs typeface="Arial"/>
              </a:defRPr>
            </a:pPr>
            <a:r>
              <a:rPr sz="1725" b="0">
                <a:solidFill>
                  <a:srgbClr val="102A2A"/>
                </a:solidFill>
                <a:latin typeface="Arial"/>
                <a:ea typeface="Arial"/>
                <a:cs typeface="Arial"/>
              </a:rPr>
              <a:t>Bereitschaften und aktuelle Alerts</a:t>
            </a:r>
          </a:p>
        </p:txBody>
      </p:sp>
      <p:sp>
        <p:nvSpPr>
          <p:cNvPr id="9" name="body">
            <a:extLst xmlns:a="http://schemas.openxmlformats.org/drawingml/2006/main">
              <a:ext uri="{FF2B5EF4-FFF2-40B4-BE49-F238E27FC236}">
                <a16:creationId xmlns:a16="http://schemas.microsoft.com/office/drawing/2014/main" id="{89A33D4B-83FE-4BA9-B830-AB45F400418B}"/>
              </a:ext>
            </a:extLst>
          </p:cNvPr>
          <p:cNvSpPr>
            <a:spLocks xmlns:a="http://schemas.openxmlformats.org/drawingml/2006/main" noGrp="1"/>
          </p:cNvSpPr>
          <p:nvPr/>
        </p:nvSpPr>
        <p:spPr>
          <a:xfrm xmlns:a="http://schemas.openxmlformats.org/drawingml/2006/main">
            <a:off x="685800" y="384810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buNone/>
              <a:defRPr sz="2175" b="1">
                <a:solidFill>
                  <a:srgbClr val="006B64"/>
                </a:solidFill>
                <a:latin typeface="Arial"/>
                <a:ea typeface="Arial"/>
                <a:cs typeface="Arial"/>
              </a:defRPr>
            </a:pPr>
            <a:r>
              <a:rPr sz="2175" b="1">
                <a:solidFill>
                  <a:srgbClr val="006B64"/>
                </a:solidFill>
                <a:latin typeface="Arial"/>
                <a:ea typeface="Arial"/>
                <a:cs typeface="Arial"/>
              </a:rPr>
              <a:t>Uptime Kuma</a:t>
            </a:r>
          </a:p>
        </p:txBody>
      </p:sp>
      <p:sp>
        <p:nvSpPr>
          <p:cNvPr id="10" name="body">
            <a:extLst xmlns:a="http://schemas.openxmlformats.org/drawingml/2006/main">
              <a:ext uri="{FF2B5EF4-FFF2-40B4-BE49-F238E27FC236}">
                <a16:creationId xmlns:a16="http://schemas.microsoft.com/office/drawing/2014/main" id="{D48E7E05-D3AC-45D2-9929-952E33245884}"/>
              </a:ext>
            </a:extLst>
          </p:cNvPr>
          <p:cNvSpPr>
            <a:spLocks xmlns:a="http://schemas.openxmlformats.org/drawingml/2006/main" noGrp="1"/>
          </p:cNvSpPr>
          <p:nvPr/>
        </p:nvSpPr>
        <p:spPr>
          <a:xfrm xmlns:a="http://schemas.openxmlformats.org/drawingml/2006/main">
            <a:off x="685800" y="4238625"/>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buNone/>
              <a:defRPr sz="1725" b="0">
                <a:solidFill>
                  <a:srgbClr val="102A2A"/>
                </a:solidFill>
                <a:latin typeface="Arial"/>
                <a:ea typeface="Arial"/>
                <a:cs typeface="Arial"/>
              </a:defRPr>
            </a:pPr>
            <a:r>
              <a:rPr sz="1725" b="0">
                <a:solidFill>
                  <a:srgbClr val="102A2A"/>
                </a:solidFill>
                <a:latin typeface="Arial"/>
                <a:ea typeface="Arial"/>
                <a:cs typeface="Arial"/>
              </a:rPr>
              <a:t>Monitorstatus und Vorfälle</a:t>
            </a:r>
          </a:p>
        </p:txBody>
      </p:sp>
      <p:sp>
        <p:nvSpPr>
          <p:cNvPr id="11" name="body">
            <a:extLst xmlns:a="http://schemas.openxmlformats.org/drawingml/2006/main">
              <a:ext uri="{FF2B5EF4-FFF2-40B4-BE49-F238E27FC236}">
                <a16:creationId xmlns:a16="http://schemas.microsoft.com/office/drawing/2014/main" id="{2E6C0447-2EF3-407B-A8C3-EDE7D52BAB57}"/>
              </a:ext>
            </a:extLst>
          </p:cNvPr>
          <p:cNvSpPr>
            <a:spLocks xmlns:a="http://schemas.openxmlformats.org/drawingml/2006/main" noGrp="1"/>
          </p:cNvSpPr>
          <p:nvPr/>
        </p:nvSpPr>
        <p:spPr>
          <a:xfrm xmlns:a="http://schemas.openxmlformats.org/drawingml/2006/main">
            <a:off x="685800" y="473392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buNone/>
              <a:defRPr sz="2175" b="1">
                <a:solidFill>
                  <a:srgbClr val="006B64"/>
                </a:solidFill>
                <a:latin typeface="Arial"/>
                <a:ea typeface="Arial"/>
                <a:cs typeface="Arial"/>
              </a:defRPr>
            </a:pPr>
            <a:r>
              <a:rPr sz="2175" b="1">
                <a:solidFill>
                  <a:srgbClr val="006B64"/>
                </a:solidFill>
                <a:latin typeface="Arial"/>
                <a:ea typeface="Arial"/>
                <a:cs typeface="Arial"/>
              </a:rPr>
              <a:t>Inhalte &amp; FAQ</a:t>
            </a:r>
          </a:p>
        </p:txBody>
      </p:sp>
      <p:sp>
        <p:nvSpPr>
          <p:cNvPr id="12" name="body">
            <a:extLst xmlns:a="http://schemas.openxmlformats.org/drawingml/2006/main">
              <a:ext uri="{FF2B5EF4-FFF2-40B4-BE49-F238E27FC236}">
                <a16:creationId xmlns:a16="http://schemas.microsoft.com/office/drawing/2014/main" id="{C922D69B-B021-44F4-93BF-324F8244D2A9}"/>
              </a:ext>
            </a:extLst>
          </p:cNvPr>
          <p:cNvSpPr>
            <a:spLocks xmlns:a="http://schemas.openxmlformats.org/drawingml/2006/main" noGrp="1"/>
          </p:cNvSpPr>
          <p:nvPr/>
        </p:nvSpPr>
        <p:spPr>
          <a:xfrm xmlns:a="http://schemas.openxmlformats.org/drawingml/2006/main">
            <a:off x="685800" y="512445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buNone/>
              <a:defRPr sz="1725" b="0">
                <a:solidFill>
                  <a:srgbClr val="102A2A"/>
                </a:solidFill>
                <a:latin typeface="Arial"/>
                <a:ea typeface="Arial"/>
                <a:cs typeface="Arial"/>
              </a:defRPr>
            </a:pPr>
            <a:r>
              <a:rPr sz="1725" b="0">
                <a:solidFill>
                  <a:srgbClr val="102A2A"/>
                </a:solidFill>
                <a:latin typeface="Arial"/>
                <a:ea typeface="Arial"/>
                <a:cs typeface="Arial"/>
              </a:rPr>
              <a:t>Prozesse und Ticketvorlagen</a:t>
            </a:r>
          </a:p>
        </p:txBody>
      </p:sp>
      <p:sp>
        <p:nvSpPr>
          <p:cNvPr id="13" name="body">
            <a:extLst xmlns:a="http://schemas.openxmlformats.org/drawingml/2006/main">
              <a:ext uri="{FF2B5EF4-FFF2-40B4-BE49-F238E27FC236}">
                <a16:creationId xmlns:a16="http://schemas.microsoft.com/office/drawing/2014/main" id="{E7B5EBE4-54CD-48C6-9112-FDC9BA9DE373}"/>
              </a:ext>
            </a:extLst>
          </p:cNvPr>
          <p:cNvSpPr>
            <a:spLocks xmlns:a="http://schemas.openxmlformats.org/drawingml/2006/main" noGrp="1"/>
          </p:cNvSpPr>
          <p:nvPr/>
        </p:nvSpPr>
        <p:spPr>
          <a:xfrm xmlns:a="http://schemas.openxmlformats.org/drawingml/2006/main">
            <a:off x="6572250" y="20764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buNone/>
              <a:defRPr sz="2175" b="1">
                <a:solidFill>
                  <a:srgbClr val="006B64"/>
                </a:solidFill>
                <a:latin typeface="Arial"/>
                <a:ea typeface="Arial"/>
                <a:cs typeface="Arial"/>
              </a:defRPr>
            </a:pPr>
            <a:r>
              <a:rPr sz="2175" b="1">
                <a:solidFill>
                  <a:srgbClr val="006B64"/>
                </a:solidFill>
                <a:latin typeface="Arial"/>
                <a:ea typeface="Arial"/>
                <a:cs typeface="Arial"/>
              </a:rPr>
              <a:t>KI-Chat</a:t>
            </a:r>
          </a:p>
        </p:txBody>
      </p:sp>
      <p:sp>
        <p:nvSpPr>
          <p:cNvPr id="14" name="body">
            <a:extLst xmlns:a="http://schemas.openxmlformats.org/drawingml/2006/main">
              <a:ext uri="{FF2B5EF4-FFF2-40B4-BE49-F238E27FC236}">
                <a16:creationId xmlns:a16="http://schemas.microsoft.com/office/drawing/2014/main" id="{8ED1BC71-433C-495B-A4E4-9FDF22EC0F87}"/>
              </a:ext>
            </a:extLst>
          </p:cNvPr>
          <p:cNvSpPr>
            <a:spLocks xmlns:a="http://schemas.openxmlformats.org/drawingml/2006/main" noGrp="1"/>
          </p:cNvSpPr>
          <p:nvPr/>
        </p:nvSpPr>
        <p:spPr>
          <a:xfrm xmlns:a="http://schemas.openxmlformats.org/drawingml/2006/main">
            <a:off x="6572250" y="2466975"/>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buNone/>
              <a:defRPr sz="1725" b="0">
                <a:solidFill>
                  <a:srgbClr val="102A2A"/>
                </a:solidFill>
                <a:latin typeface="Arial"/>
                <a:ea typeface="Arial"/>
                <a:cs typeface="Arial"/>
              </a:defRPr>
            </a:pPr>
            <a:r>
              <a:rPr sz="1725" b="0">
                <a:solidFill>
                  <a:srgbClr val="102A2A"/>
                </a:solidFill>
                <a:latin typeface="Arial"/>
                <a:ea typeface="Arial"/>
                <a:cs typeface="Arial"/>
              </a:rPr>
              <a:t>Antworten aus Portalwissen und Live-Quellen</a:t>
            </a:r>
          </a:p>
        </p:txBody>
      </p:sp>
      <p:sp>
        <p:nvSpPr>
          <p:cNvPr id="15" name="body">
            <a:extLst xmlns:a="http://schemas.openxmlformats.org/drawingml/2006/main">
              <a:ext uri="{FF2B5EF4-FFF2-40B4-BE49-F238E27FC236}">
                <a16:creationId xmlns:a16="http://schemas.microsoft.com/office/drawing/2014/main" id="{FD0FFC79-1FC1-4FA4-A847-9AAA23DD8624}"/>
              </a:ext>
            </a:extLst>
          </p:cNvPr>
          <p:cNvSpPr>
            <a:spLocks xmlns:a="http://schemas.openxmlformats.org/drawingml/2006/main" noGrp="1"/>
          </p:cNvSpPr>
          <p:nvPr/>
        </p:nvSpPr>
        <p:spPr>
          <a:xfrm xmlns:a="http://schemas.openxmlformats.org/drawingml/2006/main">
            <a:off x="6572250" y="296227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buNone/>
              <a:defRPr sz="2175" b="1">
                <a:solidFill>
                  <a:srgbClr val="006B64"/>
                </a:solidFill>
                <a:latin typeface="Arial"/>
                <a:ea typeface="Arial"/>
                <a:cs typeface="Arial"/>
              </a:defRPr>
            </a:pPr>
            <a:r>
              <a:rPr sz="2175" b="1">
                <a:solidFill>
                  <a:srgbClr val="006B64"/>
                </a:solidFill>
                <a:latin typeface="Arial"/>
                <a:ea typeface="Arial"/>
                <a:cs typeface="Arial"/>
              </a:rPr>
              <a:t>Microsoft Teams</a:t>
            </a:r>
          </a:p>
        </p:txBody>
      </p:sp>
      <p:sp>
        <p:nvSpPr>
          <p:cNvPr id="16" name="body">
            <a:extLst xmlns:a="http://schemas.openxmlformats.org/drawingml/2006/main">
              <a:ext uri="{FF2B5EF4-FFF2-40B4-BE49-F238E27FC236}">
                <a16:creationId xmlns:a16="http://schemas.microsoft.com/office/drawing/2014/main" id="{D0379D79-C737-4847-AB9D-EF50E35D8792}"/>
              </a:ext>
            </a:extLst>
          </p:cNvPr>
          <p:cNvSpPr>
            <a:spLocks xmlns:a="http://schemas.openxmlformats.org/drawingml/2006/main" noGrp="1"/>
          </p:cNvSpPr>
          <p:nvPr/>
        </p:nvSpPr>
        <p:spPr>
          <a:xfrm xmlns:a="http://schemas.openxmlformats.org/drawingml/2006/main">
            <a:off x="6572250" y="335280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buNone/>
              <a:defRPr sz="1725" b="0">
                <a:solidFill>
                  <a:srgbClr val="102A2A"/>
                </a:solidFill>
                <a:latin typeface="Arial"/>
                <a:ea typeface="Arial"/>
                <a:cs typeface="Arial"/>
              </a:defRPr>
            </a:pPr>
            <a:r>
              <a:rPr sz="1725" b="0">
                <a:solidFill>
                  <a:srgbClr val="102A2A"/>
                </a:solidFill>
                <a:latin typeface="Arial"/>
                <a:ea typeface="Arial"/>
                <a:cs typeface="Arial"/>
              </a:rPr>
              <a:t>Menschlicher Support im Channel-Thread</a:t>
            </a:r>
          </a:p>
        </p:txBody>
      </p:sp>
      <p:sp>
        <p:nvSpPr>
          <p:cNvPr id="17" name="body">
            <a:extLst xmlns:a="http://schemas.openxmlformats.org/drawingml/2006/main">
              <a:ext uri="{FF2B5EF4-FFF2-40B4-BE49-F238E27FC236}">
                <a16:creationId xmlns:a16="http://schemas.microsoft.com/office/drawing/2014/main" id="{BF7009A4-74D4-44FE-BCBE-815DDFF84FE3}"/>
              </a:ext>
            </a:extLst>
          </p:cNvPr>
          <p:cNvSpPr>
            <a:spLocks xmlns:a="http://schemas.openxmlformats.org/drawingml/2006/main" noGrp="1"/>
          </p:cNvSpPr>
          <p:nvPr/>
        </p:nvSpPr>
        <p:spPr>
          <a:xfrm xmlns:a="http://schemas.openxmlformats.org/drawingml/2006/main">
            <a:off x="6572250" y="384810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buNone/>
              <a:defRPr sz="2175" b="1">
                <a:solidFill>
                  <a:srgbClr val="006B64"/>
                </a:solidFill>
                <a:latin typeface="Arial"/>
                <a:ea typeface="Arial"/>
                <a:cs typeface="Arial"/>
              </a:defRPr>
            </a:pPr>
            <a:r>
              <a:rPr sz="2175" b="1">
                <a:solidFill>
                  <a:srgbClr val="006B64"/>
                </a:solidFill>
                <a:latin typeface="Arial"/>
                <a:ea typeface="Arial"/>
                <a:cs typeface="Arial"/>
              </a:rPr>
              <a:t>Slack</a:t>
            </a:r>
          </a:p>
        </p:txBody>
      </p:sp>
      <p:sp>
        <p:nvSpPr>
          <p:cNvPr id="18" name="body">
            <a:extLst xmlns:a="http://schemas.openxmlformats.org/drawingml/2006/main">
              <a:ext uri="{FF2B5EF4-FFF2-40B4-BE49-F238E27FC236}">
                <a16:creationId xmlns:a16="http://schemas.microsoft.com/office/drawing/2014/main" id="{42D9074C-BBF5-42F9-8A12-9BB430DF54F4}"/>
              </a:ext>
            </a:extLst>
          </p:cNvPr>
          <p:cNvSpPr>
            <a:spLocks xmlns:a="http://schemas.openxmlformats.org/drawingml/2006/main" noGrp="1"/>
          </p:cNvSpPr>
          <p:nvPr/>
        </p:nvSpPr>
        <p:spPr>
          <a:xfrm xmlns:a="http://schemas.openxmlformats.org/drawingml/2006/main">
            <a:off x="6572250" y="4238625"/>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buNone/>
              <a:defRPr sz="1725" b="0">
                <a:solidFill>
                  <a:srgbClr val="102A2A"/>
                </a:solidFill>
                <a:latin typeface="Arial"/>
                <a:ea typeface="Arial"/>
                <a:cs typeface="Arial"/>
              </a:defRPr>
            </a:pPr>
            <a:r>
              <a:rPr sz="1725" b="0">
                <a:solidFill>
                  <a:srgbClr val="102A2A"/>
                </a:solidFill>
                <a:latin typeface="Arial"/>
                <a:ea typeface="Arial"/>
                <a:cs typeface="Arial"/>
              </a:rPr>
              <a:t>Übernahme im Support-Channel</a:t>
            </a:r>
          </a:p>
        </p:txBody>
      </p:sp>
      <p:sp>
        <p:nvSpPr>
          <p:cNvPr id="19" name="body">
            <a:extLst xmlns:a="http://schemas.openxmlformats.org/drawingml/2006/main">
              <a:ext uri="{FF2B5EF4-FFF2-40B4-BE49-F238E27FC236}">
                <a16:creationId xmlns:a16="http://schemas.microsoft.com/office/drawing/2014/main" id="{DEBF554C-2B5B-43EF-B49B-E2DE9C7DF744}"/>
              </a:ext>
            </a:extLst>
          </p:cNvPr>
          <p:cNvSpPr>
            <a:spLocks xmlns:a="http://schemas.openxmlformats.org/drawingml/2006/main" noGrp="1"/>
          </p:cNvSpPr>
          <p:nvPr/>
        </p:nvSpPr>
        <p:spPr>
          <a:xfrm xmlns:a="http://schemas.openxmlformats.org/drawingml/2006/main">
            <a:off x="6572250" y="4733925"/>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6B64"/>
                </a:solidFill>
                <a:latin typeface="Arial"/>
                <a:ea typeface="Arial"/>
                <a:cs typeface="Arial"/>
              </a:defRPr>
            </a:defPPr>
          </a:lstStyle>
          <a:p xmlns:a="http://schemas.openxmlformats.org/drawingml/2006/main">
            <a:pPr>
              <a:buNone/>
              <a:defRPr sz="2175" b="1">
                <a:solidFill>
                  <a:srgbClr val="006B64"/>
                </a:solidFill>
                <a:latin typeface="Arial"/>
                <a:ea typeface="Arial"/>
                <a:cs typeface="Arial"/>
              </a:defRPr>
            </a:pPr>
            <a:r>
              <a:rPr sz="2175" b="1">
                <a:solidFill>
                  <a:srgbClr val="006B64"/>
                </a:solidFill>
                <a:latin typeface="Arial"/>
                <a:ea typeface="Arial"/>
                <a:cs typeface="Arial"/>
              </a:rPr>
              <a:t>Telegram</a:t>
            </a:r>
          </a:p>
        </p:txBody>
      </p:sp>
      <p:sp>
        <p:nvSpPr>
          <p:cNvPr id="20" name="body">
            <a:extLst xmlns:a="http://schemas.openxmlformats.org/drawingml/2006/main">
              <a:ext uri="{FF2B5EF4-FFF2-40B4-BE49-F238E27FC236}">
                <a16:creationId xmlns:a16="http://schemas.microsoft.com/office/drawing/2014/main" id="{FE0FB544-6223-4467-98B0-AC162C4F7960}"/>
              </a:ext>
            </a:extLst>
          </p:cNvPr>
          <p:cNvSpPr>
            <a:spLocks xmlns:a="http://schemas.openxmlformats.org/drawingml/2006/main" noGrp="1"/>
          </p:cNvSpPr>
          <p:nvPr/>
        </p:nvSpPr>
        <p:spPr>
          <a:xfrm xmlns:a="http://schemas.openxmlformats.org/drawingml/2006/main">
            <a:off x="6572250" y="512445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02A2A"/>
                </a:solidFill>
                <a:latin typeface="Arial"/>
                <a:ea typeface="Arial"/>
                <a:cs typeface="Arial"/>
              </a:defRPr>
            </a:defPPr>
          </a:lstStyle>
          <a:p xmlns:a="http://schemas.openxmlformats.org/drawingml/2006/main">
            <a:pPr>
              <a:buNone/>
              <a:defRPr sz="1725" b="0">
                <a:solidFill>
                  <a:srgbClr val="102A2A"/>
                </a:solidFill>
                <a:latin typeface="Arial"/>
                <a:ea typeface="Arial"/>
                <a:cs typeface="Arial"/>
              </a:defRPr>
            </a:pPr>
            <a:r>
              <a:rPr sz="1725" b="0">
                <a:solidFill>
                  <a:srgbClr val="102A2A"/>
                </a:solidFill>
                <a:latin typeface="Arial"/>
                <a:ea typeface="Arial"/>
                <a:cs typeface="Arial"/>
              </a:rPr>
              <a:t>Ein Forum-Thema je Gespräch</a:t>
            </a:r>
          </a:p>
        </p:txBody>
      </p:sp>
      <p:sp>
        <p:nvSpPr>
          <p:cNvPr id="21" name="body">
            <a:extLst xmlns:a="http://schemas.openxmlformats.org/drawingml/2006/main">
              <a:ext uri="{FF2B5EF4-FFF2-40B4-BE49-F238E27FC236}">
                <a16:creationId xmlns:a16="http://schemas.microsoft.com/office/drawing/2014/main" id="{A7906CDC-EABF-4B62-AD4A-5EB52F431FEE}"/>
              </a:ext>
            </a:extLst>
          </p:cNvPr>
          <p:cNvSpPr>
            <a:spLocks xmlns:a="http://schemas.openxmlformats.org/drawingml/2006/main" noGrp="1"/>
          </p:cNvSpPr>
          <p:nvPr/>
        </p:nvSpPr>
        <p:spPr>
          <a:xfrm xmlns:a="http://schemas.openxmlformats.org/drawingml/2006/main">
            <a:off x="685800" y="59150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buNone/>
              <a:defRPr sz="1575" b="0">
                <a:solidFill>
                  <a:srgbClr val="526763"/>
                </a:solidFill>
                <a:latin typeface="Arial"/>
                <a:ea typeface="Arial"/>
                <a:cs typeface="Arial"/>
              </a:defRPr>
            </a:pPr>
            <a:r>
              <a:rPr sz="1575" b="0">
                <a:solidFill>
                  <a:srgbClr val="526763"/>
                </a:solidFill>
                <a:latin typeface="Arial"/>
                <a:ea typeface="Arial"/>
                <a:cs typeface="Arial"/>
              </a:rPr>
              <a:t>Provider-Zugänge und Live-Anbindungen prüfen wir im Kundenprojekt.</a:t>
            </a:r>
          </a:p>
        </p:txBody>
      </p:sp>
    </p:spTree>
    <p:extLst>
      <p:ext uri="{BB962C8B-B14F-4D97-AF65-F5344CB8AC3E}">
        <p14:creationId xmlns:p14="http://schemas.microsoft.com/office/powerpoint/2010/main" val="1753115893"/>
      </p:ext>
    </p:extLst>
  </p:cSld>
</p:sld>
</file>

<file path=ppt/slides/slide7.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DAE1659A-B583-49EB-89F8-08F070CDCEE5}"/>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buNone/>
              <a:defRPr sz="1275" b="1">
                <a:solidFill>
                  <a:srgbClr val="D5F36B"/>
                </a:solidFill>
                <a:latin typeface="Arial"/>
                <a:ea typeface="Arial"/>
                <a:cs typeface="Arial"/>
              </a:defRPr>
            </a:pPr>
            <a:r>
              <a:rPr sz="1275" b="1">
                <a:solidFill>
                  <a:srgbClr val="D5F36B"/>
                </a:solidFill>
                <a:latin typeface="Arial"/>
                <a:ea typeface="Arial"/>
                <a:cs typeface="Arial"/>
              </a:rPr>
              <a:t>GESCHÄFTSMODELL</a:t>
            </a:r>
          </a:p>
        </p:txBody>
      </p:sp>
      <p:sp>
        <p:nvSpPr>
          <p:cNvPr id="2" name="slide-title">
            <a:extLst xmlns:a="http://schemas.openxmlformats.org/drawingml/2006/main">
              <a:ext uri="{FF2B5EF4-FFF2-40B4-BE49-F238E27FC236}">
                <a16:creationId xmlns:a16="http://schemas.microsoft.com/office/drawing/2014/main" id="{D0A54664-93BE-40CE-AB5C-F92BEB75F010}"/>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buNone/>
              <a:defRPr sz="3600" b="1">
                <a:solidFill>
                  <a:srgbClr val="F7FAF9"/>
                </a:solidFill>
                <a:latin typeface="Arial"/>
                <a:ea typeface="Arial"/>
                <a:cs typeface="Arial"/>
              </a:defRPr>
            </a:pPr>
            <a:r>
              <a:rPr sz="3600" b="1">
                <a:solidFill>
                  <a:srgbClr val="F7FAF9"/>
                </a:solidFill>
                <a:latin typeface="Arial"/>
                <a:ea typeface="Arial"/>
                <a:cs typeface="Arial"/>
              </a:rPr>
              <a:t>Open Source mit Projektangebot</a:t>
            </a:r>
          </a:p>
        </p:txBody>
      </p:sp>
      <p:sp>
        <p:nvSpPr>
          <p:cNvPr id="3" name="footer">
            <a:extLst xmlns:a="http://schemas.openxmlformats.org/drawingml/2006/main">
              <a:ext uri="{FF2B5EF4-FFF2-40B4-BE49-F238E27FC236}">
                <a16:creationId xmlns:a16="http://schemas.microsoft.com/office/drawing/2014/main" id="{34022E7C-3C96-42D2-87A7-80767753EA0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C9F7480-1430-4EB0-ACC8-928D180138F0}"/>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07</a:t>
            </a:r>
          </a:p>
        </p:txBody>
      </p:sp>
      <p:sp>
        <p:nvSpPr>
          <p:cNvPr id="5" name="body">
            <a:extLst xmlns:a="http://schemas.openxmlformats.org/drawingml/2006/main">
              <a:ext uri="{FF2B5EF4-FFF2-40B4-BE49-F238E27FC236}">
                <a16:creationId xmlns:a16="http://schemas.microsoft.com/office/drawing/2014/main" id="{0A0F1527-96C9-474A-8BBA-A52F974FB194}"/>
              </a:ext>
            </a:extLst>
          </p:cNvPr>
          <p:cNvSpPr>
            <a:spLocks xmlns:a="http://schemas.openxmlformats.org/drawingml/2006/main" noGrp="1"/>
          </p:cNvSpPr>
          <p:nvPr/>
        </p:nvSpPr>
        <p:spPr>
          <a:xfrm xmlns:a="http://schemas.openxmlformats.org/drawingml/2006/main">
            <a:off x="685800" y="22860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D5F36B"/>
                </a:solidFill>
                <a:latin typeface="Arial"/>
                <a:ea typeface="Arial"/>
                <a:cs typeface="Arial"/>
              </a:defRPr>
            </a:defPPr>
          </a:lstStyle>
          <a:p xmlns:a="http://schemas.openxmlformats.org/drawingml/2006/main">
            <a:pPr>
              <a:buNone/>
              <a:defRPr sz="2325" b="1">
                <a:solidFill>
                  <a:srgbClr val="D5F36B"/>
                </a:solidFill>
                <a:latin typeface="Arial"/>
                <a:ea typeface="Arial"/>
                <a:cs typeface="Arial"/>
              </a:defRPr>
            </a:pPr>
            <a:r>
              <a:rPr sz="2325" b="1">
                <a:solidFill>
                  <a:srgbClr val="D5F36B"/>
                </a:solidFill>
                <a:latin typeface="Arial"/>
                <a:ea typeface="Arial"/>
                <a:cs typeface="Arial"/>
              </a:rPr>
              <a:t>Das Produkt</a:t>
            </a:r>
          </a:p>
        </p:txBody>
      </p:sp>
      <p:sp>
        <p:nvSpPr>
          <p:cNvPr id="6" name="body">
            <a:extLst xmlns:a="http://schemas.openxmlformats.org/drawingml/2006/main">
              <a:ext uri="{FF2B5EF4-FFF2-40B4-BE49-F238E27FC236}">
                <a16:creationId xmlns:a16="http://schemas.microsoft.com/office/drawing/2014/main" id="{866ED4EA-1645-4967-9205-7CB7A2D119D5}"/>
              </a:ext>
            </a:extLst>
          </p:cNvPr>
          <p:cNvSpPr>
            <a:spLocks xmlns:a="http://schemas.openxmlformats.org/drawingml/2006/main" noGrp="1"/>
          </p:cNvSpPr>
          <p:nvPr/>
        </p:nvSpPr>
        <p:spPr>
          <a:xfrm xmlns:a="http://schemas.openxmlformats.org/drawingml/2006/main">
            <a:off x="685800" y="2828925"/>
            <a:ext cx="4857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7FAF9"/>
                </a:solidFill>
                <a:latin typeface="Arial"/>
                <a:ea typeface="Arial"/>
                <a:cs typeface="Arial"/>
              </a:defRPr>
            </a:defPPr>
          </a:lstStyle>
          <a:p xmlns:a="http://schemas.openxmlformats.org/drawingml/2006/main">
            <a:pPr>
              <a:buNone/>
              <a:defRPr sz="2025" b="0">
                <a:solidFill>
                  <a:srgbClr val="F7FAF9"/>
                </a:solidFill>
                <a:latin typeface="Arial"/>
                <a:ea typeface="Arial"/>
                <a:cs typeface="Arial"/>
              </a:defRPr>
            </a:pPr>
            <a:r>
              <a:rPr sz="2025" b="0">
                <a:solidFill>
                  <a:srgbClr val="F7FAF9"/>
                </a:solidFill>
                <a:latin typeface="Arial"/>
                <a:ea typeface="Arial"/>
                <a:cs typeface="Arial"/>
              </a:rPr>
              <a:t>CSP ist Open Source unter MIT.</a:t>
            </a:r>
          </a:p>
          <a:p xmlns:a="http://schemas.openxmlformats.org/drawingml/2006/main">
            <a:pPr>
              <a:buNone/>
              <a:defRPr sz="2025" b="0">
                <a:solidFill>
                  <a:srgbClr val="F7FAF9"/>
                </a:solidFill>
                <a:latin typeface="Arial"/>
                <a:ea typeface="Arial"/>
                <a:cs typeface="Arial"/>
              </a:defRPr>
            </a:pPr>
            <a:r>
              <a:rPr sz="2025" b="0">
                <a:solidFill>
                  <a:srgbClr val="F7FAF9"/>
                </a:solidFill>
                <a:latin typeface="Arial"/>
                <a:ea typeface="Arial"/>
                <a:cs typeface="Arial"/>
              </a:rPr>
              <a:t>Sie behalten Zugang zum Code</a:t>
            </a:r>
          </a:p>
          <a:p xmlns:a="http://schemas.openxmlformats.org/drawingml/2006/main">
            <a:pPr>
              <a:buNone/>
              <a:defRPr sz="2025" b="0">
                <a:solidFill>
                  <a:srgbClr val="F7FAF9"/>
                </a:solidFill>
                <a:latin typeface="Arial"/>
                <a:ea typeface="Arial"/>
                <a:cs typeface="Arial"/>
              </a:defRPr>
            </a:pPr>
            <a:r>
              <a:rPr sz="2025" b="0">
                <a:solidFill>
                  <a:srgbClr val="F7FAF9"/>
                </a:solidFill>
                <a:latin typeface="Arial"/>
                <a:ea typeface="Arial"/>
                <a:cs typeface="Arial"/>
              </a:rPr>
              <a:t>und können selbst weiterentwickeln.</a:t>
            </a:r>
          </a:p>
        </p:txBody>
      </p:sp>
      <p:sp>
        <p:nvSpPr>
          <p:cNvPr id="7" name="body">
            <a:extLst xmlns:a="http://schemas.openxmlformats.org/drawingml/2006/main">
              <a:ext uri="{FF2B5EF4-FFF2-40B4-BE49-F238E27FC236}">
                <a16:creationId xmlns:a16="http://schemas.microsoft.com/office/drawing/2014/main" id="{B7E8D89E-F96F-4B19-BAFA-71DC00C3C885}"/>
              </a:ext>
            </a:extLst>
          </p:cNvPr>
          <p:cNvSpPr>
            <a:spLocks xmlns:a="http://schemas.openxmlformats.org/drawingml/2006/main" noGrp="1"/>
          </p:cNvSpPr>
          <p:nvPr/>
        </p:nvSpPr>
        <p:spPr>
          <a:xfrm xmlns:a="http://schemas.openxmlformats.org/drawingml/2006/main">
            <a:off x="6572250" y="22860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D5F36B"/>
                </a:solidFill>
                <a:latin typeface="Arial"/>
                <a:ea typeface="Arial"/>
                <a:cs typeface="Arial"/>
              </a:defRPr>
            </a:defPPr>
          </a:lstStyle>
          <a:p xmlns:a="http://schemas.openxmlformats.org/drawingml/2006/main">
            <a:pPr>
              <a:buNone/>
              <a:defRPr sz="2325" b="1">
                <a:solidFill>
                  <a:srgbClr val="D5F36B"/>
                </a:solidFill>
                <a:latin typeface="Arial"/>
                <a:ea typeface="Arial"/>
                <a:cs typeface="Arial"/>
              </a:defRPr>
            </a:pPr>
            <a:r>
              <a:rPr sz="2325" b="1">
                <a:solidFill>
                  <a:srgbClr val="D5F36B"/>
                </a:solidFill>
                <a:latin typeface="Arial"/>
                <a:ea typeface="Arial"/>
                <a:cs typeface="Arial"/>
              </a:rPr>
              <a:t>Das Projekt</a:t>
            </a:r>
          </a:p>
        </p:txBody>
      </p:sp>
      <p:sp>
        <p:nvSpPr>
          <p:cNvPr id="8" name="body">
            <a:extLst xmlns:a="http://schemas.openxmlformats.org/drawingml/2006/main">
              <a:ext uri="{FF2B5EF4-FFF2-40B4-BE49-F238E27FC236}">
                <a16:creationId xmlns:a16="http://schemas.microsoft.com/office/drawing/2014/main" id="{69725721-EE7B-4B86-9D6B-6CA12FA6E59D}"/>
              </a:ext>
            </a:extLst>
          </p:cNvPr>
          <p:cNvSpPr>
            <a:spLocks xmlns:a="http://schemas.openxmlformats.org/drawingml/2006/main" noGrp="1"/>
          </p:cNvSpPr>
          <p:nvPr/>
        </p:nvSpPr>
        <p:spPr>
          <a:xfrm xmlns:a="http://schemas.openxmlformats.org/drawingml/2006/main">
            <a:off x="6572250" y="2828925"/>
            <a:ext cx="4857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7FAF9"/>
                </a:solidFill>
                <a:latin typeface="Arial"/>
                <a:ea typeface="Arial"/>
                <a:cs typeface="Arial"/>
              </a:defRPr>
            </a:defPPr>
          </a:lstStyle>
          <a:p xmlns:a="http://schemas.openxmlformats.org/drawingml/2006/main">
            <a:pPr>
              <a:buNone/>
              <a:defRPr sz="2025" b="0">
                <a:solidFill>
                  <a:srgbClr val="F7FAF9"/>
                </a:solidFill>
                <a:latin typeface="Arial"/>
                <a:ea typeface="Arial"/>
                <a:cs typeface="Arial"/>
              </a:defRPr>
            </a:pPr>
            <a:r>
              <a:rPr sz="2025" b="0">
                <a:solidFill>
                  <a:srgbClr val="F7FAF9"/>
                </a:solidFill>
                <a:latin typeface="Arial"/>
                <a:ea typeface="Arial"/>
                <a:cs typeface="Arial"/>
              </a:rPr>
              <a:t>kieks.me richtet Ihr Portal ein</a:t>
            </a:r>
          </a:p>
          <a:p xmlns:a="http://schemas.openxmlformats.org/drawingml/2006/main">
            <a:pPr>
              <a:buNone/>
              <a:defRPr sz="2025" b="0">
                <a:solidFill>
                  <a:srgbClr val="F7FAF9"/>
                </a:solidFill>
                <a:latin typeface="Arial"/>
                <a:ea typeface="Arial"/>
                <a:cs typeface="Arial"/>
              </a:defRPr>
            </a:pPr>
            <a:r>
              <a:rPr sz="2025" b="0">
                <a:solidFill>
                  <a:srgbClr val="F7FAF9"/>
                </a:solidFill>
                <a:latin typeface="Arial"/>
                <a:ea typeface="Arial"/>
                <a:cs typeface="Arial"/>
              </a:rPr>
              <a:t>und integriert es in Ihre Systeme.</a:t>
            </a:r>
          </a:p>
          <a:p xmlns:a="http://schemas.openxmlformats.org/drawingml/2006/main">
            <a:pPr>
              <a:buNone/>
              <a:defRPr sz="2025" b="0">
                <a:solidFill>
                  <a:srgbClr val="F7FAF9"/>
                </a:solidFill>
                <a:latin typeface="Arial"/>
                <a:ea typeface="Arial"/>
                <a:cs typeface="Arial"/>
              </a:defRPr>
            </a:pPr>
            <a:r>
              <a:rPr sz="2025" b="0">
                <a:solidFill>
                  <a:srgbClr val="F7FAF9"/>
                </a:solidFill>
                <a:latin typeface="Arial"/>
                <a:ea typeface="Arial"/>
                <a:cs typeface="Arial"/>
              </a:rPr>
              <a:t>Die Übergabe gehört zum Angebot.</a:t>
            </a:r>
          </a:p>
        </p:txBody>
      </p:sp>
      <p:sp>
        <p:nvSpPr>
          <p:cNvPr id="9" name="body">
            <a:extLst xmlns:a="http://schemas.openxmlformats.org/drawingml/2006/main">
              <a:ext uri="{FF2B5EF4-FFF2-40B4-BE49-F238E27FC236}">
                <a16:creationId xmlns:a16="http://schemas.microsoft.com/office/drawing/2014/main" id="{A8938441-D2A7-4B5C-9882-889F502128D7}"/>
              </a:ext>
            </a:extLst>
          </p:cNvPr>
          <p:cNvSpPr>
            <a:spLocks xmlns:a="http://schemas.openxmlformats.org/drawingml/2006/main" noGrp="1"/>
          </p:cNvSpPr>
          <p:nvPr/>
        </p:nvSpPr>
        <p:spPr>
          <a:xfrm xmlns:a="http://schemas.openxmlformats.org/drawingml/2006/main">
            <a:off x="685800" y="47815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D5F36B"/>
                </a:solidFill>
                <a:latin typeface="Arial"/>
                <a:ea typeface="Arial"/>
                <a:cs typeface="Arial"/>
              </a:defRPr>
            </a:defPPr>
          </a:lstStyle>
          <a:p xmlns:a="http://schemas.openxmlformats.org/drawingml/2006/main">
            <a:pPr>
              <a:buNone/>
              <a:defRPr sz="3075" b="1">
                <a:solidFill>
                  <a:srgbClr val="D5F36B"/>
                </a:solidFill>
                <a:latin typeface="Arial"/>
                <a:ea typeface="Arial"/>
                <a:cs typeface="Arial"/>
              </a:defRPr>
            </a:pPr>
            <a:r>
              <a:rPr sz="3075" b="1">
                <a:solidFill>
                  <a:srgbClr val="D5F36B"/>
                </a:solidFill>
                <a:latin typeface="Arial"/>
                <a:ea typeface="Arial"/>
                <a:cs typeface="Arial"/>
              </a:rPr>
              <a:t>Keine CSP-Lizenzgebühr.</a:t>
            </a:r>
          </a:p>
          <a:p xmlns:a="http://schemas.openxmlformats.org/drawingml/2006/main">
            <a:pPr>
              <a:buNone/>
              <a:defRPr sz="3075" b="1">
                <a:solidFill>
                  <a:srgbClr val="D5F36B"/>
                </a:solidFill>
                <a:latin typeface="Arial"/>
                <a:ea typeface="Arial"/>
                <a:cs typeface="Arial"/>
              </a:defRPr>
            </a:pPr>
            <a:r>
              <a:rPr sz="3075" b="1">
                <a:solidFill>
                  <a:srgbClr val="D5F36B"/>
                </a:solidFill>
                <a:latin typeface="Arial"/>
                <a:ea typeface="Arial"/>
                <a:cs typeface="Arial"/>
              </a:rPr>
              <a:t>Kein verpflichtendes CSP-Abonnement.</a:t>
            </a:r>
          </a:p>
        </p:txBody>
      </p:sp>
    </p:spTree>
    <p:extLst>
      <p:ext uri="{BB962C8B-B14F-4D97-AF65-F5344CB8AC3E}">
        <p14:creationId xmlns:p14="http://schemas.microsoft.com/office/powerpoint/2010/main" val="1736793590"/>
      </p:ext>
    </p:extLst>
  </p:cSld>
</p:sld>
</file>

<file path=ppt/slides/slide8.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20D1C0A1-7012-4CFA-857C-302DD4ED8257}"/>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KOSTEN UND LEISTUNGSUMFANG</a:t>
            </a:r>
          </a:p>
        </p:txBody>
      </p:sp>
      <p:sp>
        <p:nvSpPr>
          <p:cNvPr id="2" name="slide-title">
            <a:extLst xmlns:a="http://schemas.openxmlformats.org/drawingml/2006/main">
              <a:ext uri="{FF2B5EF4-FFF2-40B4-BE49-F238E27FC236}">
                <a16:creationId xmlns:a16="http://schemas.microsoft.com/office/drawing/2014/main" id="{6DC3476E-5C61-48F0-A176-C43E857CE151}"/>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Ein transparentes Projektangebot</a:t>
            </a:r>
          </a:p>
        </p:txBody>
      </p:sp>
      <p:sp>
        <p:nvSpPr>
          <p:cNvPr id="3" name="footer">
            <a:extLst xmlns:a="http://schemas.openxmlformats.org/drawingml/2006/main">
              <a:ext uri="{FF2B5EF4-FFF2-40B4-BE49-F238E27FC236}">
                <a16:creationId xmlns:a16="http://schemas.microsoft.com/office/drawing/2014/main" id="{1ED92ADA-02FD-4BA9-90FA-065B1129A3B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7850E0CA-47D9-4786-9D16-ABC978ED31C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08</a:t>
            </a:r>
          </a:p>
        </p:txBody>
      </p:sp>
      <p:sp>
        <p:nvSpPr>
          <p:cNvPr id="5" name="body">
            <a:extLst xmlns:a="http://schemas.openxmlformats.org/drawingml/2006/main">
              <a:ext uri="{FF2B5EF4-FFF2-40B4-BE49-F238E27FC236}">
                <a16:creationId xmlns:a16="http://schemas.microsoft.com/office/drawing/2014/main" id="{BCA5AEDE-13D4-4239-B479-7E8281F268B8}"/>
              </a:ext>
            </a:extLst>
          </p:cNvPr>
          <p:cNvSpPr>
            <a:spLocks xmlns:a="http://schemas.openxmlformats.org/drawingml/2006/main" noGrp="1"/>
          </p:cNvSpPr>
          <p:nvPr/>
        </p:nvSpPr>
        <p:spPr>
          <a:xfrm xmlns:a="http://schemas.openxmlformats.org/drawingml/2006/main">
            <a:off x="685800" y="23336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buNone/>
              <a:defRPr sz="2325" b="1">
                <a:solidFill>
                  <a:srgbClr val="006B64"/>
                </a:solidFill>
                <a:latin typeface="Arial"/>
                <a:ea typeface="Arial"/>
                <a:cs typeface="Arial"/>
              </a:defRPr>
            </a:pPr>
            <a:r>
              <a:rPr sz="2325" b="1">
                <a:solidFill>
                  <a:srgbClr val="006B64"/>
                </a:solidFill>
                <a:latin typeface="Arial"/>
                <a:ea typeface="Arial"/>
                <a:cs typeface="Arial"/>
              </a:rPr>
              <a:t>Im vereinbarten Projekt</a:t>
            </a:r>
          </a:p>
        </p:txBody>
      </p:sp>
      <p:sp>
        <p:nvSpPr>
          <p:cNvPr id="6" name="body">
            <a:extLst xmlns:a="http://schemas.openxmlformats.org/drawingml/2006/main">
              <a:ext uri="{FF2B5EF4-FFF2-40B4-BE49-F238E27FC236}">
                <a16:creationId xmlns:a16="http://schemas.microsoft.com/office/drawing/2014/main" id="{B6F51CBC-1D2B-420C-B3CB-97172A860D37}"/>
              </a:ext>
            </a:extLst>
          </p:cNvPr>
          <p:cNvSpPr>
            <a:spLocks xmlns:a="http://schemas.openxmlformats.org/drawingml/2006/main" noGrp="1"/>
          </p:cNvSpPr>
          <p:nvPr/>
        </p:nvSpPr>
        <p:spPr>
          <a:xfrm xmlns:a="http://schemas.openxmlformats.org/drawingml/2006/main">
            <a:off x="685800" y="2876550"/>
            <a:ext cx="514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Einrichtung und Branding</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Integration der ausgewählten Plugins</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Tests, Dokumentation und Übergabe</a:t>
            </a:r>
          </a:p>
        </p:txBody>
      </p:sp>
      <p:sp>
        <p:nvSpPr>
          <p:cNvPr id="7" name="body">
            <a:extLst xmlns:a="http://schemas.openxmlformats.org/drawingml/2006/main">
              <a:ext uri="{FF2B5EF4-FFF2-40B4-BE49-F238E27FC236}">
                <a16:creationId xmlns:a16="http://schemas.microsoft.com/office/drawing/2014/main" id="{874B5846-48AD-44D5-B513-42CC48ADB46C}"/>
              </a:ext>
            </a:extLst>
          </p:cNvPr>
          <p:cNvSpPr>
            <a:spLocks xmlns:a="http://schemas.openxmlformats.org/drawingml/2006/main" noGrp="1"/>
          </p:cNvSpPr>
          <p:nvPr/>
        </p:nvSpPr>
        <p:spPr>
          <a:xfrm xmlns:a="http://schemas.openxmlformats.org/drawingml/2006/main">
            <a:off x="6572250" y="23336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buNone/>
              <a:defRPr sz="2325" b="1">
                <a:solidFill>
                  <a:srgbClr val="006B64"/>
                </a:solidFill>
                <a:latin typeface="Arial"/>
                <a:ea typeface="Arial"/>
                <a:cs typeface="Arial"/>
              </a:defRPr>
            </a:pPr>
            <a:r>
              <a:rPr sz="2325" b="1">
                <a:solidFill>
                  <a:srgbClr val="006B64"/>
                </a:solidFill>
                <a:latin typeface="Arial"/>
                <a:ea typeface="Arial"/>
                <a:cs typeface="Arial"/>
              </a:rPr>
              <a:t>Separat offengelegt</a:t>
            </a:r>
          </a:p>
        </p:txBody>
      </p:sp>
      <p:sp>
        <p:nvSpPr>
          <p:cNvPr id="8" name="body">
            <a:extLst xmlns:a="http://schemas.openxmlformats.org/drawingml/2006/main">
              <a:ext uri="{FF2B5EF4-FFF2-40B4-BE49-F238E27FC236}">
                <a16:creationId xmlns:a16="http://schemas.microsoft.com/office/drawing/2014/main" id="{0B021878-F9B9-44DE-9F90-ABD25BEA545B}"/>
              </a:ext>
            </a:extLst>
          </p:cNvPr>
          <p:cNvSpPr>
            <a:spLocks xmlns:a="http://schemas.openxmlformats.org/drawingml/2006/main" noGrp="1"/>
          </p:cNvSpPr>
          <p:nvPr/>
        </p:nvSpPr>
        <p:spPr>
          <a:xfrm xmlns:a="http://schemas.openxmlformats.org/drawingml/2006/main">
            <a:off x="6572250" y="2876550"/>
            <a:ext cx="4857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Hosting und Betrieb</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KI-Modelle oder API-Nutzung</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Lizenzen externer Anbieter</a:t>
            </a:r>
          </a:p>
        </p:txBody>
      </p:sp>
      <p:sp>
        <p:nvSpPr>
          <p:cNvPr id="9" name="body">
            <a:extLst xmlns:a="http://schemas.openxmlformats.org/drawingml/2006/main">
              <a:ext uri="{FF2B5EF4-FFF2-40B4-BE49-F238E27FC236}">
                <a16:creationId xmlns:a16="http://schemas.microsoft.com/office/drawing/2014/main" id="{082417A3-56A5-4CF4-A0CF-1A9B325BEF8F}"/>
              </a:ext>
            </a:extLst>
          </p:cNvPr>
          <p:cNvSpPr>
            <a:spLocks xmlns:a="http://schemas.openxmlformats.org/drawingml/2006/main" noGrp="1"/>
          </p:cNvSpPr>
          <p:nvPr/>
        </p:nvSpPr>
        <p:spPr>
          <a:xfrm xmlns:a="http://schemas.openxmlformats.org/drawingml/2006/main">
            <a:off x="685800" y="47053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6B64"/>
                </a:solidFill>
                <a:latin typeface="Arial"/>
                <a:ea typeface="Arial"/>
                <a:cs typeface="Arial"/>
              </a:defRPr>
            </a:defPPr>
          </a:lstStyle>
          <a:p xmlns:a="http://schemas.openxmlformats.org/drawingml/2006/main">
            <a:pPr>
              <a:buNone/>
              <a:defRPr sz="2700" b="1">
                <a:solidFill>
                  <a:srgbClr val="006B64"/>
                </a:solidFill>
                <a:latin typeface="Arial"/>
                <a:ea typeface="Arial"/>
                <a:cs typeface="Arial"/>
              </a:defRPr>
            </a:pPr>
            <a:r>
              <a:rPr sz="2700" b="1">
                <a:solidFill>
                  <a:srgbClr val="006B64"/>
                </a:solidFill>
                <a:latin typeface="Arial"/>
                <a:ea typeface="Arial"/>
                <a:cs typeface="Arial"/>
              </a:rPr>
              <a:t>Umfang und Fremdkosten sind vor dem Start klar.</a:t>
            </a:r>
          </a:p>
        </p:txBody>
      </p:sp>
      <p:sp>
        <p:nvSpPr>
          <p:cNvPr id="10" name="body">
            <a:extLst xmlns:a="http://schemas.openxmlformats.org/drawingml/2006/main">
              <a:ext uri="{FF2B5EF4-FFF2-40B4-BE49-F238E27FC236}">
                <a16:creationId xmlns:a16="http://schemas.microsoft.com/office/drawing/2014/main" id="{B71E958A-6901-45D5-BE5F-B3C05C4CAF64}"/>
              </a:ext>
            </a:extLst>
          </p:cNvPr>
          <p:cNvSpPr>
            <a:spLocks xmlns:a="http://schemas.openxmlformats.org/drawingml/2006/main" noGrp="1"/>
          </p:cNvSpPr>
          <p:nvPr/>
        </p:nvSpPr>
        <p:spPr>
          <a:xfrm xmlns:a="http://schemas.openxmlformats.org/drawingml/2006/main">
            <a:off x="685800" y="55245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buNone/>
              <a:defRPr sz="1875" b="0">
                <a:solidFill>
                  <a:srgbClr val="526763"/>
                </a:solidFill>
                <a:latin typeface="Arial"/>
                <a:ea typeface="Arial"/>
                <a:cs typeface="Arial"/>
              </a:defRPr>
            </a:pPr>
            <a:r>
              <a:rPr sz="1875" b="0">
                <a:solidFill>
                  <a:srgbClr val="526763"/>
                </a:solidFill>
                <a:latin typeface="Arial"/>
                <a:ea typeface="Arial"/>
                <a:cs typeface="Arial"/>
              </a:rPr>
              <a:t>Weitere Unterstützung können Sie bei Bedarf beauftragen.</a:t>
            </a:r>
          </a:p>
          <a:p xmlns:a="http://schemas.openxmlformats.org/drawingml/2006/main">
            <a:pPr>
              <a:buNone/>
              <a:defRPr sz="1875" b="0">
                <a:solidFill>
                  <a:srgbClr val="526763"/>
                </a:solidFill>
                <a:latin typeface="Arial"/>
                <a:ea typeface="Arial"/>
                <a:cs typeface="Arial"/>
              </a:defRPr>
            </a:pPr>
            <a:r>
              <a:rPr sz="1875" b="0">
                <a:solidFill>
                  <a:srgbClr val="526763"/>
                </a:solidFill>
                <a:latin typeface="Arial"/>
                <a:ea typeface="Arial"/>
                <a:cs typeface="Arial"/>
              </a:rPr>
              <a:t>Ihr Team kann das Portal auch selbst weiterentwickeln.</a:t>
            </a:r>
          </a:p>
        </p:txBody>
      </p:sp>
    </p:spTree>
    <p:extLst>
      <p:ext uri="{BB962C8B-B14F-4D97-AF65-F5344CB8AC3E}">
        <p14:creationId xmlns:p14="http://schemas.microsoft.com/office/powerpoint/2010/main" val="1765851340"/>
      </p:ext>
    </p:extLst>
  </p:cSld>
</p:sld>
</file>

<file path=ppt/slides/slide9.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E05D85F9-4C29-4599-9226-49B307BA5137}"/>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WETTBEWERBSLANDSCHAFT</a:t>
            </a:r>
          </a:p>
        </p:txBody>
      </p:sp>
      <p:sp>
        <p:nvSpPr>
          <p:cNvPr id="2" name="slide-title">
            <a:extLst xmlns:a="http://schemas.openxmlformats.org/drawingml/2006/main">
              <a:ext uri="{FF2B5EF4-FFF2-40B4-BE49-F238E27FC236}">
                <a16:creationId xmlns:a16="http://schemas.microsoft.com/office/drawing/2014/main" id="{FD0B8BEC-B388-42AD-86B8-BBBA19DA9070}"/>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Der Markt bietet drei Wege</a:t>
            </a:r>
          </a:p>
        </p:txBody>
      </p:sp>
      <p:sp>
        <p:nvSpPr>
          <p:cNvPr id="3" name="footer">
            <a:extLst xmlns:a="http://schemas.openxmlformats.org/drawingml/2006/main">
              <a:ext uri="{FF2B5EF4-FFF2-40B4-BE49-F238E27FC236}">
                <a16:creationId xmlns:a16="http://schemas.microsoft.com/office/drawing/2014/main" id="{2D37E6E5-8F19-4DB6-8354-A554B54B5605}"/>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CA7A3816-6DA4-413D-B56E-612A395D4A8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09</a:t>
            </a:r>
          </a:p>
        </p:txBody>
      </p:sp>
      <p:sp>
        <p:nvSpPr>
          <p:cNvPr id="5" name="body">
            <a:extLst xmlns:a="http://schemas.openxmlformats.org/drawingml/2006/main">
              <a:ext uri="{FF2B5EF4-FFF2-40B4-BE49-F238E27FC236}">
                <a16:creationId xmlns:a16="http://schemas.microsoft.com/office/drawing/2014/main" id="{25113378-4713-477A-8247-657726E0DC0F}"/>
              </a:ext>
            </a:extLst>
          </p:cNvPr>
          <p:cNvSpPr>
            <a:spLocks xmlns:a="http://schemas.openxmlformats.org/drawingml/2006/main" noGrp="1"/>
          </p:cNvSpPr>
          <p:nvPr/>
        </p:nvSpPr>
        <p:spPr>
          <a:xfrm xmlns:a="http://schemas.openxmlformats.org/drawingml/2006/main">
            <a:off x="685800" y="20859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Support-Suiten</a:t>
            </a:r>
          </a:p>
        </p:txBody>
      </p:sp>
      <p:sp>
        <p:nvSpPr>
          <p:cNvPr id="6" name="body">
            <a:extLst xmlns:a="http://schemas.openxmlformats.org/drawingml/2006/main">
              <a:ext uri="{FF2B5EF4-FFF2-40B4-BE49-F238E27FC236}">
                <a16:creationId xmlns:a16="http://schemas.microsoft.com/office/drawing/2014/main" id="{27E3DF98-8B8A-4349-87E9-7FEF27A477E7}"/>
              </a:ext>
            </a:extLst>
          </p:cNvPr>
          <p:cNvSpPr>
            <a:spLocks xmlns:a="http://schemas.openxmlformats.org/drawingml/2006/main" noGrp="1"/>
          </p:cNvSpPr>
          <p:nvPr/>
        </p:nvSpPr>
        <p:spPr>
          <a:xfrm xmlns:a="http://schemas.openxmlformats.org/drawingml/2006/main">
            <a:off x="4267200" y="2085975"/>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02A2A"/>
                </a:solidFill>
                <a:latin typeface="Arial"/>
                <a:ea typeface="Arial"/>
                <a:cs typeface="Arial"/>
              </a:defRPr>
            </a:defPPr>
          </a:lstStyle>
          <a:p xmlns:a="http://schemas.openxmlformats.org/drawingml/2006/main">
            <a:pPr>
              <a:defRPr sz="2100" b="1">
                <a:solidFill>
                  <a:srgbClr val="102A2A"/>
                </a:solidFill>
                <a:latin typeface="Arial"/>
                <a:ea typeface="Arial"/>
                <a:cs typeface="Arial"/>
              </a:defRPr>
            </a:pPr>
            <a:r>
              <a:rPr sz="2100" b="1">
                <a:solidFill>
                  <a:srgbClr val="102A2A"/>
                </a:solidFill>
                <a:latin typeface="Arial"/>
                <a:ea typeface="Arial"/>
                <a:cs typeface="Arial"/>
              </a:rPr>
              <a:t>Zendesk · Freshdesk Omni · Intercom · Crisp</a:t>
            </a:r>
          </a:p>
        </p:txBody>
      </p:sp>
      <p:sp>
        <p:nvSpPr>
          <p:cNvPr id="7" name="body">
            <a:extLst xmlns:a="http://schemas.openxmlformats.org/drawingml/2006/main">
              <a:ext uri="{FF2B5EF4-FFF2-40B4-BE49-F238E27FC236}">
                <a16:creationId xmlns:a16="http://schemas.microsoft.com/office/drawing/2014/main" id="{76185663-57A2-4BE9-B95C-D9D7F34D7866}"/>
              </a:ext>
            </a:extLst>
          </p:cNvPr>
          <p:cNvSpPr>
            <a:spLocks xmlns:a="http://schemas.openxmlformats.org/drawingml/2006/main" noGrp="1"/>
          </p:cNvSpPr>
          <p:nvPr/>
        </p:nvSpPr>
        <p:spPr>
          <a:xfrm xmlns:a="http://schemas.openxmlformats.org/drawingml/2006/main">
            <a:off x="4267200" y="274320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Ticketing, Inbox und KI als laufender Service.</a:t>
            </a:r>
          </a:p>
        </p:txBody>
      </p:sp>
      <p:sp>
        <p:nvSpPr>
          <p:cNvPr id="8" name="body">
            <a:extLst xmlns:a="http://schemas.openxmlformats.org/drawingml/2006/main">
              <a:ext uri="{FF2B5EF4-FFF2-40B4-BE49-F238E27FC236}">
                <a16:creationId xmlns:a16="http://schemas.microsoft.com/office/drawing/2014/main" id="{D8D2CF21-6BBA-44C7-AF32-60353868948F}"/>
              </a:ext>
            </a:extLst>
          </p:cNvPr>
          <p:cNvSpPr>
            <a:spLocks xmlns:a="http://schemas.openxmlformats.org/drawingml/2006/main" noGrp="1"/>
          </p:cNvSpPr>
          <p:nvPr/>
        </p:nvSpPr>
        <p:spPr>
          <a:xfrm xmlns:a="http://schemas.openxmlformats.org/drawingml/2006/main">
            <a:off x="685800" y="325755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ITSM &amp; Plattformen</a:t>
            </a:r>
          </a:p>
        </p:txBody>
      </p:sp>
      <p:sp>
        <p:nvSpPr>
          <p:cNvPr id="9" name="body">
            <a:extLst xmlns:a="http://schemas.openxmlformats.org/drawingml/2006/main">
              <a:ext uri="{FF2B5EF4-FFF2-40B4-BE49-F238E27FC236}">
                <a16:creationId xmlns:a16="http://schemas.microsoft.com/office/drawing/2014/main" id="{CEEE66F7-43DC-4E31-B601-0F2FD0E9C0C1}"/>
              </a:ext>
            </a:extLst>
          </p:cNvPr>
          <p:cNvSpPr>
            <a:spLocks xmlns:a="http://schemas.openxmlformats.org/drawingml/2006/main" noGrp="1"/>
          </p:cNvSpPr>
          <p:nvPr/>
        </p:nvSpPr>
        <p:spPr>
          <a:xfrm xmlns:a="http://schemas.openxmlformats.org/drawingml/2006/main">
            <a:off x="4267200" y="32575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02A2A"/>
                </a:solidFill>
                <a:latin typeface="Arial"/>
                <a:ea typeface="Arial"/>
                <a:cs typeface="Arial"/>
              </a:defRPr>
            </a:defPPr>
          </a:lstStyle>
          <a:p xmlns:a="http://schemas.openxmlformats.org/drawingml/2006/main">
            <a:pPr>
              <a:defRPr sz="2100" b="1">
                <a:solidFill>
                  <a:srgbClr val="102A2A"/>
                </a:solidFill>
                <a:latin typeface="Arial"/>
                <a:ea typeface="Arial"/>
                <a:cs typeface="Arial"/>
              </a:defRPr>
            </a:pPr>
            <a:r>
              <a:rPr sz="2100" b="1">
                <a:solidFill>
                  <a:srgbClr val="102A2A"/>
                </a:solidFill>
                <a:latin typeface="Arial"/>
                <a:ea typeface="Arial"/>
                <a:cs typeface="Arial"/>
              </a:rPr>
              <a:t>Jira Service Management · ServiceNow</a:t>
            </a:r>
          </a:p>
          <a:p xmlns:a="http://schemas.openxmlformats.org/drawingml/2006/main">
            <a:pPr>
              <a:defRPr sz="2100" b="1">
                <a:solidFill>
                  <a:srgbClr val="102A2A"/>
                </a:solidFill>
                <a:latin typeface="Arial"/>
                <a:ea typeface="Arial"/>
                <a:cs typeface="Arial"/>
              </a:defRPr>
            </a:pPr>
            <a:r>
              <a:rPr sz="2100" b="1">
                <a:solidFill>
                  <a:srgbClr val="102A2A"/>
                </a:solidFill>
                <a:latin typeface="Arial"/>
                <a:ea typeface="Arial"/>
                <a:cs typeface="Arial"/>
              </a:rPr>
              <a:t>Copilot Studio + Power Pages</a:t>
            </a:r>
          </a:p>
        </p:txBody>
      </p:sp>
      <p:sp>
        <p:nvSpPr>
          <p:cNvPr id="10" name="body">
            <a:extLst xmlns:a="http://schemas.openxmlformats.org/drawingml/2006/main">
              <a:ext uri="{FF2B5EF4-FFF2-40B4-BE49-F238E27FC236}">
                <a16:creationId xmlns:a16="http://schemas.microsoft.com/office/drawing/2014/main" id="{0C4A53D2-406C-40EF-B929-49045722FA8A}"/>
              </a:ext>
            </a:extLst>
          </p:cNvPr>
          <p:cNvSpPr>
            <a:spLocks xmlns:a="http://schemas.openxmlformats.org/drawingml/2006/main" noGrp="1"/>
          </p:cNvSpPr>
          <p:nvPr/>
        </p:nvSpPr>
        <p:spPr>
          <a:xfrm xmlns:a="http://schemas.openxmlformats.org/drawingml/2006/main">
            <a:off x="4267200" y="3914775"/>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Umfassende Prozesse oder eigener Plattformbau.</a:t>
            </a:r>
          </a:p>
        </p:txBody>
      </p:sp>
      <p:sp>
        <p:nvSpPr>
          <p:cNvPr id="11" name="body">
            <a:extLst xmlns:a="http://schemas.openxmlformats.org/drawingml/2006/main">
              <a:ext uri="{FF2B5EF4-FFF2-40B4-BE49-F238E27FC236}">
                <a16:creationId xmlns:a16="http://schemas.microsoft.com/office/drawing/2014/main" id="{A0D4B76A-13A1-40BA-BB5E-97A52CDF1877}"/>
              </a:ext>
            </a:extLst>
          </p:cNvPr>
          <p:cNvSpPr>
            <a:spLocks xmlns:a="http://schemas.openxmlformats.org/drawingml/2006/main" noGrp="1"/>
          </p:cNvSpPr>
          <p:nvPr/>
        </p:nvSpPr>
        <p:spPr>
          <a:xfrm xmlns:a="http://schemas.openxmlformats.org/drawingml/2006/main">
            <a:off x="685800" y="44291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defRPr sz="2325" b="1">
                <a:solidFill>
                  <a:srgbClr val="006B64"/>
                </a:solidFill>
                <a:latin typeface="Arial"/>
                <a:ea typeface="Arial"/>
                <a:cs typeface="Arial"/>
              </a:defRPr>
            </a:pPr>
            <a:r>
              <a:rPr sz="2325" b="1">
                <a:solidFill>
                  <a:srgbClr val="006B64"/>
                </a:solidFill>
                <a:latin typeface="Arial"/>
                <a:ea typeface="Arial"/>
                <a:cs typeface="Arial"/>
              </a:rPr>
              <a:t>Open Source</a:t>
            </a:r>
          </a:p>
        </p:txBody>
      </p:sp>
      <p:sp>
        <p:nvSpPr>
          <p:cNvPr id="12" name="body">
            <a:extLst xmlns:a="http://schemas.openxmlformats.org/drawingml/2006/main">
              <a:ext uri="{FF2B5EF4-FFF2-40B4-BE49-F238E27FC236}">
                <a16:creationId xmlns:a16="http://schemas.microsoft.com/office/drawing/2014/main" id="{E576258A-23A1-4F52-AF65-847153F0D91C}"/>
              </a:ext>
            </a:extLst>
          </p:cNvPr>
          <p:cNvSpPr>
            <a:spLocks xmlns:a="http://schemas.openxmlformats.org/drawingml/2006/main" noGrp="1"/>
          </p:cNvSpPr>
          <p:nvPr/>
        </p:nvSpPr>
        <p:spPr>
          <a:xfrm xmlns:a="http://schemas.openxmlformats.org/drawingml/2006/main">
            <a:off x="4267200" y="4429125"/>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02A2A"/>
                </a:solidFill>
                <a:latin typeface="Arial"/>
                <a:ea typeface="Arial"/>
                <a:cs typeface="Arial"/>
              </a:defRPr>
            </a:defPPr>
          </a:lstStyle>
          <a:p xmlns:a="http://schemas.openxmlformats.org/drawingml/2006/main">
            <a:pPr>
              <a:defRPr sz="2100" b="1">
                <a:solidFill>
                  <a:srgbClr val="102A2A"/>
                </a:solidFill>
                <a:latin typeface="Arial"/>
                <a:ea typeface="Arial"/>
                <a:cs typeface="Arial"/>
              </a:defRPr>
            </a:pPr>
            <a:r>
              <a:rPr sz="2100" b="1">
                <a:solidFill>
                  <a:srgbClr val="102A2A"/>
                </a:solidFill>
                <a:latin typeface="Arial"/>
                <a:ea typeface="Arial"/>
                <a:cs typeface="Arial"/>
              </a:rPr>
              <a:t>Zammad · Chatwoot CE · FreeScout · GLPI</a:t>
            </a:r>
          </a:p>
        </p:txBody>
      </p:sp>
      <p:sp>
        <p:nvSpPr>
          <p:cNvPr id="13" name="body">
            <a:extLst xmlns:a="http://schemas.openxmlformats.org/drawingml/2006/main">
              <a:ext uri="{FF2B5EF4-FFF2-40B4-BE49-F238E27FC236}">
                <a16:creationId xmlns:a16="http://schemas.microsoft.com/office/drawing/2014/main" id="{3549705F-2D22-4555-B505-3C853B1D9557}"/>
              </a:ext>
            </a:extLst>
          </p:cNvPr>
          <p:cNvSpPr>
            <a:spLocks xmlns:a="http://schemas.openxmlformats.org/drawingml/2006/main" noGrp="1"/>
          </p:cNvSpPr>
          <p:nvPr/>
        </p:nvSpPr>
        <p:spPr>
          <a:xfrm xmlns:a="http://schemas.openxmlformats.org/drawingml/2006/main">
            <a:off x="4267200" y="508635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defRPr sz="1875" b="0">
                <a:solidFill>
                  <a:srgbClr val="526763"/>
                </a:solidFill>
                <a:latin typeface="Arial"/>
                <a:ea typeface="Arial"/>
                <a:cs typeface="Arial"/>
              </a:defRPr>
            </a:pPr>
            <a:r>
              <a:rPr sz="1875" b="0">
                <a:solidFill>
                  <a:srgbClr val="526763"/>
                </a:solidFill>
                <a:latin typeface="Arial"/>
                <a:ea typeface="Arial"/>
                <a:cs typeface="Arial"/>
              </a:rPr>
              <a:t>Eigener Betrieb; teils optionale Pläne und Module.</a:t>
            </a:r>
          </a:p>
        </p:txBody>
      </p:sp>
      <p:sp>
        <p:nvSpPr>
          <p:cNvPr id="14" name="body">
            <a:extLst xmlns:a="http://schemas.openxmlformats.org/drawingml/2006/main">
              <a:ext uri="{FF2B5EF4-FFF2-40B4-BE49-F238E27FC236}">
                <a16:creationId xmlns:a16="http://schemas.microsoft.com/office/drawing/2014/main" id="{16B719E8-F39E-440E-A9BF-83E7A47E1AB6}"/>
              </a:ext>
            </a:extLst>
          </p:cNvPr>
          <p:cNvSpPr>
            <a:spLocks xmlns:a="http://schemas.openxmlformats.org/drawingml/2006/main" noGrp="1"/>
          </p:cNvSpPr>
          <p:nvPr/>
        </p:nvSpPr>
        <p:spPr>
          <a:xfrm xmlns:a="http://schemas.openxmlformats.org/drawingml/2006/main">
            <a:off x="685800" y="58959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63"/>
                </a:solidFill>
                <a:latin typeface="Arial"/>
                <a:ea typeface="Arial"/>
                <a:cs typeface="Arial"/>
              </a:defRPr>
            </a:defPPr>
          </a:lstStyle>
          <a:p xmlns:a="http://schemas.openxmlformats.org/drawingml/2006/main">
            <a:pPr>
              <a:defRPr sz="1350" b="0">
                <a:solidFill>
                  <a:srgbClr val="526763"/>
                </a:solidFill>
                <a:latin typeface="Arial"/>
                <a:ea typeface="Arial"/>
                <a:cs typeface="Arial"/>
              </a:defRPr>
            </a:pPr>
            <a:r>
              <a:rPr sz="1350" b="0">
                <a:solidFill>
                  <a:srgbClr val="526763"/>
                </a:solidFill>
                <a:latin typeface="Arial"/>
                <a:ea typeface="Arial"/>
                <a:cs typeface="Arial"/>
              </a:rPr>
              <a:t>Stand 14.10.2026 · CSP: eigenes Serviceportal plus Einrichtung, Integration und Übergabe.</a:t>
            </a:r>
          </a:p>
        </p:txBody>
      </p:sp>
    </p:spTree>
    <p:extLst>
      <p:ext uri="{BB962C8B-B14F-4D97-AF65-F5344CB8AC3E}">
        <p14:creationId xmlns:p14="http://schemas.microsoft.com/office/powerpoint/2010/main" val="1172112025"/>
      </p:ext>
    </p:extLst>
  </p:cSld>
</p:sld>
</file>

<file path=ppt/slides/slide10.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2224A6B2-BAB3-4967-A8F0-9266C3A5FB25}"/>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VERGLEICH · SAAS</a:t>
            </a:r>
          </a:p>
        </p:txBody>
      </p:sp>
      <p:sp>
        <p:nvSpPr>
          <p:cNvPr id="2" name="slide-title">
            <a:extLst xmlns:a="http://schemas.openxmlformats.org/drawingml/2006/main">
              <a:ext uri="{FF2B5EF4-FFF2-40B4-BE49-F238E27FC236}">
                <a16:creationId xmlns:a16="http://schemas.microsoft.com/office/drawing/2014/main" id="{7BC6B49A-E1D9-4756-A2E3-2A173F441EB1}"/>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Support-Suiten: starke Agentenwerkzeuge</a:t>
            </a:r>
          </a:p>
        </p:txBody>
      </p:sp>
      <p:sp>
        <p:nvSpPr>
          <p:cNvPr id="3" name="footer">
            <a:extLst xmlns:a="http://schemas.openxmlformats.org/drawingml/2006/main">
              <a:ext uri="{FF2B5EF4-FFF2-40B4-BE49-F238E27FC236}">
                <a16:creationId xmlns:a16="http://schemas.microsoft.com/office/drawing/2014/main" id="{4FBDDF1E-1018-431C-8E40-FBC6B5DFF217}"/>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6F8958DB-215F-429E-8FCF-A12B8057CA3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6D3E8D27-B3D3-40F0-98D6-E4E16F18E3FA}"/>
              </a:ext>
            </a:extLst>
          </p:cNvPr>
          <p:cNvGraphicFramePr/>
          <p:nvPr/>
        </p:nvGraphicFramePr>
        <p:xfrm>
          <a:off xmlns:a="http://schemas.openxmlformats.org/drawingml/2006/main" x="685800" y="1952625"/>
          <a:ext xmlns:a="http://schemas.openxmlformats.org/drawingml/2006/main" cx="10820400" cy="3533775"/>
        </p:xfrm>
        <a:graphic xmlns:a="http://schemas.openxmlformats.org/drawingml/2006/main">
          <a:graphicData uri="http://schemas.openxmlformats.org/drawingml/2006/table">
            <a:tbl>
              <a:tblPr/>
              <a:tblGrid>
                <a:gridCol w="2266950"/>
                <a:gridCol w="4219575"/>
                <a:gridCol w="4333875"/>
              </a:tblGrid>
              <a:tr h="438150">
                <a:tc>
                  <a:txBody>
                    <a:bodyPr wrap="square">
                      <a:noAutofit/>
                    </a:bodyPr>
                    <a:lstStyle/>
                    <a:p>
                      <a:r>
                        <a:rPr sz="1650" b="1">
                          <a:solidFill>
                            <a:srgbClr val="FFFFFF"/>
                          </a:solidFill>
                          <a:latin typeface="Arial"/>
                          <a:ea typeface="Arial"/>
                          <a:cs typeface="Arial"/>
                        </a:rPr>
                        <a:t>Angebot</a:t>
                      </a:r>
                    </a:p>
                  </a:txBody>
                  <a:tcPr marL="133350" marR="133350" marT="38100" marB="381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Schwerpunkt</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Kostenmodell</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619125">
                <a:tc>
                  <a:txBody>
                    <a:bodyPr wrap="square">
                      <a:noAutofit/>
                    </a:bodyPr>
                    <a:lstStyle/>
                    <a:p>
                      <a:r>
                        <a:rPr sz="1800" b="1">
                          <a:solidFill>
                            <a:srgbClr val="102A2A"/>
                          </a:solidFill>
                          <a:latin typeface="Arial"/>
                          <a:ea typeface="Arial"/>
                          <a:cs typeface="Arial"/>
                        </a:rPr>
                        <a:t>Zendesk Suite</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Ticketing, Wissen,</a:t>
                      </a:r>
                    </a:p>
                    <a:p>
                      <a:r>
                        <a:rPr sz="1800" b="0">
                          <a:solidFill>
                            <a:srgbClr val="102A2A"/>
                          </a:solidFill>
                          <a:latin typeface="Arial"/>
                          <a:ea typeface="Arial"/>
                          <a:cs typeface="Arial"/>
                        </a:rPr>
                        <a:t>Omnichannel und KI</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Agentenplätze;</a:t>
                      </a:r>
                    </a:p>
                    <a:p>
                      <a:r>
                        <a:rPr sz="1800" b="0">
                          <a:solidFill>
                            <a:srgbClr val="102A2A"/>
                          </a:solidFill>
                          <a:latin typeface="Arial"/>
                          <a:ea typeface="Arial"/>
                          <a:cs typeface="Arial"/>
                        </a:rPr>
                        <a:t>Nutzung und Add-ons</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619125">
                <a:tc>
                  <a:txBody>
                    <a:bodyPr wrap="square">
                      <a:noAutofit/>
                    </a:bodyPr>
                    <a:lstStyle/>
                    <a:p>
                      <a:r>
                        <a:rPr sz="1800" b="1">
                          <a:solidFill>
                            <a:srgbClr val="102A2A"/>
                          </a:solidFill>
                          <a:latin typeface="Arial"/>
                          <a:ea typeface="Arial"/>
                          <a:cs typeface="Arial"/>
                        </a:rPr>
                        <a:t>Freshdesk Omni</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Portal, Routing,</a:t>
                      </a:r>
                    </a:p>
                    <a:p>
                      <a:r>
                        <a:rPr sz="1800" b="0">
                          <a:solidFill>
                            <a:srgbClr val="102A2A"/>
                          </a:solidFill>
                          <a:latin typeface="Arial"/>
                          <a:ea typeface="Arial"/>
                          <a:cs typeface="Arial"/>
                        </a:rPr>
                        <a:t>Ticketing und Freddy</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Agentenplätze +</a:t>
                      </a:r>
                    </a:p>
                    <a:p>
                      <a:r>
                        <a:rPr sz="1800" b="0">
                          <a:solidFill>
                            <a:srgbClr val="102A2A"/>
                          </a:solidFill>
                          <a:latin typeface="Arial"/>
                          <a:ea typeface="Arial"/>
                          <a:cs typeface="Arial"/>
                        </a:rPr>
                        <a:t>KI-Sessions</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r h="619125">
                <a:tc>
                  <a:txBody>
                    <a:bodyPr wrap="square">
                      <a:noAutofit/>
                    </a:bodyPr>
                    <a:lstStyle/>
                    <a:p>
                      <a:r>
                        <a:rPr sz="1800" b="1">
                          <a:solidFill>
                            <a:srgbClr val="102A2A"/>
                          </a:solidFill>
                          <a:latin typeface="Arial"/>
                          <a:ea typeface="Arial"/>
                          <a:cs typeface="Arial"/>
                        </a:rPr>
                        <a:t>Intercom + Fin</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Messenger, Inbox,</a:t>
                      </a:r>
                    </a:p>
                    <a:p>
                      <a:r>
                        <a:rPr sz="1800" b="0">
                          <a:solidFill>
                            <a:srgbClr val="102A2A"/>
                          </a:solidFill>
                          <a:latin typeface="Arial"/>
                          <a:ea typeface="Arial"/>
                          <a:cs typeface="Arial"/>
                        </a:rPr>
                        <a:t>KI-Agent und Abläufe</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Sitzplätze + Outcomes;</a:t>
                      </a:r>
                    </a:p>
                    <a:p>
                      <a:r>
                        <a:rPr sz="1800" b="0">
                          <a:solidFill>
                            <a:srgbClr val="102A2A"/>
                          </a:solidFill>
                          <a:latin typeface="Arial"/>
                          <a:ea typeface="Arial"/>
                          <a:cs typeface="Arial"/>
                        </a:rPr>
                        <a:t>Fin auch separat</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619125">
                <a:tc>
                  <a:txBody>
                    <a:bodyPr wrap="square">
                      <a:noAutofit/>
                    </a:bodyPr>
                    <a:lstStyle/>
                    <a:p>
                      <a:r>
                        <a:rPr sz="1800" b="1">
                          <a:solidFill>
                            <a:srgbClr val="102A2A"/>
                          </a:solidFill>
                          <a:latin typeface="Arial"/>
                          <a:ea typeface="Arial"/>
                          <a:cs typeface="Arial"/>
                        </a:rPr>
                        <a:t>Crisp + Hugo</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Shared Inbox,</a:t>
                      </a:r>
                    </a:p>
                    <a:p>
                      <a:r>
                        <a:rPr sz="1800" b="0">
                          <a:solidFill>
                            <a:srgbClr val="102A2A"/>
                          </a:solidFill>
                          <a:latin typeface="Arial"/>
                          <a:ea typeface="Arial"/>
                          <a:cs typeface="Arial"/>
                        </a:rPr>
                        <a:t>Livechat und KI</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Workspace-Pakete;</a:t>
                      </a:r>
                    </a:p>
                    <a:p>
                      <a:r>
                        <a:rPr sz="1800" b="0">
                          <a:solidFill>
                            <a:srgbClr val="102A2A"/>
                          </a:solidFill>
                          <a:latin typeface="Arial"/>
                          <a:ea typeface="Arial"/>
                          <a:cs typeface="Arial"/>
                        </a:rPr>
                        <a:t>Plätze und KI-Credits</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r h="619125">
                <a:tc>
                  <a:txBody>
                    <a:bodyPr wrap="square">
                      <a:noAutofit/>
                    </a:bodyPr>
                    <a:lstStyle/>
                    <a:p>
                      <a:r>
                        <a:rPr sz="1800" b="1">
                          <a:solidFill>
                            <a:srgbClr val="102A2A"/>
                          </a:solidFill>
                          <a:latin typeface="Arial"/>
                          <a:ea typeface="Arial"/>
                          <a:cs typeface="Arial"/>
                        </a:rPr>
                        <a:t>CSP</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E9F3CB"/>
                    </a:solidFill>
                  </a:tcPr>
                </a:tc>
                <a:tc>
                  <a:txBody>
                    <a:bodyPr wrap="square">
                      <a:noAutofit/>
                    </a:bodyPr>
                    <a:lstStyle/>
                    <a:p>
                      <a:r>
                        <a:rPr sz="1800" b="0">
                          <a:solidFill>
                            <a:srgbClr val="102A2A"/>
                          </a:solidFill>
                          <a:latin typeface="Arial"/>
                          <a:ea typeface="Arial"/>
                          <a:cs typeface="Arial"/>
                        </a:rPr>
                        <a:t>Eigener Einstieg in</a:t>
                      </a:r>
                    </a:p>
                    <a:p>
                      <a:r>
                        <a:rPr sz="1800" b="0">
                          <a:solidFill>
                            <a:srgbClr val="102A2A"/>
                          </a:solidFill>
                          <a:latin typeface="Arial"/>
                          <a:ea typeface="Arial"/>
                          <a:cs typeface="Arial"/>
                        </a:rPr>
                        <a:t>bestehende Servicequellen</a:t>
                      </a:r>
                    </a:p>
                  </a:txBody>
                  <a:tcPr marL="133350" marR="133350" marT="38100" marB="38100" anchor="ctr">
                    <a:lnR w="9525">
                      <a:solidFill>
                        <a:srgbClr val="DBE5DF"/>
                      </a:solidFill>
                      <a:prstDash val="solid"/>
                    </a:lnR>
                    <a:lnB w="9525">
                      <a:solidFill>
                        <a:srgbClr val="DBE5DF"/>
                      </a:solidFill>
                      <a:prstDash val="solid"/>
                    </a:lnB>
                    <a:solidFill>
                      <a:srgbClr val="E9F3CB"/>
                    </a:solidFill>
                  </a:tcPr>
                </a:tc>
                <a:tc>
                  <a:txBody>
                    <a:bodyPr wrap="square">
                      <a:noAutofit/>
                    </a:bodyPr>
                    <a:lstStyle/>
                    <a:p>
                      <a:r>
                        <a:rPr sz="1800" b="0">
                          <a:solidFill>
                            <a:srgbClr val="102A2A"/>
                          </a:solidFill>
                          <a:latin typeface="Arial"/>
                          <a:ea typeface="Arial"/>
                          <a:cs typeface="Arial"/>
                        </a:rPr>
                        <a:t>Integrationsprojekt;</a:t>
                      </a:r>
                    </a:p>
                    <a:p>
                      <a:r>
                        <a:rPr sz="1800" b="0">
                          <a:solidFill>
                            <a:srgbClr val="102A2A"/>
                          </a:solidFill>
                          <a:latin typeface="Arial"/>
                          <a:ea typeface="Arial"/>
                          <a:cs typeface="Arial"/>
                        </a:rPr>
                        <a:t>Betrieb separat</a:t>
                      </a:r>
                    </a:p>
                  </a:txBody>
                  <a:tcPr marL="133350" marR="133350" marT="38100" marB="38100" anchor="ctr">
                    <a:lnR w="9525">
                      <a:solidFill>
                        <a:srgbClr val="DBE5DF"/>
                      </a:solidFill>
                      <a:prstDash val="solid"/>
                    </a:lnR>
                    <a:lnB w="9525">
                      <a:solidFill>
                        <a:srgbClr val="DBE5DF"/>
                      </a:solidFill>
                      <a:prstDash val="solid"/>
                    </a:lnB>
                    <a:solidFill>
                      <a:srgbClr val="E9F3CB"/>
                    </a:solidFill>
                  </a:tcPr>
                </a:tc>
              </a:tr>
            </a:tbl>
          </a:graphicData>
        </a:graphic>
      </p:graphicFrame>
      <p:sp>
        <p:nvSpPr>
          <p:cNvPr id="6" name="body">
            <a:extLst xmlns:a="http://schemas.openxmlformats.org/drawingml/2006/main">
              <a:ext uri="{FF2B5EF4-FFF2-40B4-BE49-F238E27FC236}">
                <a16:creationId xmlns:a16="http://schemas.microsoft.com/office/drawing/2014/main" id="{C974C253-42FC-42AF-90ED-F6301EDDB09C}"/>
              </a:ext>
            </a:extLst>
          </p:cNvPr>
          <p:cNvSpPr>
            <a:spLocks xmlns:a="http://schemas.openxmlformats.org/drawingml/2006/main" noGrp="1"/>
          </p:cNvSpPr>
          <p:nvPr/>
        </p:nvSpPr>
        <p:spPr>
          <a:xfrm xmlns:a="http://schemas.openxmlformats.org/drawingml/2006/main">
            <a:off x="685800" y="58959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63"/>
                </a:solidFill>
                <a:latin typeface="Arial"/>
                <a:ea typeface="Arial"/>
                <a:cs typeface="Arial"/>
              </a:defRPr>
            </a:defPPr>
          </a:lstStyle>
          <a:p xmlns:a="http://schemas.openxmlformats.org/drawingml/2006/main">
            <a:pPr>
              <a:defRPr sz="1350" b="0">
                <a:solidFill>
                  <a:srgbClr val="526763"/>
                </a:solidFill>
                <a:latin typeface="Arial"/>
                <a:ea typeface="Arial"/>
                <a:cs typeface="Arial"/>
              </a:defRPr>
            </a:pPr>
            <a:r>
              <a:rPr sz="1350" b="0">
                <a:solidFill>
                  <a:srgbClr val="526763"/>
                </a:solidFill>
                <a:latin typeface="Arial"/>
                <a:ea typeface="Arial"/>
                <a:cs typeface="Arial"/>
              </a:rPr>
              <a:t>CSP-Abgrenzung: MIT-Code und Skills zur eigenen Entwicklung. Vollständiges Ticketing bleibt extern.</a:t>
            </a:r>
          </a:p>
        </p:txBody>
      </p:sp>
    </p:spTree>
    <p:extLst>
      <p:ext uri="{BB962C8B-B14F-4D97-AF65-F5344CB8AC3E}">
        <p14:creationId xmlns:p14="http://schemas.microsoft.com/office/powerpoint/2010/main" val="1863457400"/>
      </p:ext>
    </p:extLst>
  </p:cSld>
</p:sld>
</file>

<file path=ppt/slides/slide11.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847E64B-006A-46AE-BBB8-CFFFF7969BF3}"/>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VERGLEICH · ENTERPRISE &amp; BAUKASTEN</a:t>
            </a:r>
          </a:p>
        </p:txBody>
      </p:sp>
      <p:sp>
        <p:nvSpPr>
          <p:cNvPr id="2" name="slide-title">
            <a:extLst xmlns:a="http://schemas.openxmlformats.org/drawingml/2006/main">
              <a:ext uri="{FF2B5EF4-FFF2-40B4-BE49-F238E27FC236}">
                <a16:creationId xmlns:a16="http://schemas.microsoft.com/office/drawing/2014/main" id="{4ABE0900-FC6E-4A90-86FF-4A99E8832302}"/>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ITSM und Plattformen: mehr Prozessumfang</a:t>
            </a:r>
          </a:p>
        </p:txBody>
      </p:sp>
      <p:sp>
        <p:nvSpPr>
          <p:cNvPr id="3" name="footer">
            <a:extLst xmlns:a="http://schemas.openxmlformats.org/drawingml/2006/main">
              <a:ext uri="{FF2B5EF4-FFF2-40B4-BE49-F238E27FC236}">
                <a16:creationId xmlns:a16="http://schemas.microsoft.com/office/drawing/2014/main" id="{4D9EED5F-4304-4687-9B60-A98E91B331BB}"/>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07EB5B29-C9C0-46D9-AD63-74710ED90AD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FEB42AA9-4C05-4154-B588-D1A88A14D9C3}"/>
              </a:ext>
            </a:extLst>
          </p:cNvPr>
          <p:cNvGraphicFramePr/>
          <p:nvPr/>
        </p:nvGraphicFramePr>
        <p:xfrm>
          <a:off xmlns:a="http://schemas.openxmlformats.org/drawingml/2006/main" x="685800" y="1952625"/>
          <a:ext xmlns:a="http://schemas.openxmlformats.org/drawingml/2006/main" cx="10820400" cy="3600450"/>
        </p:xfrm>
        <a:graphic xmlns:a="http://schemas.openxmlformats.org/drawingml/2006/main">
          <a:graphicData uri="http://schemas.openxmlformats.org/drawingml/2006/table">
            <a:tbl>
              <a:tblPr/>
              <a:tblGrid>
                <a:gridCol w="2619375"/>
                <a:gridCol w="3952875"/>
                <a:gridCol w="4248150"/>
              </a:tblGrid>
              <a:tr h="438150">
                <a:tc>
                  <a:txBody>
                    <a:bodyPr wrap="square">
                      <a:noAutofit/>
                    </a:bodyPr>
                    <a:lstStyle/>
                    <a:p>
                      <a:r>
                        <a:rPr sz="1650" b="1">
                          <a:solidFill>
                            <a:srgbClr val="FFFFFF"/>
                          </a:solidFill>
                          <a:latin typeface="Arial"/>
                          <a:ea typeface="Arial"/>
                          <a:cs typeface="Arial"/>
                        </a:rPr>
                        <a:t>Angebot</a:t>
                      </a:r>
                    </a:p>
                  </a:txBody>
                  <a:tcPr marL="133350" marR="133350" marT="38100" marB="381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Stärke / Umfang</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CSP-Abgrenzung</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790575">
                <a:tc>
                  <a:txBody>
                    <a:bodyPr wrap="square">
                      <a:noAutofit/>
                    </a:bodyPr>
                    <a:lstStyle/>
                    <a:p>
                      <a:r>
                        <a:rPr sz="1800" b="1">
                          <a:solidFill>
                            <a:srgbClr val="102A2A"/>
                          </a:solidFill>
                          <a:latin typeface="Arial"/>
                          <a:ea typeface="Arial"/>
                          <a:cs typeface="Arial"/>
                        </a:rPr>
                        <a:t>JSM Cloud /</a:t>
                      </a:r>
                    </a:p>
                    <a:p>
                      <a:r>
                        <a:rPr sz="1800" b="1">
                          <a:solidFill>
                            <a:srgbClr val="102A2A"/>
                          </a:solidFill>
                          <a:latin typeface="Arial"/>
                          <a:ea typeface="Arial"/>
                          <a:cs typeface="Arial"/>
                        </a:rPr>
                        <a:t>Service Collection</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ITSM, Portale, Assets,</a:t>
                      </a:r>
                    </a:p>
                    <a:p>
                      <a:r>
                        <a:rPr sz="1800" b="0">
                          <a:solidFill>
                            <a:srgbClr val="102A2A"/>
                          </a:solidFill>
                          <a:latin typeface="Arial"/>
                          <a:ea typeface="Arial"/>
                          <a:cs typeface="Arial"/>
                        </a:rPr>
                        <a:t>Workflows und Bereitschaft</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Eigenes Portal und Code;</a:t>
                      </a:r>
                    </a:p>
                    <a:p>
                      <a:r>
                        <a:rPr sz="1800" b="0">
                          <a:solidFill>
                            <a:srgbClr val="102A2A"/>
                          </a:solidFill>
                          <a:latin typeface="Arial"/>
                          <a:ea typeface="Arial"/>
                          <a:cs typeface="Arial"/>
                        </a:rPr>
                        <a:t>keine volle ITSM-Suite</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790575">
                <a:tc>
                  <a:txBody>
                    <a:bodyPr wrap="square">
                      <a:noAutofit/>
                    </a:bodyPr>
                    <a:lstStyle/>
                    <a:p>
                      <a:r>
                        <a:rPr sz="1800" b="1">
                          <a:solidFill>
                            <a:srgbClr val="102A2A"/>
                          </a:solidFill>
                          <a:latin typeface="Arial"/>
                          <a:ea typeface="Arial"/>
                          <a:cs typeface="Arial"/>
                        </a:rPr>
                        <a:t>ServiceNow CSM</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Case Management,</a:t>
                      </a:r>
                    </a:p>
                    <a:p>
                      <a:r>
                        <a:rPr sz="1800" b="0">
                          <a:solidFill>
                            <a:srgbClr val="102A2A"/>
                          </a:solidFill>
                          <a:latin typeface="Arial"/>
                          <a:ea typeface="Arial"/>
                          <a:cs typeface="Arial"/>
                        </a:rPr>
                        <a:t>Enterprise-Service und KI</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Begrenztes Portalprojekt;</a:t>
                      </a:r>
                    </a:p>
                    <a:p>
                      <a:r>
                        <a:rPr sz="1800" b="0">
                          <a:solidFill>
                            <a:srgbClr val="102A2A"/>
                          </a:solidFill>
                          <a:latin typeface="Arial"/>
                          <a:ea typeface="Arial"/>
                          <a:cs typeface="Arial"/>
                        </a:rPr>
                        <a:t>kein Enterprise-CSM-Ersatz</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r h="790575">
                <a:tc>
                  <a:txBody>
                    <a:bodyPr wrap="square">
                      <a:noAutofit/>
                    </a:bodyPr>
                    <a:lstStyle/>
                    <a:p>
                      <a:r>
                        <a:rPr sz="1800" b="1">
                          <a:solidFill>
                            <a:srgbClr val="102A2A"/>
                          </a:solidFill>
                          <a:latin typeface="Arial"/>
                          <a:ea typeface="Arial"/>
                          <a:cs typeface="Arial"/>
                        </a:rPr>
                        <a:t>Copilot Studio</a:t>
                      </a:r>
                    </a:p>
                    <a:p>
                      <a:r>
                        <a:rPr sz="1800" b="1">
                          <a:solidFill>
                            <a:srgbClr val="102A2A"/>
                          </a:solidFill>
                          <a:latin typeface="Arial"/>
                          <a:ea typeface="Arial"/>
                          <a:cs typeface="Arial"/>
                        </a:rPr>
                        <a:t>+ Power Pages</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Agenten und Portale</a:t>
                      </a:r>
                    </a:p>
                    <a:p>
                      <a:r>
                        <a:rPr sz="1800" b="0">
                          <a:solidFill>
                            <a:srgbClr val="102A2A"/>
                          </a:solidFill>
                          <a:latin typeface="Arial"/>
                          <a:ea typeface="Arial"/>
                          <a:cs typeface="Arial"/>
                        </a:rPr>
                        <a:t>auf Microsoft-Plattform</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Vorhandene MIT-Basis</a:t>
                      </a:r>
                    </a:p>
                    <a:p>
                      <a:r>
                        <a:rPr sz="1800" b="0">
                          <a:solidFill>
                            <a:srgbClr val="102A2A"/>
                          </a:solidFill>
                          <a:latin typeface="Arial"/>
                          <a:ea typeface="Arial"/>
                          <a:cs typeface="Arial"/>
                        </a:rPr>
                        <a:t>mit SDK und Skills</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790575">
                <a:tc>
                  <a:txBody>
                    <a:bodyPr wrap="square">
                      <a:noAutofit/>
                    </a:bodyPr>
                    <a:lstStyle/>
                    <a:p>
                      <a:r>
                        <a:rPr sz="1800" b="1">
                          <a:solidFill>
                            <a:srgbClr val="102A2A"/>
                          </a:solidFill>
                          <a:latin typeface="Arial"/>
                          <a:ea typeface="Arial"/>
                          <a:cs typeface="Arial"/>
                        </a:rPr>
                        <a:t>CSP</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E9F3CB"/>
                    </a:solidFill>
                  </a:tcPr>
                </a:tc>
                <a:tc>
                  <a:txBody>
                    <a:bodyPr wrap="square">
                      <a:noAutofit/>
                    </a:bodyPr>
                    <a:lstStyle/>
                    <a:p>
                      <a:r>
                        <a:rPr sz="1800" b="0">
                          <a:solidFill>
                            <a:srgbClr val="102A2A"/>
                          </a:solidFill>
                          <a:latin typeface="Arial"/>
                          <a:ea typeface="Arial"/>
                          <a:cs typeface="Arial"/>
                        </a:rPr>
                        <a:t>Kontakt, Status, Wissen,</a:t>
                      </a:r>
                    </a:p>
                    <a:p>
                      <a:r>
                        <a:rPr sz="1800" b="0">
                          <a:solidFill>
                            <a:srgbClr val="102A2A"/>
                          </a:solidFill>
                          <a:latin typeface="Arial"/>
                          <a:ea typeface="Arial"/>
                          <a:cs typeface="Arial"/>
                        </a:rPr>
                        <a:t>KI und Supportzugänge</a:t>
                      </a:r>
                    </a:p>
                  </a:txBody>
                  <a:tcPr marL="133350" marR="133350" marT="38100" marB="38100" anchor="ctr">
                    <a:lnR w="9525">
                      <a:solidFill>
                        <a:srgbClr val="DBE5DF"/>
                      </a:solidFill>
                      <a:prstDash val="solid"/>
                    </a:lnR>
                    <a:lnB w="9525">
                      <a:solidFill>
                        <a:srgbClr val="DBE5DF"/>
                      </a:solidFill>
                      <a:prstDash val="solid"/>
                    </a:lnB>
                    <a:solidFill>
                      <a:srgbClr val="E9F3CB"/>
                    </a:solidFill>
                  </a:tcPr>
                </a:tc>
                <a:tc>
                  <a:txBody>
                    <a:bodyPr wrap="square">
                      <a:noAutofit/>
                    </a:bodyPr>
                    <a:lstStyle/>
                    <a:p>
                      <a:r>
                        <a:rPr sz="1800" b="0">
                          <a:solidFill>
                            <a:srgbClr val="102A2A"/>
                          </a:solidFill>
                          <a:latin typeface="Arial"/>
                          <a:ea typeface="Arial"/>
                          <a:cs typeface="Arial"/>
                        </a:rPr>
                        <a:t>Integration ausgewählter</a:t>
                      </a:r>
                    </a:p>
                    <a:p>
                      <a:r>
                        <a:rPr sz="1800" b="0">
                          <a:solidFill>
                            <a:srgbClr val="102A2A"/>
                          </a:solidFill>
                          <a:latin typeface="Arial"/>
                          <a:ea typeface="Arial"/>
                          <a:cs typeface="Arial"/>
                        </a:rPr>
                        <a:t>bestehender Quellen</a:t>
                      </a:r>
                    </a:p>
                  </a:txBody>
                  <a:tcPr marL="133350" marR="133350" marT="38100" marB="38100" anchor="ctr">
                    <a:lnR w="9525">
                      <a:solidFill>
                        <a:srgbClr val="DBE5DF"/>
                      </a:solidFill>
                      <a:prstDash val="solid"/>
                    </a:lnR>
                    <a:lnB w="9525">
                      <a:solidFill>
                        <a:srgbClr val="DBE5DF"/>
                      </a:solidFill>
                      <a:prstDash val="solid"/>
                    </a:lnB>
                    <a:solidFill>
                      <a:srgbClr val="E9F3CB"/>
                    </a:solidFill>
                  </a:tcPr>
                </a:tc>
              </a:tr>
            </a:tbl>
          </a:graphicData>
        </a:graphic>
      </p:graphicFrame>
      <p:sp>
        <p:nvSpPr>
          <p:cNvPr id="6" name="body">
            <a:extLst xmlns:a="http://schemas.openxmlformats.org/drawingml/2006/main">
              <a:ext uri="{FF2B5EF4-FFF2-40B4-BE49-F238E27FC236}">
                <a16:creationId xmlns:a16="http://schemas.microsoft.com/office/drawing/2014/main" id="{63697300-723E-4892-8FC4-22E63D6184E6}"/>
              </a:ext>
            </a:extLst>
          </p:cNvPr>
          <p:cNvSpPr>
            <a:spLocks xmlns:a="http://schemas.openxmlformats.org/drawingml/2006/main" noGrp="1"/>
          </p:cNvSpPr>
          <p:nvPr/>
        </p:nvSpPr>
        <p:spPr>
          <a:xfrm xmlns:a="http://schemas.openxmlformats.org/drawingml/2006/main">
            <a:off x="685800" y="58959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63"/>
                </a:solidFill>
                <a:latin typeface="Arial"/>
                <a:ea typeface="Arial"/>
                <a:cs typeface="Arial"/>
              </a:defRPr>
            </a:defPPr>
          </a:lstStyle>
          <a:p xmlns:a="http://schemas.openxmlformats.org/drawingml/2006/main">
            <a:pPr>
              <a:defRPr sz="1350" b="0">
                <a:solidFill>
                  <a:srgbClr val="526763"/>
                </a:solidFill>
                <a:latin typeface="Arial"/>
                <a:ea typeface="Arial"/>
                <a:cs typeface="Arial"/>
              </a:defRPr>
            </a:pPr>
            <a:r>
              <a:rPr sz="1350" b="0">
                <a:solidFill>
                  <a:srgbClr val="526763"/>
                </a:solidFill>
                <a:latin typeface="Arial"/>
                <a:ea typeface="Arial"/>
                <a:cs typeface="Arial"/>
              </a:rPr>
              <a:t>Diese Angebote können sich ergänzen. Zusätzliche CSP-Anbindungen sind projektspezifisch zu prüfen.</a:t>
            </a:r>
          </a:p>
        </p:txBody>
      </p:sp>
    </p:spTree>
    <p:extLst>
      <p:ext uri="{BB962C8B-B14F-4D97-AF65-F5344CB8AC3E}">
        <p14:creationId xmlns:p14="http://schemas.microsoft.com/office/powerpoint/2010/main" val="975330849"/>
      </p:ext>
    </p:extLst>
  </p:cSld>
</p:sld>
</file>

<file path=ppt/slides/slide12.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4FE3EA4-40AC-45C8-B302-09D01FBA4DC0}"/>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VERGLEICH · EIGENBETRIEB</a:t>
            </a:r>
          </a:p>
        </p:txBody>
      </p:sp>
      <p:sp>
        <p:nvSpPr>
          <p:cNvPr id="2" name="slide-title">
            <a:extLst xmlns:a="http://schemas.openxmlformats.org/drawingml/2006/main">
              <a:ext uri="{FF2B5EF4-FFF2-40B4-BE49-F238E27FC236}">
                <a16:creationId xmlns:a16="http://schemas.microsoft.com/office/drawing/2014/main" id="{5045ABCA-C9DF-42C4-A2D6-0271425BF3A0}"/>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Open Source: die engsten Alternativen</a:t>
            </a:r>
          </a:p>
        </p:txBody>
      </p:sp>
      <p:sp>
        <p:nvSpPr>
          <p:cNvPr id="3" name="footer">
            <a:extLst xmlns:a="http://schemas.openxmlformats.org/drawingml/2006/main">
              <a:ext uri="{FF2B5EF4-FFF2-40B4-BE49-F238E27FC236}">
                <a16:creationId xmlns:a16="http://schemas.microsoft.com/office/drawing/2014/main" id="{A9C097E2-5DD0-4A4B-B011-19BAB6EA6C0D}"/>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959F9165-1160-4D2B-ABAD-20AADE0F860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C52B4587-9F55-4591-A837-3874D58835F1}"/>
              </a:ext>
            </a:extLst>
          </p:cNvPr>
          <p:cNvGraphicFramePr/>
          <p:nvPr/>
        </p:nvGraphicFramePr>
        <p:xfrm>
          <a:off xmlns:a="http://schemas.openxmlformats.org/drawingml/2006/main" x="685800" y="1952625"/>
          <a:ext xmlns:a="http://schemas.openxmlformats.org/drawingml/2006/main" cx="10820400" cy="3533775"/>
        </p:xfrm>
        <a:graphic xmlns:a="http://schemas.openxmlformats.org/drawingml/2006/main">
          <a:graphicData uri="http://schemas.openxmlformats.org/drawingml/2006/table">
            <a:tbl>
              <a:tblPr/>
              <a:tblGrid>
                <a:gridCol w="2266950"/>
                <a:gridCol w="4219575"/>
                <a:gridCol w="4333875"/>
              </a:tblGrid>
              <a:tr h="438150">
                <a:tc>
                  <a:txBody>
                    <a:bodyPr wrap="square">
                      <a:noAutofit/>
                    </a:bodyPr>
                    <a:lstStyle/>
                    <a:p>
                      <a:r>
                        <a:rPr sz="1650" b="1">
                          <a:solidFill>
                            <a:srgbClr val="FFFFFF"/>
                          </a:solidFill>
                          <a:latin typeface="Arial"/>
                          <a:ea typeface="Arial"/>
                          <a:cs typeface="Arial"/>
                        </a:rPr>
                        <a:t>Angebot</a:t>
                      </a:r>
                    </a:p>
                  </a:txBody>
                  <a:tcPr marL="133350" marR="133350" marT="38100" marB="381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Stärke / Lizenz</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Wichtige Einordnung</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619125">
                <a:tc>
                  <a:txBody>
                    <a:bodyPr wrap="square">
                      <a:noAutofit/>
                    </a:bodyPr>
                    <a:lstStyle/>
                    <a:p>
                      <a:r>
                        <a:rPr sz="1800" b="1">
                          <a:solidFill>
                            <a:srgbClr val="102A2A"/>
                          </a:solidFill>
                          <a:latin typeface="Arial"/>
                          <a:ea typeface="Arial"/>
                          <a:cs typeface="Arial"/>
                        </a:rPr>
                        <a:t>Zammad</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Ticketzentrierter Helpdesk</a:t>
                      </a:r>
                    </a:p>
                    <a:p>
                      <a:r>
                        <a:rPr sz="1800" b="0">
                          <a:solidFill>
                            <a:srgbClr val="102A2A"/>
                          </a:solidFill>
                          <a:latin typeface="Arial"/>
                          <a:ea typeface="Arial"/>
                          <a:cs typeface="Arial"/>
                        </a:rPr>
                        <a:t>AGPLv3</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Eigene KI-Modelle;</a:t>
                      </a:r>
                    </a:p>
                    <a:p>
                      <a:r>
                        <a:rPr sz="1800" b="0">
                          <a:solidFill>
                            <a:srgbClr val="102A2A"/>
                          </a:solidFill>
                          <a:latin typeface="Arial"/>
                          <a:ea typeface="Arial"/>
                          <a:cs typeface="Arial"/>
                        </a:rPr>
                        <a:t>Support / Cloud optional</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619125">
                <a:tc>
                  <a:txBody>
                    <a:bodyPr wrap="square">
                      <a:noAutofit/>
                    </a:bodyPr>
                    <a:lstStyle/>
                    <a:p>
                      <a:r>
                        <a:rPr sz="1800" b="1">
                          <a:solidFill>
                            <a:srgbClr val="102A2A"/>
                          </a:solidFill>
                          <a:latin typeface="Arial"/>
                          <a:ea typeface="Arial"/>
                          <a:cs typeface="Arial"/>
                        </a:rPr>
                        <a:t>Chatwoot CE</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Shared Inbox, Livechat</a:t>
                      </a:r>
                    </a:p>
                    <a:p>
                      <a:r>
                        <a:rPr sz="1800" b="0">
                          <a:solidFill>
                            <a:srgbClr val="102A2A"/>
                          </a:solidFill>
                          <a:latin typeface="Arial"/>
                          <a:ea typeface="Arial"/>
                          <a:cs typeface="Arial"/>
                        </a:rPr>
                        <a:t>MIT-Community-Code</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Captain erst in bezahlten</a:t>
                      </a:r>
                    </a:p>
                    <a:p>
                      <a:r>
                        <a:rPr sz="1800" b="0">
                          <a:solidFill>
                            <a:srgbClr val="102A2A"/>
                          </a:solidFill>
                          <a:latin typeface="Arial"/>
                          <a:ea typeface="Arial"/>
                          <a:cs typeface="Arial"/>
                        </a:rPr>
                        <a:t>Self-Hosting-Plänen</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r h="619125">
                <a:tc>
                  <a:txBody>
                    <a:bodyPr wrap="square">
                      <a:noAutofit/>
                    </a:bodyPr>
                    <a:lstStyle/>
                    <a:p>
                      <a:r>
                        <a:rPr sz="1800" b="1">
                          <a:solidFill>
                            <a:srgbClr val="102A2A"/>
                          </a:solidFill>
                          <a:latin typeface="Arial"/>
                          <a:ea typeface="Arial"/>
                          <a:cs typeface="Arial"/>
                        </a:rPr>
                        <a:t>FreeScout</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Shared Mailbox / Helpdesk</a:t>
                      </a:r>
                    </a:p>
                    <a:p>
                      <a:r>
                        <a:rPr sz="1800" b="0">
                          <a:solidFill>
                            <a:srgbClr val="102A2A"/>
                          </a:solidFill>
                          <a:latin typeface="Arial"/>
                          <a:ea typeface="Arial"/>
                          <a:cs typeface="Arial"/>
                        </a:rPr>
                        <a:t>AGPL-3.0</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Module per Einmalzahlung;</a:t>
                      </a:r>
                    </a:p>
                    <a:p>
                      <a:r>
                        <a:rPr sz="1800" b="0">
                          <a:solidFill>
                            <a:srgbClr val="102A2A"/>
                          </a:solidFill>
                          <a:latin typeface="Arial"/>
                          <a:ea typeface="Arial"/>
                          <a:cs typeface="Arial"/>
                        </a:rPr>
                        <a:t>KI-Assistenzmodul gratis</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619125">
                <a:tc>
                  <a:txBody>
                    <a:bodyPr wrap="square">
                      <a:noAutofit/>
                    </a:bodyPr>
                    <a:lstStyle/>
                    <a:p>
                      <a:r>
                        <a:rPr sz="1800" b="1">
                          <a:solidFill>
                            <a:srgbClr val="102A2A"/>
                          </a:solidFill>
                          <a:latin typeface="Arial"/>
                          <a:ea typeface="Arial"/>
                          <a:cs typeface="Arial"/>
                        </a:rPr>
                        <a:t>GLPI</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ITSM und Asset / CMDB</a:t>
                      </a:r>
                    </a:p>
                    <a:p>
                      <a:r>
                        <a:rPr sz="1800" b="0">
                          <a:solidFill>
                            <a:srgbClr val="102A2A"/>
                          </a:solidFill>
                          <a:latin typeface="Arial"/>
                          <a:ea typeface="Arial"/>
                          <a:cs typeface="Arial"/>
                        </a:rPr>
                        <a:t>GPL-3.0-or-later</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Freier Eigenbetrieb;</a:t>
                      </a:r>
                    </a:p>
                    <a:p>
                      <a:r>
                        <a:rPr sz="1800" b="0">
                          <a:solidFill>
                            <a:srgbClr val="102A2A"/>
                          </a:solidFill>
                          <a:latin typeface="Arial"/>
                          <a:ea typeface="Arial"/>
                          <a:cs typeface="Arial"/>
                        </a:rPr>
                        <a:t>Network / Cloud optional</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r h="619125">
                <a:tc>
                  <a:txBody>
                    <a:bodyPr wrap="square">
                      <a:noAutofit/>
                    </a:bodyPr>
                    <a:lstStyle/>
                    <a:p>
                      <a:r>
                        <a:rPr sz="1800" b="1">
                          <a:solidFill>
                            <a:srgbClr val="102A2A"/>
                          </a:solidFill>
                          <a:latin typeface="Arial"/>
                          <a:ea typeface="Arial"/>
                          <a:cs typeface="Arial"/>
                        </a:rPr>
                        <a:t>CSP</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E9F3CB"/>
                    </a:solidFill>
                  </a:tcPr>
                </a:tc>
                <a:tc>
                  <a:txBody>
                    <a:bodyPr wrap="square">
                      <a:noAutofit/>
                    </a:bodyPr>
                    <a:lstStyle/>
                    <a:p>
                      <a:r>
                        <a:rPr sz="1800" b="0">
                          <a:solidFill>
                            <a:srgbClr val="102A2A"/>
                          </a:solidFill>
                          <a:latin typeface="Arial"/>
                          <a:ea typeface="Arial"/>
                          <a:cs typeface="Arial"/>
                        </a:rPr>
                        <a:t>Servicequellen-Portal</a:t>
                      </a:r>
                    </a:p>
                    <a:p>
                      <a:r>
                        <a:rPr sz="1800" b="0">
                          <a:solidFill>
                            <a:srgbClr val="102A2A"/>
                          </a:solidFill>
                          <a:latin typeface="Arial"/>
                          <a:ea typeface="Arial"/>
                          <a:cs typeface="Arial"/>
                        </a:rPr>
                        <a:t>MIT-Code, eigene Skills</a:t>
                      </a:r>
                    </a:p>
                  </a:txBody>
                  <a:tcPr marL="133350" marR="133350" marT="38100" marB="38100" anchor="ctr">
                    <a:lnR w="9525">
                      <a:solidFill>
                        <a:srgbClr val="DBE5DF"/>
                      </a:solidFill>
                      <a:prstDash val="solid"/>
                    </a:lnR>
                    <a:lnB w="9525">
                      <a:solidFill>
                        <a:srgbClr val="DBE5DF"/>
                      </a:solidFill>
                      <a:prstDash val="solid"/>
                    </a:lnB>
                    <a:solidFill>
                      <a:srgbClr val="E9F3CB"/>
                    </a:solidFill>
                  </a:tcPr>
                </a:tc>
                <a:tc>
                  <a:txBody>
                    <a:bodyPr wrap="square">
                      <a:noAutofit/>
                    </a:bodyPr>
                    <a:lstStyle/>
                    <a:p>
                      <a:r>
                        <a:rPr sz="1800" b="0">
                          <a:solidFill>
                            <a:srgbClr val="102A2A"/>
                          </a:solidFill>
                          <a:latin typeface="Arial"/>
                          <a:ea typeface="Arial"/>
                          <a:cs typeface="Arial"/>
                        </a:rPr>
                        <a:t>Status, Bereitschaft und</a:t>
                      </a:r>
                    </a:p>
                    <a:p>
                      <a:r>
                        <a:rPr sz="1800" b="0">
                          <a:solidFill>
                            <a:srgbClr val="102A2A"/>
                          </a:solidFill>
                          <a:latin typeface="Arial"/>
                          <a:ea typeface="Arial"/>
                          <a:cs typeface="Arial"/>
                        </a:rPr>
                        <a:t>Übergabe im Projekt</a:t>
                      </a:r>
                    </a:p>
                  </a:txBody>
                  <a:tcPr marL="133350" marR="133350" marT="38100" marB="38100" anchor="ctr">
                    <a:lnR w="9525">
                      <a:solidFill>
                        <a:srgbClr val="DBE5DF"/>
                      </a:solidFill>
                      <a:prstDash val="solid"/>
                    </a:lnR>
                    <a:lnB w="9525">
                      <a:solidFill>
                        <a:srgbClr val="DBE5DF"/>
                      </a:solidFill>
                      <a:prstDash val="solid"/>
                    </a:lnB>
                    <a:solidFill>
                      <a:srgbClr val="E9F3CB"/>
                    </a:solidFill>
                  </a:tcPr>
                </a:tc>
              </a:tr>
            </a:tbl>
          </a:graphicData>
        </a:graphic>
      </p:graphicFrame>
      <p:sp>
        <p:nvSpPr>
          <p:cNvPr id="6" name="body">
            <a:extLst xmlns:a="http://schemas.openxmlformats.org/drawingml/2006/main">
              <a:ext uri="{FF2B5EF4-FFF2-40B4-BE49-F238E27FC236}">
                <a16:creationId xmlns:a16="http://schemas.microsoft.com/office/drawing/2014/main" id="{1939FC41-4124-415E-B5C3-1B08DCE56519}"/>
              </a:ext>
            </a:extLst>
          </p:cNvPr>
          <p:cNvSpPr>
            <a:spLocks xmlns:a="http://schemas.openxmlformats.org/drawingml/2006/main" noGrp="1"/>
          </p:cNvSpPr>
          <p:nvPr/>
        </p:nvSpPr>
        <p:spPr>
          <a:xfrm xmlns:a="http://schemas.openxmlformats.org/drawingml/2006/main">
            <a:off x="685800" y="58959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63"/>
                </a:solidFill>
                <a:latin typeface="Arial"/>
                <a:ea typeface="Arial"/>
                <a:cs typeface="Arial"/>
              </a:defRPr>
            </a:defPPr>
          </a:lstStyle>
          <a:p xmlns:a="http://schemas.openxmlformats.org/drawingml/2006/main">
            <a:pPr>
              <a:defRPr sz="1350" b="0">
                <a:solidFill>
                  <a:srgbClr val="526763"/>
                </a:solidFill>
                <a:latin typeface="Arial"/>
                <a:ea typeface="Arial"/>
                <a:cs typeface="Arial"/>
              </a:defRPr>
            </a:pPr>
            <a:r>
              <a:rPr sz="1350" b="0">
                <a:solidFill>
                  <a:srgbClr val="526763"/>
                </a:solidFill>
                <a:latin typeface="Arial"/>
                <a:ea typeface="Arial"/>
                <a:cs typeface="Arial"/>
              </a:rPr>
              <a:t>CSP verkauft die Einrichtung und Befähigung des Kundenteams. Eigenbetrieb braucht Wartung.</a:t>
            </a:r>
          </a:p>
        </p:txBody>
      </p:sp>
    </p:spTree>
    <p:extLst>
      <p:ext uri="{BB962C8B-B14F-4D97-AF65-F5344CB8AC3E}">
        <p14:creationId xmlns:p14="http://schemas.microsoft.com/office/powerpoint/2010/main" val="326142092"/>
      </p:ext>
    </p:extLst>
  </p:cSld>
</p:sld>
</file>

<file path=ppt/slides/slide13.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1817CED3-11A9-4B95-A97E-AD29645246D1}"/>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defRPr sz="1275" b="1">
                <a:solidFill>
                  <a:srgbClr val="D5F36B"/>
                </a:solidFill>
                <a:latin typeface="Arial"/>
                <a:ea typeface="Arial"/>
                <a:cs typeface="Arial"/>
              </a:defRPr>
            </a:pPr>
            <a:r>
              <a:rPr sz="1275" b="1">
                <a:solidFill>
                  <a:srgbClr val="D5F36B"/>
                </a:solidFill>
                <a:latin typeface="Arial"/>
                <a:ea typeface="Arial"/>
                <a:cs typeface="Arial"/>
              </a:rPr>
              <a:t>CSP-POSITIONIERUNG</a:t>
            </a:r>
          </a:p>
        </p:txBody>
      </p:sp>
      <p:sp>
        <p:nvSpPr>
          <p:cNvPr id="2" name="slide-title">
            <a:extLst xmlns:a="http://schemas.openxmlformats.org/drawingml/2006/main">
              <a:ext uri="{FF2B5EF4-FFF2-40B4-BE49-F238E27FC236}">
                <a16:creationId xmlns:a16="http://schemas.microsoft.com/office/drawing/2014/main" id="{967A5CD7-FA76-4634-9A74-DDDA1CB58FFB}"/>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defRPr sz="3600" b="1">
                <a:solidFill>
                  <a:srgbClr val="F7FAF9"/>
                </a:solidFill>
                <a:latin typeface="Arial"/>
                <a:ea typeface="Arial"/>
                <a:cs typeface="Arial"/>
              </a:defRPr>
            </a:pPr>
            <a:r>
              <a:rPr sz="3600" b="1">
                <a:solidFill>
                  <a:srgbClr val="F7FAF9"/>
                </a:solidFill>
                <a:latin typeface="Arial"/>
                <a:ea typeface="Arial"/>
                <a:cs typeface="Arial"/>
              </a:rPr>
              <a:t>Unser USP ist das Gesamtpaket</a:t>
            </a:r>
          </a:p>
        </p:txBody>
      </p:sp>
      <p:sp>
        <p:nvSpPr>
          <p:cNvPr id="3" name="footer">
            <a:extLst xmlns:a="http://schemas.openxmlformats.org/drawingml/2006/main">
              <a:ext uri="{FF2B5EF4-FFF2-40B4-BE49-F238E27FC236}">
                <a16:creationId xmlns:a16="http://schemas.microsoft.com/office/drawing/2014/main" id="{4529DB2C-6460-4F77-BF4B-386794B151BB}"/>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65378771-A1F0-401D-B047-721407919763}"/>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defRPr sz="1125" b="0">
                <a:solidFill>
                  <a:srgbClr val="BBCFC7"/>
                </a:solidFill>
                <a:latin typeface="Arial"/>
                <a:ea typeface="Arial"/>
                <a:cs typeface="Arial"/>
              </a:defRPr>
            </a:pPr>
            <a:r>
              <a:rPr sz="1125" b="0">
                <a:solidFill>
                  <a:srgbClr val="BBCFC7"/>
                </a:solidFill>
                <a:latin typeface="Arial"/>
                <a:ea typeface="Arial"/>
                <a:cs typeface="Arial"/>
              </a:rPr>
              <a:t>13</a:t>
            </a:r>
          </a:p>
        </p:txBody>
      </p:sp>
      <p:sp>
        <p:nvSpPr>
          <p:cNvPr id="5" name="body">
            <a:extLst xmlns:a="http://schemas.openxmlformats.org/drawingml/2006/main">
              <a:ext uri="{FF2B5EF4-FFF2-40B4-BE49-F238E27FC236}">
                <a16:creationId xmlns:a16="http://schemas.microsoft.com/office/drawing/2014/main" id="{1CA95D34-8BD6-4111-ABB5-6812466B6ED1}"/>
              </a:ext>
            </a:extLst>
          </p:cNvPr>
          <p:cNvSpPr>
            <a:spLocks xmlns:a="http://schemas.openxmlformats.org/drawingml/2006/main" noGrp="1"/>
          </p:cNvSpPr>
          <p:nvPr/>
        </p:nvSpPr>
        <p:spPr>
          <a:xfrm xmlns:a="http://schemas.openxmlformats.org/drawingml/2006/main">
            <a:off x="685800" y="2114550"/>
            <a:ext cx="10820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7FAF9"/>
                </a:solidFill>
                <a:latin typeface="Arial"/>
                <a:ea typeface="Arial"/>
                <a:cs typeface="Arial"/>
              </a:defRPr>
            </a:defPPr>
          </a:lstStyle>
          <a:p xmlns:a="http://schemas.openxmlformats.org/drawingml/2006/main">
            <a:pPr>
              <a:defRPr sz="3900" b="1">
                <a:solidFill>
                  <a:srgbClr val="F7FAF9"/>
                </a:solidFill>
                <a:latin typeface="Arial"/>
                <a:ea typeface="Arial"/>
                <a:cs typeface="Arial"/>
              </a:defRPr>
            </a:pPr>
            <a:r>
              <a:rPr sz="3900" b="1">
                <a:solidFill>
                  <a:srgbClr val="F7FAF9"/>
                </a:solidFill>
                <a:latin typeface="Arial"/>
                <a:ea typeface="Arial"/>
                <a:cs typeface="Arial"/>
              </a:rPr>
              <a:t>Ihr Portal. Ihre Servicequellen.</a:t>
            </a:r>
          </a:p>
          <a:p xmlns:a="http://schemas.openxmlformats.org/drawingml/2006/main">
            <a:pPr>
              <a:defRPr sz="3900" b="1">
                <a:solidFill>
                  <a:srgbClr val="F7FAF9"/>
                </a:solidFill>
                <a:latin typeface="Arial"/>
                <a:ea typeface="Arial"/>
                <a:cs typeface="Arial"/>
              </a:defRPr>
            </a:pPr>
            <a:r>
              <a:rPr sz="3900" b="1">
                <a:solidFill>
                  <a:srgbClr val="F7FAF9"/>
                </a:solidFill>
                <a:latin typeface="Arial"/>
                <a:ea typeface="Arial"/>
                <a:cs typeface="Arial"/>
              </a:rPr>
              <a:t>Ihr Team entwickelt weiter.</a:t>
            </a:r>
          </a:p>
        </p:txBody>
      </p:sp>
      <p:sp>
        <p:nvSpPr>
          <p:cNvPr id="6" name="body">
            <a:extLst xmlns:a="http://schemas.openxmlformats.org/drawingml/2006/main">
              <a:ext uri="{FF2B5EF4-FFF2-40B4-BE49-F238E27FC236}">
                <a16:creationId xmlns:a16="http://schemas.microsoft.com/office/drawing/2014/main" id="{43A873D4-6D47-44AF-AD24-48074948C031}"/>
              </a:ext>
            </a:extLst>
          </p:cNvPr>
          <p:cNvSpPr>
            <a:spLocks xmlns:a="http://schemas.openxmlformats.org/drawingml/2006/main" noGrp="1"/>
          </p:cNvSpPr>
          <p:nvPr/>
        </p:nvSpPr>
        <p:spPr>
          <a:xfrm xmlns:a="http://schemas.openxmlformats.org/drawingml/2006/main">
            <a:off x="685800" y="3714750"/>
            <a:ext cx="3495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D5F36B"/>
                </a:solidFill>
                <a:latin typeface="Arial"/>
                <a:ea typeface="Arial"/>
                <a:cs typeface="Arial"/>
              </a:defRPr>
            </a:defPPr>
          </a:lstStyle>
          <a:p xmlns:a="http://schemas.openxmlformats.org/drawingml/2006/main">
            <a:pPr>
              <a:defRPr sz="2175" b="1">
                <a:solidFill>
                  <a:srgbClr val="D5F36B"/>
                </a:solidFill>
                <a:latin typeface="Arial"/>
                <a:ea typeface="Arial"/>
                <a:cs typeface="Arial"/>
              </a:defRPr>
            </a:pPr>
            <a:r>
              <a:rPr sz="2175" b="1">
                <a:solidFill>
                  <a:srgbClr val="D5F36B"/>
                </a:solidFill>
                <a:latin typeface="Arial"/>
                <a:ea typeface="Arial"/>
                <a:cs typeface="Arial"/>
              </a:rPr>
              <a:t>MIT-Produktcode</a:t>
            </a:r>
          </a:p>
        </p:txBody>
      </p:sp>
      <p:sp>
        <p:nvSpPr>
          <p:cNvPr id="7" name="body">
            <a:extLst xmlns:a="http://schemas.openxmlformats.org/drawingml/2006/main">
              <a:ext uri="{FF2B5EF4-FFF2-40B4-BE49-F238E27FC236}">
                <a16:creationId xmlns:a16="http://schemas.microsoft.com/office/drawing/2014/main" id="{E0693B13-0640-4D95-8DD9-EE2CD23BB078}"/>
              </a:ext>
            </a:extLst>
          </p:cNvPr>
          <p:cNvSpPr>
            <a:spLocks xmlns:a="http://schemas.openxmlformats.org/drawingml/2006/main" noGrp="1"/>
          </p:cNvSpPr>
          <p:nvPr/>
        </p:nvSpPr>
        <p:spPr>
          <a:xfrm xmlns:a="http://schemas.openxmlformats.org/drawingml/2006/main">
            <a:off x="4267200" y="3733800"/>
            <a:ext cx="723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7FAF9"/>
                </a:solidFill>
                <a:latin typeface="Arial"/>
                <a:ea typeface="Arial"/>
                <a:cs typeface="Arial"/>
              </a:defRPr>
            </a:defPPr>
          </a:lstStyle>
          <a:p xmlns:a="http://schemas.openxmlformats.org/drawingml/2006/main">
            <a:pPr>
              <a:defRPr sz="1950" b="0">
                <a:solidFill>
                  <a:srgbClr val="F7FAF9"/>
                </a:solidFill>
                <a:latin typeface="Arial"/>
                <a:ea typeface="Arial"/>
                <a:cs typeface="Arial"/>
              </a:defRPr>
            </a:pPr>
            <a:r>
              <a:rPr sz="1950" b="0">
                <a:solidFill>
                  <a:srgbClr val="F7FAF9"/>
                </a:solidFill>
                <a:latin typeface="Arial"/>
                <a:ea typeface="Arial"/>
                <a:cs typeface="Arial"/>
              </a:rPr>
              <a:t>Eigene Änderungen mit Plugin-SDK und gemeinsamer UI.</a:t>
            </a:r>
          </a:p>
        </p:txBody>
      </p:sp>
      <p:sp>
        <p:nvSpPr>
          <p:cNvPr id="8" name="body">
            <a:extLst xmlns:a="http://schemas.openxmlformats.org/drawingml/2006/main">
              <a:ext uri="{FF2B5EF4-FFF2-40B4-BE49-F238E27FC236}">
                <a16:creationId xmlns:a16="http://schemas.microsoft.com/office/drawing/2014/main" id="{53E1CA61-ED92-40F2-9CE1-A39BE692465B}"/>
              </a:ext>
            </a:extLst>
          </p:cNvPr>
          <p:cNvSpPr>
            <a:spLocks xmlns:a="http://schemas.openxmlformats.org/drawingml/2006/main" noGrp="1"/>
          </p:cNvSpPr>
          <p:nvPr/>
        </p:nvSpPr>
        <p:spPr>
          <a:xfrm xmlns:a="http://schemas.openxmlformats.org/drawingml/2006/main">
            <a:off x="685800" y="4410075"/>
            <a:ext cx="3495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D5F36B"/>
                </a:solidFill>
                <a:latin typeface="Arial"/>
                <a:ea typeface="Arial"/>
                <a:cs typeface="Arial"/>
              </a:defRPr>
            </a:defPPr>
          </a:lstStyle>
          <a:p xmlns:a="http://schemas.openxmlformats.org/drawingml/2006/main">
            <a:pPr>
              <a:defRPr sz="2175" b="1">
                <a:solidFill>
                  <a:srgbClr val="D5F36B"/>
                </a:solidFill>
                <a:latin typeface="Arial"/>
                <a:ea typeface="Arial"/>
                <a:cs typeface="Arial"/>
              </a:defRPr>
            </a:pPr>
            <a:r>
              <a:rPr sz="2175" b="1">
                <a:solidFill>
                  <a:srgbClr val="D5F36B"/>
                </a:solidFill>
                <a:latin typeface="Arial"/>
                <a:ea typeface="Arial"/>
                <a:cs typeface="Arial"/>
              </a:rPr>
              <a:t>Integration im Projekt</a:t>
            </a:r>
          </a:p>
        </p:txBody>
      </p:sp>
      <p:sp>
        <p:nvSpPr>
          <p:cNvPr id="9" name="body">
            <a:extLst xmlns:a="http://schemas.openxmlformats.org/drawingml/2006/main">
              <a:ext uri="{FF2B5EF4-FFF2-40B4-BE49-F238E27FC236}">
                <a16:creationId xmlns:a16="http://schemas.microsoft.com/office/drawing/2014/main" id="{EBB6FE1B-A06A-4FF1-9A57-98380604E9BD}"/>
              </a:ext>
            </a:extLst>
          </p:cNvPr>
          <p:cNvSpPr>
            <a:spLocks xmlns:a="http://schemas.openxmlformats.org/drawingml/2006/main" noGrp="1"/>
          </p:cNvSpPr>
          <p:nvPr/>
        </p:nvSpPr>
        <p:spPr>
          <a:xfrm xmlns:a="http://schemas.openxmlformats.org/drawingml/2006/main">
            <a:off x="4267200" y="4429125"/>
            <a:ext cx="723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7FAF9"/>
                </a:solidFill>
                <a:latin typeface="Arial"/>
                <a:ea typeface="Arial"/>
                <a:cs typeface="Arial"/>
              </a:defRPr>
            </a:defPPr>
          </a:lstStyle>
          <a:p xmlns:a="http://schemas.openxmlformats.org/drawingml/2006/main">
            <a:pPr>
              <a:defRPr sz="1950" b="0">
                <a:solidFill>
                  <a:srgbClr val="F7FAF9"/>
                </a:solidFill>
                <a:latin typeface="Arial"/>
                <a:ea typeface="Arial"/>
                <a:cs typeface="Arial"/>
              </a:defRPr>
            </a:pPr>
            <a:r>
              <a:rPr sz="1950" b="0">
                <a:solidFill>
                  <a:srgbClr val="F7FAF9"/>
                </a:solidFill>
                <a:latin typeface="Arial"/>
                <a:ea typeface="Arial"/>
                <a:cs typeface="Arial"/>
              </a:rPr>
              <a:t>Status, Bereitschaft, Wissen und Supportzugänge bündeln.</a:t>
            </a:r>
          </a:p>
        </p:txBody>
      </p:sp>
      <p:sp>
        <p:nvSpPr>
          <p:cNvPr id="10" name="body">
            <a:extLst xmlns:a="http://schemas.openxmlformats.org/drawingml/2006/main">
              <a:ext uri="{FF2B5EF4-FFF2-40B4-BE49-F238E27FC236}">
                <a16:creationId xmlns:a16="http://schemas.microsoft.com/office/drawing/2014/main" id="{E009CDF7-6C7D-45E3-B001-DE5A1797C2B5}"/>
              </a:ext>
            </a:extLst>
          </p:cNvPr>
          <p:cNvSpPr>
            <a:spLocks xmlns:a="http://schemas.openxmlformats.org/drawingml/2006/main" noGrp="1"/>
          </p:cNvSpPr>
          <p:nvPr/>
        </p:nvSpPr>
        <p:spPr>
          <a:xfrm xmlns:a="http://schemas.openxmlformats.org/drawingml/2006/main">
            <a:off x="685800" y="5105400"/>
            <a:ext cx="3495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D5F36B"/>
                </a:solidFill>
                <a:latin typeface="Arial"/>
                <a:ea typeface="Arial"/>
                <a:cs typeface="Arial"/>
              </a:defRPr>
            </a:defPPr>
          </a:lstStyle>
          <a:p xmlns:a="http://schemas.openxmlformats.org/drawingml/2006/main">
            <a:pPr>
              <a:defRPr sz="2175" b="1">
                <a:solidFill>
                  <a:srgbClr val="D5F36B"/>
                </a:solidFill>
                <a:latin typeface="Arial"/>
                <a:ea typeface="Arial"/>
                <a:cs typeface="Arial"/>
              </a:defRPr>
            </a:pPr>
            <a:r>
              <a:rPr sz="2175" b="1">
                <a:solidFill>
                  <a:srgbClr val="D5F36B"/>
                </a:solidFill>
                <a:latin typeface="Arial"/>
                <a:ea typeface="Arial"/>
                <a:cs typeface="Arial"/>
              </a:rPr>
              <a:t>Übergabe mit Skills</a:t>
            </a:r>
          </a:p>
        </p:txBody>
      </p:sp>
      <p:sp>
        <p:nvSpPr>
          <p:cNvPr id="11" name="body">
            <a:extLst xmlns:a="http://schemas.openxmlformats.org/drawingml/2006/main">
              <a:ext uri="{FF2B5EF4-FFF2-40B4-BE49-F238E27FC236}">
                <a16:creationId xmlns:a16="http://schemas.microsoft.com/office/drawing/2014/main" id="{E61E3AD5-5160-46FE-97BB-3F7D0E95DC67}"/>
              </a:ext>
            </a:extLst>
          </p:cNvPr>
          <p:cNvSpPr>
            <a:spLocks xmlns:a="http://schemas.openxmlformats.org/drawingml/2006/main" noGrp="1"/>
          </p:cNvSpPr>
          <p:nvPr/>
        </p:nvSpPr>
        <p:spPr>
          <a:xfrm xmlns:a="http://schemas.openxmlformats.org/drawingml/2006/main">
            <a:off x="4267200" y="5124450"/>
            <a:ext cx="723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7FAF9"/>
                </a:solidFill>
                <a:latin typeface="Arial"/>
                <a:ea typeface="Arial"/>
                <a:cs typeface="Arial"/>
              </a:defRPr>
            </a:defPPr>
          </a:lstStyle>
          <a:p xmlns:a="http://schemas.openxmlformats.org/drawingml/2006/main">
            <a:pPr>
              <a:defRPr sz="1950" b="0">
                <a:solidFill>
                  <a:srgbClr val="F7FAF9"/>
                </a:solidFill>
                <a:latin typeface="Arial"/>
                <a:ea typeface="Arial"/>
                <a:cs typeface="Arial"/>
              </a:defRPr>
            </a:pPr>
            <a:r>
              <a:rPr sz="1950" b="0">
                <a:solidFill>
                  <a:srgbClr val="F7FAF9"/>
                </a:solidFill>
                <a:latin typeface="Arial"/>
                <a:ea typeface="Arial"/>
                <a:cs typeface="Arial"/>
              </a:rPr>
              <a:t>Ihr Team bekommt Code und dokumentierte Arbeitsabläufe.</a:t>
            </a:r>
          </a:p>
        </p:txBody>
      </p:sp>
      <p:sp>
        <p:nvSpPr>
          <p:cNvPr id="12" name="body">
            <a:extLst xmlns:a="http://schemas.openxmlformats.org/drawingml/2006/main">
              <a:ext uri="{FF2B5EF4-FFF2-40B4-BE49-F238E27FC236}">
                <a16:creationId xmlns:a16="http://schemas.microsoft.com/office/drawing/2014/main" id="{3BE1EC91-66B3-4946-A124-D2E0BBC1C6B3}"/>
              </a:ext>
            </a:extLst>
          </p:cNvPr>
          <p:cNvSpPr>
            <a:spLocks xmlns:a="http://schemas.openxmlformats.org/drawingml/2006/main" noGrp="1"/>
          </p:cNvSpPr>
          <p:nvPr/>
        </p:nvSpPr>
        <p:spPr>
          <a:xfrm xmlns:a="http://schemas.openxmlformats.org/drawingml/2006/main">
            <a:off x="685800" y="59150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BCFC7"/>
                </a:solidFill>
                <a:latin typeface="Arial"/>
                <a:ea typeface="Arial"/>
                <a:cs typeface="Arial"/>
              </a:defRPr>
            </a:defPPr>
          </a:lstStyle>
          <a:p xmlns:a="http://schemas.openxmlformats.org/drawingml/2006/main">
            <a:pPr>
              <a:defRPr sz="1725" b="0">
                <a:solidFill>
                  <a:srgbClr val="BBCFC7"/>
                </a:solidFill>
                <a:latin typeface="Arial"/>
                <a:ea typeface="Arial"/>
                <a:cs typeface="Arial"/>
              </a:defRPr>
            </a:pPr>
            <a:r>
              <a:rPr sz="1725" b="0">
                <a:solidFill>
                  <a:srgbClr val="BBCFC7"/>
                </a:solidFill>
                <a:latin typeface="Arial"/>
                <a:ea typeface="Arial"/>
                <a:cs typeface="Arial"/>
              </a:rPr>
              <a:t>Kein verpflichtendes CSP-Abo. Betrieb und Fremdkosten bleiben separat.</a:t>
            </a:r>
          </a:p>
        </p:txBody>
      </p:sp>
    </p:spTree>
    <p:extLst>
      <p:ext uri="{BB962C8B-B14F-4D97-AF65-F5344CB8AC3E}">
        <p14:creationId xmlns:p14="http://schemas.microsoft.com/office/powerpoint/2010/main" val="1124935380"/>
      </p:ext>
    </p:extLst>
  </p:cSld>
</p:sld>
</file>

<file path=ppt/slides/slide14.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4BE53F7A-5C25-48B9-A9F7-EBEBD5E8C15F}"/>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KAUFENTSCHEIDUNG</a:t>
            </a:r>
          </a:p>
        </p:txBody>
      </p:sp>
      <p:sp>
        <p:nvSpPr>
          <p:cNvPr id="2" name="slide-title">
            <a:extLst xmlns:a="http://schemas.openxmlformats.org/drawingml/2006/main">
              <a:ext uri="{FF2B5EF4-FFF2-40B4-BE49-F238E27FC236}">
                <a16:creationId xmlns:a16="http://schemas.microsoft.com/office/drawing/2014/main" id="{54384A48-8F68-44E4-AB03-ECBA311534F6}"/>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Wann CSP die passende Wahl ist</a:t>
            </a:r>
          </a:p>
        </p:txBody>
      </p:sp>
      <p:sp>
        <p:nvSpPr>
          <p:cNvPr id="3" name="footer">
            <a:extLst xmlns:a="http://schemas.openxmlformats.org/drawingml/2006/main">
              <a:ext uri="{FF2B5EF4-FFF2-40B4-BE49-F238E27FC236}">
                <a16:creationId xmlns:a16="http://schemas.microsoft.com/office/drawing/2014/main" id="{4FD5DDA3-7978-4BEB-8222-897940CCBCC7}"/>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D280AF3B-683B-4BED-ACB2-C25D2092C79D}"/>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14</a:t>
            </a:r>
          </a:p>
        </p:txBody>
      </p:sp>
      <p:sp>
        <p:nvSpPr>
          <p:cNvPr id="5" name="body">
            <a:extLst xmlns:a="http://schemas.openxmlformats.org/drawingml/2006/main">
              <a:ext uri="{FF2B5EF4-FFF2-40B4-BE49-F238E27FC236}">
                <a16:creationId xmlns:a16="http://schemas.microsoft.com/office/drawing/2014/main" id="{6BC51529-B64A-4E96-87B7-A9DDBF862DBE}"/>
              </a:ext>
            </a:extLst>
          </p:cNvPr>
          <p:cNvSpPr>
            <a:spLocks xmlns:a="http://schemas.openxmlformats.org/drawingml/2006/main" noGrp="1"/>
          </p:cNvSpPr>
          <p:nvPr/>
        </p:nvSpPr>
        <p:spPr>
          <a:xfrm xmlns:a="http://schemas.openxmlformats.org/drawingml/2006/main">
            <a:off x="685800" y="217170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6B64"/>
                </a:solidFill>
                <a:latin typeface="Arial"/>
                <a:ea typeface="Arial"/>
                <a:cs typeface="Arial"/>
              </a:defRPr>
            </a:defPPr>
          </a:lstStyle>
          <a:p xmlns:a="http://schemas.openxmlformats.org/drawingml/2006/main">
            <a:pPr>
              <a:defRPr sz="2475" b="1">
                <a:solidFill>
                  <a:srgbClr val="006B64"/>
                </a:solidFill>
                <a:latin typeface="Arial"/>
                <a:ea typeface="Arial"/>
                <a:cs typeface="Arial"/>
              </a:defRPr>
            </a:pPr>
            <a:r>
              <a:rPr sz="2475" b="1">
                <a:solidFill>
                  <a:srgbClr val="006B64"/>
                </a:solidFill>
                <a:latin typeface="Arial"/>
                <a:ea typeface="Arial"/>
                <a:cs typeface="Arial"/>
              </a:rPr>
              <a:t>CSP passt, wenn …</a:t>
            </a:r>
          </a:p>
        </p:txBody>
      </p:sp>
      <p:sp>
        <p:nvSpPr>
          <p:cNvPr id="6" name="body">
            <a:extLst xmlns:a="http://schemas.openxmlformats.org/drawingml/2006/main">
              <a:ext uri="{FF2B5EF4-FFF2-40B4-BE49-F238E27FC236}">
                <a16:creationId xmlns:a16="http://schemas.microsoft.com/office/drawing/2014/main" id="{2A5F57AF-0F0C-43C2-9A46-13C2291048E3}"/>
              </a:ext>
            </a:extLst>
          </p:cNvPr>
          <p:cNvSpPr>
            <a:spLocks xmlns:a="http://schemas.openxmlformats.org/drawingml/2006/main" noGrp="1"/>
          </p:cNvSpPr>
          <p:nvPr/>
        </p:nvSpPr>
        <p:spPr>
          <a:xfrm xmlns:a="http://schemas.openxmlformats.org/drawingml/2006/main">
            <a:off x="6572250" y="217170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6B64"/>
                </a:solidFill>
                <a:latin typeface="Arial"/>
                <a:ea typeface="Arial"/>
                <a:cs typeface="Arial"/>
              </a:defRPr>
            </a:defPPr>
          </a:lstStyle>
          <a:p xmlns:a="http://schemas.openxmlformats.org/drawingml/2006/main">
            <a:pPr>
              <a:defRPr sz="2475" b="1">
                <a:solidFill>
                  <a:srgbClr val="006B64"/>
                </a:solidFill>
                <a:latin typeface="Arial"/>
                <a:ea typeface="Arial"/>
                <a:cs typeface="Arial"/>
              </a:defRPr>
            </a:pPr>
            <a:r>
              <a:rPr sz="2475" b="1">
                <a:solidFill>
                  <a:srgbClr val="006B64"/>
                </a:solidFill>
                <a:latin typeface="Arial"/>
                <a:ea typeface="Arial"/>
                <a:cs typeface="Arial"/>
              </a:rPr>
              <a:t>Eine Suite passt, wenn …</a:t>
            </a:r>
          </a:p>
        </p:txBody>
      </p:sp>
      <p:sp>
        <p:nvSpPr>
          <p:cNvPr id="7" name="body">
            <a:extLst xmlns:a="http://schemas.openxmlformats.org/drawingml/2006/main">
              <a:ext uri="{FF2B5EF4-FFF2-40B4-BE49-F238E27FC236}">
                <a16:creationId xmlns:a16="http://schemas.microsoft.com/office/drawing/2014/main" id="{D9E3F587-4EAB-4838-AA5F-513A34F7BBE7}"/>
              </a:ext>
            </a:extLst>
          </p:cNvPr>
          <p:cNvSpPr>
            <a:spLocks xmlns:a="http://schemas.openxmlformats.org/drawingml/2006/main" noGrp="1"/>
          </p:cNvSpPr>
          <p:nvPr/>
        </p:nvSpPr>
        <p:spPr>
          <a:xfrm xmlns:a="http://schemas.openxmlformats.org/drawingml/2006/main">
            <a:off x="685800" y="2838450"/>
            <a:ext cx="5048250"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02A2A"/>
                </a:solidFill>
                <a:latin typeface="Arial"/>
                <a:ea typeface="Arial"/>
                <a:cs typeface="Arial"/>
              </a:defRPr>
            </a:defPPr>
          </a:lstStyle>
          <a:p xmlns:a="http://schemas.openxmlformats.org/drawingml/2006/main">
            <a:pPr>
              <a:defRPr sz="2175" b="0">
                <a:solidFill>
                  <a:srgbClr val="102A2A"/>
                </a:solidFill>
                <a:latin typeface="Arial"/>
                <a:ea typeface="Arial"/>
                <a:cs typeface="Arial"/>
              </a:defRPr>
            </a:pPr>
            <a:r>
              <a:rPr sz="2175" b="0">
                <a:solidFill>
                  <a:srgbClr val="102A2A"/>
                </a:solidFill>
                <a:latin typeface="Arial"/>
                <a:ea typeface="Arial"/>
                <a:cs typeface="Arial"/>
              </a:rPr>
              <a:t>Servicequellen bereits vorhanden sind.</a:t>
            </a:r>
          </a:p>
          <a:p xmlns:a="http://schemas.openxmlformats.org/drawingml/2006/main">
            <a:pPr>
              <a:defRPr sz="2175" b="0">
                <a:solidFill>
                  <a:srgbClr val="102A2A"/>
                </a:solidFill>
                <a:latin typeface="Arial"/>
                <a:ea typeface="Arial"/>
                <a:cs typeface="Arial"/>
              </a:defRPr>
            </a:pPr>
            <a:r>
              <a:rPr sz="2175" b="0">
                <a:solidFill>
                  <a:srgbClr val="102A2A"/>
                </a:solidFill>
                <a:latin typeface="Arial"/>
                <a:ea typeface="Arial"/>
                <a:cs typeface="Arial"/>
              </a:rPr>
              <a:t>Ein eigener Kundeneinstieg fehlt.</a:t>
            </a:r>
          </a:p>
          <a:p xmlns:a="http://schemas.openxmlformats.org/drawingml/2006/main">
            <a:pPr>
              <a:defRPr sz="2175" b="0">
                <a:solidFill>
                  <a:srgbClr val="102A2A"/>
                </a:solidFill>
                <a:latin typeface="Arial"/>
                <a:ea typeface="Arial"/>
                <a:cs typeface="Arial"/>
              </a:defRPr>
            </a:pPr>
            <a:r>
              <a:rPr sz="2175" b="0">
                <a:solidFill>
                  <a:srgbClr val="102A2A"/>
                </a:solidFill>
                <a:latin typeface="Arial"/>
                <a:ea typeface="Arial"/>
                <a:cs typeface="Arial"/>
              </a:rPr>
              <a:t>Ihr Team Code und Betrieb übernehmen will.</a:t>
            </a:r>
          </a:p>
          <a:p xmlns:a="http://schemas.openxmlformats.org/drawingml/2006/main">
            <a:pPr>
              <a:defRPr sz="2175" b="0">
                <a:solidFill>
                  <a:srgbClr val="102A2A"/>
                </a:solidFill>
                <a:latin typeface="Arial"/>
                <a:ea typeface="Arial"/>
                <a:cs typeface="Arial"/>
              </a:defRPr>
            </a:pPr>
            <a:r>
              <a:rPr sz="2175" b="0">
                <a:solidFill>
                  <a:srgbClr val="102A2A"/>
                </a:solidFill>
                <a:latin typeface="Arial"/>
                <a:ea typeface="Arial"/>
                <a:cs typeface="Arial"/>
              </a:rPr>
              <a:t>Status und Bereitschaft im Fokus stehen.</a:t>
            </a:r>
          </a:p>
        </p:txBody>
      </p:sp>
      <p:sp>
        <p:nvSpPr>
          <p:cNvPr id="8" name="body">
            <a:extLst xmlns:a="http://schemas.openxmlformats.org/drawingml/2006/main">
              <a:ext uri="{FF2B5EF4-FFF2-40B4-BE49-F238E27FC236}">
                <a16:creationId xmlns:a16="http://schemas.microsoft.com/office/drawing/2014/main" id="{FBBB999C-C11F-4321-9C94-7AE32F0D4140}"/>
              </a:ext>
            </a:extLst>
          </p:cNvPr>
          <p:cNvSpPr>
            <a:spLocks xmlns:a="http://schemas.openxmlformats.org/drawingml/2006/main" noGrp="1"/>
          </p:cNvSpPr>
          <p:nvPr/>
        </p:nvSpPr>
        <p:spPr>
          <a:xfrm xmlns:a="http://schemas.openxmlformats.org/drawingml/2006/main">
            <a:off x="6572250" y="2838450"/>
            <a:ext cx="4933950"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02A2A"/>
                </a:solidFill>
                <a:latin typeface="Arial"/>
                <a:ea typeface="Arial"/>
                <a:cs typeface="Arial"/>
              </a:defRPr>
            </a:defPPr>
          </a:lstStyle>
          <a:p xmlns:a="http://schemas.openxmlformats.org/drawingml/2006/main">
            <a:pPr>
              <a:defRPr sz="2175" b="0">
                <a:solidFill>
                  <a:srgbClr val="102A2A"/>
                </a:solidFill>
                <a:latin typeface="Arial"/>
                <a:ea typeface="Arial"/>
                <a:cs typeface="Arial"/>
              </a:defRPr>
            </a:pPr>
            <a:r>
              <a:rPr sz="2175" b="0">
                <a:solidFill>
                  <a:srgbClr val="102A2A"/>
                </a:solidFill>
                <a:latin typeface="Arial"/>
                <a:ea typeface="Arial"/>
                <a:cs typeface="Arial"/>
              </a:rPr>
              <a:t>Sie vollständiges Ticketing brauchen.</a:t>
            </a:r>
          </a:p>
          <a:p xmlns:a="http://schemas.openxmlformats.org/drawingml/2006/main">
            <a:pPr>
              <a:defRPr sz="2175" b="0">
                <a:solidFill>
                  <a:srgbClr val="102A2A"/>
                </a:solidFill>
                <a:latin typeface="Arial"/>
                <a:ea typeface="Arial"/>
                <a:cs typeface="Arial"/>
              </a:defRPr>
            </a:pPr>
            <a:r>
              <a:rPr sz="2175" b="0">
                <a:solidFill>
                  <a:srgbClr val="102A2A"/>
                </a:solidFill>
                <a:latin typeface="Arial"/>
                <a:ea typeface="Arial"/>
                <a:cs typeface="Arial"/>
              </a:rPr>
              <a:t>SLA-Workflows oder CMDB zentral sind.</a:t>
            </a:r>
          </a:p>
          <a:p xmlns:a="http://schemas.openxmlformats.org/drawingml/2006/main">
            <a:pPr>
              <a:defRPr sz="2175" b="0">
                <a:solidFill>
                  <a:srgbClr val="102A2A"/>
                </a:solidFill>
                <a:latin typeface="Arial"/>
                <a:ea typeface="Arial"/>
                <a:cs typeface="Arial"/>
              </a:defRPr>
            </a:pPr>
            <a:r>
              <a:rPr sz="2175" b="0">
                <a:solidFill>
                  <a:srgbClr val="102A2A"/>
                </a:solidFill>
                <a:latin typeface="Arial"/>
                <a:ea typeface="Arial"/>
                <a:cs typeface="Arial"/>
              </a:rPr>
              <a:t>Viele Kanäle im Agentenarbeitsplatz</a:t>
            </a:r>
          </a:p>
          <a:p xmlns:a="http://schemas.openxmlformats.org/drawingml/2006/main">
            <a:pPr>
              <a:defRPr sz="2175" b="0">
                <a:solidFill>
                  <a:srgbClr val="102A2A"/>
                </a:solidFill>
                <a:latin typeface="Arial"/>
                <a:ea typeface="Arial"/>
                <a:cs typeface="Arial"/>
              </a:defRPr>
            </a:pPr>
            <a:r>
              <a:rPr sz="2175" b="0">
                <a:solidFill>
                  <a:srgbClr val="102A2A"/>
                </a:solidFill>
                <a:latin typeface="Arial"/>
                <a:ea typeface="Arial"/>
                <a:cs typeface="Arial"/>
              </a:rPr>
              <a:t>und umfassende Prozesse nötig sind.</a:t>
            </a:r>
          </a:p>
        </p:txBody>
      </p:sp>
      <p:sp>
        <p:nvSpPr>
          <p:cNvPr id="9" name="body">
            <a:extLst xmlns:a="http://schemas.openxmlformats.org/drawingml/2006/main">
              <a:ext uri="{FF2B5EF4-FFF2-40B4-BE49-F238E27FC236}">
                <a16:creationId xmlns:a16="http://schemas.microsoft.com/office/drawing/2014/main" id="{0E0DBE6E-F77B-400C-A13E-ABA57B7A186F}"/>
              </a:ext>
            </a:extLst>
          </p:cNvPr>
          <p:cNvSpPr>
            <a:spLocks xmlns:a="http://schemas.openxmlformats.org/drawingml/2006/main" noGrp="1"/>
          </p:cNvSpPr>
          <p:nvPr/>
        </p:nvSpPr>
        <p:spPr>
          <a:xfrm xmlns:a="http://schemas.openxmlformats.org/drawingml/2006/main">
            <a:off x="685800" y="5267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6B64"/>
                </a:solidFill>
                <a:latin typeface="Arial"/>
                <a:ea typeface="Arial"/>
                <a:cs typeface="Arial"/>
              </a:defRPr>
            </a:defPPr>
          </a:lstStyle>
          <a:p xmlns:a="http://schemas.openxmlformats.org/drawingml/2006/main">
            <a:pPr>
              <a:defRPr sz="2475" b="1">
                <a:solidFill>
                  <a:srgbClr val="006B64"/>
                </a:solidFill>
                <a:latin typeface="Arial"/>
                <a:ea typeface="Arial"/>
                <a:cs typeface="Arial"/>
              </a:defRPr>
            </a:pPr>
            <a:r>
              <a:rPr sz="2475" b="1">
                <a:solidFill>
                  <a:srgbClr val="006B64"/>
                </a:solidFill>
                <a:latin typeface="Arial"/>
                <a:ea typeface="Arial"/>
                <a:cs typeface="Arial"/>
              </a:rPr>
              <a:t>Die Entscheidung fällt mit Ihrem Anwendungsfall und einem fairen Pilot.</a:t>
            </a:r>
          </a:p>
        </p:txBody>
      </p:sp>
    </p:spTree>
    <p:extLst>
      <p:ext uri="{BB962C8B-B14F-4D97-AF65-F5344CB8AC3E}">
        <p14:creationId xmlns:p14="http://schemas.microsoft.com/office/powerpoint/2010/main" val="177700277"/>
      </p:ext>
    </p:extLst>
  </p:cSld>
</p:sld>
</file>

<file path=ppt/slides/slide15.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CDE34397-6400-4A21-B2ED-2B3C5385FF88}"/>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ÜBERGABE UND CORPORATE IDENTITY</a:t>
            </a:r>
          </a:p>
        </p:txBody>
      </p:sp>
      <p:sp>
        <p:nvSpPr>
          <p:cNvPr id="2" name="slide-title">
            <a:extLst xmlns:a="http://schemas.openxmlformats.org/drawingml/2006/main">
              <a:ext uri="{FF2B5EF4-FFF2-40B4-BE49-F238E27FC236}">
                <a16:creationId xmlns:a16="http://schemas.microsoft.com/office/drawing/2014/main" id="{37324E6B-E4CA-4826-B7D1-4810C7F0E8F5}"/>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Ihr Team entwickelt selbst weiter</a:t>
            </a:r>
          </a:p>
        </p:txBody>
      </p:sp>
      <p:sp>
        <p:nvSpPr>
          <p:cNvPr id="3" name="footer">
            <a:extLst xmlns:a="http://schemas.openxmlformats.org/drawingml/2006/main">
              <a:ext uri="{FF2B5EF4-FFF2-40B4-BE49-F238E27FC236}">
                <a16:creationId xmlns:a16="http://schemas.microsoft.com/office/drawing/2014/main" id="{78EABA90-BF7C-4247-B944-E2B8EDA38E87}"/>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A4CB562C-623A-4284-8DA1-EEC9838EC829}"/>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15</a:t>
            </a:r>
          </a:p>
        </p:txBody>
      </p:sp>
      <p:sp>
        <p:nvSpPr>
          <p:cNvPr id="5" name="body">
            <a:extLst xmlns:a="http://schemas.openxmlformats.org/drawingml/2006/main">
              <a:ext uri="{FF2B5EF4-FFF2-40B4-BE49-F238E27FC236}">
                <a16:creationId xmlns:a16="http://schemas.microsoft.com/office/drawing/2014/main" id="{F44539E2-5479-4D2B-ABD7-0A855D85FB58}"/>
              </a:ext>
            </a:extLst>
          </p:cNvPr>
          <p:cNvSpPr>
            <a:spLocks xmlns:a="http://schemas.openxmlformats.org/drawingml/2006/main" noGrp="1"/>
          </p:cNvSpPr>
          <p:nvPr/>
        </p:nvSpPr>
        <p:spPr>
          <a:xfrm xmlns:a="http://schemas.openxmlformats.org/drawingml/2006/main">
            <a:off x="685800" y="2257425"/>
            <a:ext cx="4762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A2A"/>
                </a:solidFill>
                <a:latin typeface="Arial"/>
                <a:ea typeface="Arial"/>
                <a:cs typeface="Arial"/>
              </a:defRPr>
            </a:defPPr>
          </a:lstStyle>
          <a:p xmlns:a="http://schemas.openxmlformats.org/drawingml/2006/main">
            <a:pPr>
              <a:buNone/>
              <a:defRPr sz="2400" b="1">
                <a:solidFill>
                  <a:srgbClr val="102A2A"/>
                </a:solidFill>
                <a:latin typeface="Arial"/>
                <a:ea typeface="Arial"/>
                <a:cs typeface="Arial"/>
              </a:defRPr>
            </a:pPr>
            <a:r>
              <a:rPr sz="2400" b="1">
                <a:solidFill>
                  <a:srgbClr val="102A2A"/>
                </a:solidFill>
                <a:latin typeface="Arial"/>
                <a:ea typeface="Arial"/>
                <a:cs typeface="Arial"/>
              </a:rPr>
              <a:t>Skills für Branding, Inhalte</a:t>
            </a:r>
          </a:p>
          <a:p xmlns:a="http://schemas.openxmlformats.org/drawingml/2006/main">
            <a:pPr>
              <a:buNone/>
              <a:defRPr sz="2400" b="1">
                <a:solidFill>
                  <a:srgbClr val="102A2A"/>
                </a:solidFill>
                <a:latin typeface="Arial"/>
                <a:ea typeface="Arial"/>
                <a:cs typeface="Arial"/>
              </a:defRPr>
            </a:pPr>
            <a:r>
              <a:rPr sz="2400" b="1">
                <a:solidFill>
                  <a:srgbClr val="102A2A"/>
                </a:solidFill>
                <a:latin typeface="Arial"/>
                <a:ea typeface="Arial"/>
                <a:cs typeface="Arial"/>
              </a:rPr>
              <a:t>und eigene Plugins begleiten</a:t>
            </a:r>
          </a:p>
          <a:p xmlns:a="http://schemas.openxmlformats.org/drawingml/2006/main">
            <a:pPr>
              <a:buNone/>
              <a:defRPr sz="2400" b="1">
                <a:solidFill>
                  <a:srgbClr val="102A2A"/>
                </a:solidFill>
                <a:latin typeface="Arial"/>
                <a:ea typeface="Arial"/>
                <a:cs typeface="Arial"/>
              </a:defRPr>
            </a:pPr>
            <a:r>
              <a:rPr sz="2400" b="1">
                <a:solidFill>
                  <a:srgbClr val="102A2A"/>
                </a:solidFill>
                <a:latin typeface="Arial"/>
                <a:ea typeface="Arial"/>
                <a:cs typeface="Arial"/>
              </a:rPr>
              <a:t>die Weiterentwicklung.</a:t>
            </a:r>
          </a:p>
        </p:txBody>
      </p:sp>
      <p:sp>
        <p:nvSpPr>
          <p:cNvPr id="6" name="body">
            <a:extLst xmlns:a="http://schemas.openxmlformats.org/drawingml/2006/main">
              <a:ext uri="{FF2B5EF4-FFF2-40B4-BE49-F238E27FC236}">
                <a16:creationId xmlns:a16="http://schemas.microsoft.com/office/drawing/2014/main" id="{DD886D10-696F-4204-96FB-27A9BCC0EE8D}"/>
              </a:ext>
            </a:extLst>
          </p:cNvPr>
          <p:cNvSpPr>
            <a:spLocks xmlns:a="http://schemas.openxmlformats.org/drawingml/2006/main" noGrp="1"/>
          </p:cNvSpPr>
          <p:nvPr/>
        </p:nvSpPr>
        <p:spPr>
          <a:xfrm xmlns:a="http://schemas.openxmlformats.org/drawingml/2006/main">
            <a:off x="685800" y="4010025"/>
            <a:ext cx="4762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63"/>
                </a:solidFill>
                <a:latin typeface="Arial"/>
                <a:ea typeface="Arial"/>
                <a:cs typeface="Arial"/>
              </a:defRPr>
            </a:defPPr>
          </a:lstStyle>
          <a:p xmlns:a="http://schemas.openxmlformats.org/drawingml/2006/main">
            <a:pPr>
              <a:buNone/>
              <a:defRPr sz="2100" b="0">
                <a:solidFill>
                  <a:srgbClr val="526763"/>
                </a:solidFill>
                <a:latin typeface="Arial"/>
                <a:ea typeface="Arial"/>
                <a:cs typeface="Arial"/>
              </a:defRPr>
            </a:pPr>
            <a:r>
              <a:rPr sz="2100" b="0">
                <a:solidFill>
                  <a:srgbClr val="526763"/>
                </a:solidFill>
                <a:latin typeface="Arial"/>
                <a:ea typeface="Arial"/>
                <a:cs typeface="Arial"/>
              </a:rPr>
              <a:t>Gemeinsame UI-Komponenten</a:t>
            </a:r>
          </a:p>
          <a:p xmlns:a="http://schemas.openxmlformats.org/drawingml/2006/main">
            <a:pPr>
              <a:buNone/>
              <a:defRPr sz="2100" b="0">
                <a:solidFill>
                  <a:srgbClr val="526763"/>
                </a:solidFill>
                <a:latin typeface="Arial"/>
                <a:ea typeface="Arial"/>
                <a:cs typeface="Arial"/>
              </a:defRPr>
            </a:pPr>
            <a:r>
              <a:rPr sz="2100" b="0">
                <a:solidFill>
                  <a:srgbClr val="526763"/>
                </a:solidFill>
                <a:latin typeface="Arial"/>
                <a:ea typeface="Arial"/>
                <a:cs typeface="Arial"/>
              </a:rPr>
              <a:t>und CI-Tokens halten Website</a:t>
            </a:r>
          </a:p>
          <a:p xmlns:a="http://schemas.openxmlformats.org/drawingml/2006/main">
            <a:pPr>
              <a:buNone/>
              <a:defRPr sz="2100" b="0">
                <a:solidFill>
                  <a:srgbClr val="526763"/>
                </a:solidFill>
                <a:latin typeface="Arial"/>
                <a:ea typeface="Arial"/>
                <a:cs typeface="Arial"/>
              </a:defRPr>
            </a:pPr>
            <a:r>
              <a:rPr sz="2100" b="0">
                <a:solidFill>
                  <a:srgbClr val="526763"/>
                </a:solidFill>
                <a:latin typeface="Arial"/>
                <a:ea typeface="Arial"/>
                <a:cs typeface="Arial"/>
              </a:rPr>
              <a:t>und Portal konsistent.</a:t>
            </a:r>
          </a:p>
        </p:txBody>
      </p:sp>
      <p:pic>
        <p:nvPicPr>
          <p:cNvPr id="7" name="">
            <a:extLst xmlns:a="http://schemas.openxmlformats.org/drawingml/2006/main">
              <a:ext uri="{FF2B5EF4-FFF2-40B4-BE49-F238E27FC236}">
                <a16:creationId xmlns:a16="http://schemas.microsoft.com/office/drawing/2014/main" id="{2B6E3408-F860-45FC-9F0B-B864BAAD67DB}"/>
              </a:ext>
            </a:extLst>
          </p:cNvPr>
          <p:cNvPicPr>
            <a:picLocks xmlns:a="http://schemas.openxmlformats.org/drawingml/2006/main" noChangeAspect="1"/>
          </p:cNvPicPr>
          <p:nvPr/>
        </p:nvPicPr>
        <p:blipFill>
          <a:blip xmlns:r="http://schemas.openxmlformats.org/officeDocument/2006/relationships" xmlns:a="http://schemas.openxmlformats.org/drawingml/2006/main" r:embed="R7b8681c866324f95"/>
          <a:stretch xmlns:a="http://schemas.openxmlformats.org/drawingml/2006/main"/>
        </p:blipFill>
        <p:spPr>
          <a:xfrm xmlns:a="http://schemas.openxmlformats.org/drawingml/2006/main">
            <a:off x="6019800" y="2105025"/>
            <a:ext cx="5486400" cy="381000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7CDEC86D-174B-4E5D-8034-E9505BD60258}"/>
              </a:ext>
            </a:extLst>
          </p:cNvPr>
          <p:cNvSpPr>
            <a:spLocks xmlns:a="http://schemas.openxmlformats.org/drawingml/2006/main" noGrp="1"/>
          </p:cNvSpPr>
          <p:nvPr/>
        </p:nvSpPr>
        <p:spPr>
          <a:xfrm xmlns:a="http://schemas.openxmlformats.org/drawingml/2006/main">
            <a:off x="6038850" y="5962650"/>
            <a:ext cx="5429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B64"/>
                </a:solidFill>
                <a:latin typeface="Arial"/>
                <a:ea typeface="Arial"/>
                <a:cs typeface="Arial"/>
              </a:defRPr>
            </a:defPPr>
          </a:lstStyle>
          <a:p xmlns:a="http://schemas.openxmlformats.org/drawingml/2006/main">
            <a:pPr>
              <a:buNone/>
              <a:defRPr sz="1425" b="1">
                <a:solidFill>
                  <a:srgbClr val="006B64"/>
                </a:solidFill>
                <a:latin typeface="Arial"/>
                <a:ea typeface="Arial"/>
                <a:cs typeface="Arial"/>
              </a:defRPr>
            </a:pPr>
            <a:r>
              <a:rPr sz="1425" b="1">
                <a:solidFill>
                  <a:srgbClr val="006B64"/>
                </a:solidFill>
                <a:latin typeface="Arial"/>
                <a:ea typeface="Arial"/>
                <a:cs typeface="Arial"/>
              </a:rPr>
              <a:t>Gemeinsame Bibliothek: @kieksme/csp-ui</a:t>
            </a:r>
          </a:p>
        </p:txBody>
      </p:sp>
    </p:spTree>
    <p:extLst>
      <p:ext uri="{BB962C8B-B14F-4D97-AF65-F5344CB8AC3E}">
        <p14:creationId xmlns:p14="http://schemas.microsoft.com/office/powerpoint/2010/main" val="579980888"/>
      </p:ext>
    </p:extLst>
  </p:cSld>
</p:sld>
</file>

<file path=ppt/slides/slide16.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8BFD12A8-4C1E-454F-A346-2B03738EEC7A}"/>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VORGEHEN</a:t>
            </a:r>
          </a:p>
        </p:txBody>
      </p:sp>
      <p:sp>
        <p:nvSpPr>
          <p:cNvPr id="2" name="slide-title">
            <a:extLst xmlns:a="http://schemas.openxmlformats.org/drawingml/2006/main">
              <a:ext uri="{FF2B5EF4-FFF2-40B4-BE49-F238E27FC236}">
                <a16:creationId xmlns:a16="http://schemas.microsoft.com/office/drawing/2014/main" id="{3EF61AB0-3109-4296-8B9E-2B7301374233}"/>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Ein Pilot mit messbarem Nutzen</a:t>
            </a:r>
          </a:p>
        </p:txBody>
      </p:sp>
      <p:sp>
        <p:nvSpPr>
          <p:cNvPr id="3" name="footer">
            <a:extLst xmlns:a="http://schemas.openxmlformats.org/drawingml/2006/main">
              <a:ext uri="{FF2B5EF4-FFF2-40B4-BE49-F238E27FC236}">
                <a16:creationId xmlns:a16="http://schemas.microsoft.com/office/drawing/2014/main" id="{BEA4B8B2-3D5B-499D-B9D5-354C80A8751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2488DF00-1F1C-4134-A080-C7E2A87BC176}"/>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16</a:t>
            </a:r>
          </a:p>
        </p:txBody>
      </p:sp>
      <p:sp>
        <p:nvSpPr>
          <p:cNvPr id="5" name="body">
            <a:extLst xmlns:a="http://schemas.openxmlformats.org/drawingml/2006/main">
              <a:ext uri="{FF2B5EF4-FFF2-40B4-BE49-F238E27FC236}">
                <a16:creationId xmlns:a16="http://schemas.microsoft.com/office/drawing/2014/main" id="{BB9C8C73-069B-43B9-A09D-37F3B3B5E32D}"/>
              </a:ext>
            </a:extLst>
          </p:cNvPr>
          <p:cNvSpPr>
            <a:spLocks xmlns:a="http://schemas.openxmlformats.org/drawingml/2006/main" noGrp="1"/>
          </p:cNvSpPr>
          <p:nvPr/>
        </p:nvSpPr>
        <p:spPr>
          <a:xfrm xmlns:a="http://schemas.openxmlformats.org/drawingml/2006/main">
            <a:off x="685800" y="2133600"/>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buNone/>
              <a:defRPr sz="3150" b="1">
                <a:solidFill>
                  <a:srgbClr val="006B64"/>
                </a:solidFill>
                <a:latin typeface="Arial"/>
                <a:ea typeface="Arial"/>
                <a:cs typeface="Arial"/>
              </a:defRPr>
            </a:pPr>
            <a:r>
              <a:rPr sz="3150" b="1">
                <a:solidFill>
                  <a:srgbClr val="006B64"/>
                </a:solidFill>
                <a:latin typeface="Arial"/>
                <a:ea typeface="Arial"/>
                <a:cs typeface="Arial"/>
              </a:rPr>
              <a:t>01</a:t>
            </a:r>
          </a:p>
        </p:txBody>
      </p:sp>
      <p:sp>
        <p:nvSpPr>
          <p:cNvPr id="6" name="body">
            <a:extLst xmlns:a="http://schemas.openxmlformats.org/drawingml/2006/main">
              <a:ext uri="{FF2B5EF4-FFF2-40B4-BE49-F238E27FC236}">
                <a16:creationId xmlns:a16="http://schemas.microsoft.com/office/drawing/2014/main" id="{CC9F9198-2C4B-47F2-A206-7B9736D86534}"/>
              </a:ext>
            </a:extLst>
          </p:cNvPr>
          <p:cNvSpPr>
            <a:spLocks xmlns:a="http://schemas.openxmlformats.org/drawingml/2006/main" noGrp="1"/>
          </p:cNvSpPr>
          <p:nvPr/>
        </p:nvSpPr>
        <p:spPr>
          <a:xfrm xmlns:a="http://schemas.openxmlformats.org/drawingml/2006/main">
            <a:off x="1885950" y="213360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A2A"/>
                </a:solidFill>
                <a:latin typeface="Arial"/>
                <a:ea typeface="Arial"/>
                <a:cs typeface="Arial"/>
              </a:defRPr>
            </a:defPPr>
          </a:lstStyle>
          <a:p xmlns:a="http://schemas.openxmlformats.org/drawingml/2006/main">
            <a:pPr>
              <a:buNone/>
              <a:defRPr sz="2250" b="1">
                <a:solidFill>
                  <a:srgbClr val="102A2A"/>
                </a:solidFill>
                <a:latin typeface="Arial"/>
                <a:ea typeface="Arial"/>
                <a:cs typeface="Arial"/>
              </a:defRPr>
            </a:pPr>
            <a:r>
              <a:rPr sz="2250" b="1">
                <a:solidFill>
                  <a:srgbClr val="102A2A"/>
                </a:solidFill>
                <a:latin typeface="Arial"/>
                <a:ea typeface="Arial"/>
                <a:cs typeface="Arial"/>
              </a:rPr>
              <a:t>Anwendungsfall wählen</a:t>
            </a:r>
          </a:p>
        </p:txBody>
      </p:sp>
      <p:sp>
        <p:nvSpPr>
          <p:cNvPr id="7" name="body">
            <a:extLst xmlns:a="http://schemas.openxmlformats.org/drawingml/2006/main">
              <a:ext uri="{FF2B5EF4-FFF2-40B4-BE49-F238E27FC236}">
                <a16:creationId xmlns:a16="http://schemas.microsoft.com/office/drawing/2014/main" id="{335FF397-CF7A-4AEE-85AC-F815F1663ACF}"/>
              </a:ext>
            </a:extLst>
          </p:cNvPr>
          <p:cNvSpPr>
            <a:spLocks xmlns:a="http://schemas.openxmlformats.org/drawingml/2006/main" noGrp="1"/>
          </p:cNvSpPr>
          <p:nvPr/>
        </p:nvSpPr>
        <p:spPr>
          <a:xfrm xmlns:a="http://schemas.openxmlformats.org/drawingml/2006/main">
            <a:off x="1885950" y="2562225"/>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buNone/>
              <a:defRPr sz="1875" b="0">
                <a:solidFill>
                  <a:srgbClr val="526763"/>
                </a:solidFill>
                <a:latin typeface="Arial"/>
                <a:ea typeface="Arial"/>
                <a:cs typeface="Arial"/>
              </a:defRPr>
            </a:pPr>
            <a:r>
              <a:rPr sz="1875" b="0">
                <a:solidFill>
                  <a:srgbClr val="526763"/>
                </a:solidFill>
                <a:latin typeface="Arial"/>
                <a:ea typeface="Arial"/>
                <a:cs typeface="Arial"/>
              </a:rPr>
              <a:t>Häufige Anfragearten und Erfolgskriterien festlegen.</a:t>
            </a:r>
          </a:p>
        </p:txBody>
      </p:sp>
      <p:sp>
        <p:nvSpPr>
          <p:cNvPr id="8" name="body">
            <a:extLst xmlns:a="http://schemas.openxmlformats.org/drawingml/2006/main">
              <a:ext uri="{FF2B5EF4-FFF2-40B4-BE49-F238E27FC236}">
                <a16:creationId xmlns:a16="http://schemas.microsoft.com/office/drawing/2014/main" id="{EAC83FDB-A8D6-4586-B6CB-BF0A2B1B2CF4}"/>
              </a:ext>
            </a:extLst>
          </p:cNvPr>
          <p:cNvSpPr>
            <a:spLocks xmlns:a="http://schemas.openxmlformats.org/drawingml/2006/main" noGrp="1"/>
          </p:cNvSpPr>
          <p:nvPr/>
        </p:nvSpPr>
        <p:spPr>
          <a:xfrm xmlns:a="http://schemas.openxmlformats.org/drawingml/2006/main">
            <a:off x="685800" y="3095625"/>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buNone/>
              <a:defRPr sz="3150" b="1">
                <a:solidFill>
                  <a:srgbClr val="006B64"/>
                </a:solidFill>
                <a:latin typeface="Arial"/>
                <a:ea typeface="Arial"/>
                <a:cs typeface="Arial"/>
              </a:defRPr>
            </a:pPr>
            <a:r>
              <a:rPr sz="3150" b="1">
                <a:solidFill>
                  <a:srgbClr val="006B64"/>
                </a:solidFill>
                <a:latin typeface="Arial"/>
                <a:ea typeface="Arial"/>
                <a:cs typeface="Arial"/>
              </a:rPr>
              <a:t>02</a:t>
            </a:r>
          </a:p>
        </p:txBody>
      </p:sp>
      <p:sp>
        <p:nvSpPr>
          <p:cNvPr id="9" name="body">
            <a:extLst xmlns:a="http://schemas.openxmlformats.org/drawingml/2006/main">
              <a:ext uri="{FF2B5EF4-FFF2-40B4-BE49-F238E27FC236}">
                <a16:creationId xmlns:a16="http://schemas.microsoft.com/office/drawing/2014/main" id="{4D21BE86-0E0C-44E4-A7AE-77C3A79D9F38}"/>
              </a:ext>
            </a:extLst>
          </p:cNvPr>
          <p:cNvSpPr>
            <a:spLocks xmlns:a="http://schemas.openxmlformats.org/drawingml/2006/main" noGrp="1"/>
          </p:cNvSpPr>
          <p:nvPr/>
        </p:nvSpPr>
        <p:spPr>
          <a:xfrm xmlns:a="http://schemas.openxmlformats.org/drawingml/2006/main">
            <a:off x="1885950" y="309562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A2A"/>
                </a:solidFill>
                <a:latin typeface="Arial"/>
                <a:ea typeface="Arial"/>
                <a:cs typeface="Arial"/>
              </a:defRPr>
            </a:defPPr>
          </a:lstStyle>
          <a:p xmlns:a="http://schemas.openxmlformats.org/drawingml/2006/main">
            <a:pPr>
              <a:buNone/>
              <a:defRPr sz="2250" b="1">
                <a:solidFill>
                  <a:srgbClr val="102A2A"/>
                </a:solidFill>
                <a:latin typeface="Arial"/>
                <a:ea typeface="Arial"/>
                <a:cs typeface="Arial"/>
              </a:defRPr>
            </a:pPr>
            <a:r>
              <a:rPr sz="2250" b="1">
                <a:solidFill>
                  <a:srgbClr val="102A2A"/>
                </a:solidFill>
                <a:latin typeface="Arial"/>
                <a:ea typeface="Arial"/>
                <a:cs typeface="Arial"/>
              </a:rPr>
              <a:t>Portal integrieren</a:t>
            </a:r>
          </a:p>
        </p:txBody>
      </p:sp>
      <p:sp>
        <p:nvSpPr>
          <p:cNvPr id="10" name="body">
            <a:extLst xmlns:a="http://schemas.openxmlformats.org/drawingml/2006/main">
              <a:ext uri="{FF2B5EF4-FFF2-40B4-BE49-F238E27FC236}">
                <a16:creationId xmlns:a16="http://schemas.microsoft.com/office/drawing/2014/main" id="{66D238F8-1D20-4F3C-B84C-4B98634AFBA7}"/>
              </a:ext>
            </a:extLst>
          </p:cNvPr>
          <p:cNvSpPr>
            <a:spLocks xmlns:a="http://schemas.openxmlformats.org/drawingml/2006/main" noGrp="1"/>
          </p:cNvSpPr>
          <p:nvPr/>
        </p:nvSpPr>
        <p:spPr>
          <a:xfrm xmlns:a="http://schemas.openxmlformats.org/drawingml/2006/main">
            <a:off x="1885950" y="3524250"/>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buNone/>
              <a:defRPr sz="1875" b="0">
                <a:solidFill>
                  <a:srgbClr val="526763"/>
                </a:solidFill>
                <a:latin typeface="Arial"/>
                <a:ea typeface="Arial"/>
                <a:cs typeface="Arial"/>
              </a:defRPr>
            </a:pPr>
            <a:r>
              <a:rPr sz="1875" b="0">
                <a:solidFill>
                  <a:srgbClr val="526763"/>
                </a:solidFill>
                <a:latin typeface="Arial"/>
                <a:ea typeface="Arial"/>
                <a:cs typeface="Arial"/>
              </a:rPr>
              <a:t>Wissen, Statusquellen und einen Supportkanal anbinden.</a:t>
            </a:r>
          </a:p>
        </p:txBody>
      </p:sp>
      <p:sp>
        <p:nvSpPr>
          <p:cNvPr id="11" name="body">
            <a:extLst xmlns:a="http://schemas.openxmlformats.org/drawingml/2006/main">
              <a:ext uri="{FF2B5EF4-FFF2-40B4-BE49-F238E27FC236}">
                <a16:creationId xmlns:a16="http://schemas.microsoft.com/office/drawing/2014/main" id="{0A0C382F-11A6-4558-AB20-0D9EF3D0DBED}"/>
              </a:ext>
            </a:extLst>
          </p:cNvPr>
          <p:cNvSpPr>
            <a:spLocks xmlns:a="http://schemas.openxmlformats.org/drawingml/2006/main" noGrp="1"/>
          </p:cNvSpPr>
          <p:nvPr/>
        </p:nvSpPr>
        <p:spPr>
          <a:xfrm xmlns:a="http://schemas.openxmlformats.org/drawingml/2006/main">
            <a:off x="685800" y="4057650"/>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buNone/>
              <a:defRPr sz="3150" b="1">
                <a:solidFill>
                  <a:srgbClr val="006B64"/>
                </a:solidFill>
                <a:latin typeface="Arial"/>
                <a:ea typeface="Arial"/>
                <a:cs typeface="Arial"/>
              </a:defRPr>
            </a:pPr>
            <a:r>
              <a:rPr sz="3150" b="1">
                <a:solidFill>
                  <a:srgbClr val="006B64"/>
                </a:solidFill>
                <a:latin typeface="Arial"/>
                <a:ea typeface="Arial"/>
                <a:cs typeface="Arial"/>
              </a:rPr>
              <a:t>03</a:t>
            </a:r>
          </a:p>
        </p:txBody>
      </p:sp>
      <p:sp>
        <p:nvSpPr>
          <p:cNvPr id="12" name="body">
            <a:extLst xmlns:a="http://schemas.openxmlformats.org/drawingml/2006/main">
              <a:ext uri="{FF2B5EF4-FFF2-40B4-BE49-F238E27FC236}">
                <a16:creationId xmlns:a16="http://schemas.microsoft.com/office/drawing/2014/main" id="{650C4BBA-E9E4-4E17-BAB2-BC5706B85E2D}"/>
              </a:ext>
            </a:extLst>
          </p:cNvPr>
          <p:cNvSpPr>
            <a:spLocks xmlns:a="http://schemas.openxmlformats.org/drawingml/2006/main" noGrp="1"/>
          </p:cNvSpPr>
          <p:nvPr/>
        </p:nvSpPr>
        <p:spPr>
          <a:xfrm xmlns:a="http://schemas.openxmlformats.org/drawingml/2006/main">
            <a:off x="1885950" y="405765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A2A"/>
                </a:solidFill>
                <a:latin typeface="Arial"/>
                <a:ea typeface="Arial"/>
                <a:cs typeface="Arial"/>
              </a:defRPr>
            </a:defPPr>
          </a:lstStyle>
          <a:p xmlns:a="http://schemas.openxmlformats.org/drawingml/2006/main">
            <a:pPr>
              <a:buNone/>
              <a:defRPr sz="2250" b="1">
                <a:solidFill>
                  <a:srgbClr val="102A2A"/>
                </a:solidFill>
                <a:latin typeface="Arial"/>
                <a:ea typeface="Arial"/>
                <a:cs typeface="Arial"/>
              </a:defRPr>
            </a:pPr>
            <a:r>
              <a:rPr sz="2250" b="1">
                <a:solidFill>
                  <a:srgbClr val="102A2A"/>
                </a:solidFill>
                <a:latin typeface="Arial"/>
                <a:ea typeface="Arial"/>
                <a:cs typeface="Arial"/>
              </a:rPr>
              <a:t>Im Alltag prüfen</a:t>
            </a:r>
          </a:p>
        </p:txBody>
      </p:sp>
      <p:sp>
        <p:nvSpPr>
          <p:cNvPr id="13" name="body">
            <a:extLst xmlns:a="http://schemas.openxmlformats.org/drawingml/2006/main">
              <a:ext uri="{FF2B5EF4-FFF2-40B4-BE49-F238E27FC236}">
                <a16:creationId xmlns:a16="http://schemas.microsoft.com/office/drawing/2014/main" id="{6F0AAA01-54F1-44C2-86A0-F41FCADE8DFB}"/>
              </a:ext>
            </a:extLst>
          </p:cNvPr>
          <p:cNvSpPr>
            <a:spLocks xmlns:a="http://schemas.openxmlformats.org/drawingml/2006/main" noGrp="1"/>
          </p:cNvSpPr>
          <p:nvPr/>
        </p:nvSpPr>
        <p:spPr>
          <a:xfrm xmlns:a="http://schemas.openxmlformats.org/drawingml/2006/main">
            <a:off x="1885950" y="4486275"/>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buNone/>
              <a:defRPr sz="1875" b="0">
                <a:solidFill>
                  <a:srgbClr val="526763"/>
                </a:solidFill>
                <a:latin typeface="Arial"/>
                <a:ea typeface="Arial"/>
                <a:cs typeface="Arial"/>
              </a:defRPr>
            </a:pPr>
            <a:r>
              <a:rPr sz="1875" b="0">
                <a:solidFill>
                  <a:srgbClr val="526763"/>
                </a:solidFill>
                <a:latin typeface="Arial"/>
                <a:ea typeface="Arial"/>
                <a:cs typeface="Arial"/>
              </a:rPr>
              <a:t>Antwortqualität, Übergaben und Bearbeitungszeit messen.</a:t>
            </a:r>
          </a:p>
        </p:txBody>
      </p:sp>
      <p:sp>
        <p:nvSpPr>
          <p:cNvPr id="14" name="body">
            <a:extLst xmlns:a="http://schemas.openxmlformats.org/drawingml/2006/main">
              <a:ext uri="{FF2B5EF4-FFF2-40B4-BE49-F238E27FC236}">
                <a16:creationId xmlns:a16="http://schemas.microsoft.com/office/drawing/2014/main" id="{CF8D0EBE-DA3C-4BC8-AB17-F18CF5C21EE6}"/>
              </a:ext>
            </a:extLst>
          </p:cNvPr>
          <p:cNvSpPr>
            <a:spLocks xmlns:a="http://schemas.openxmlformats.org/drawingml/2006/main" noGrp="1"/>
          </p:cNvSpPr>
          <p:nvPr/>
        </p:nvSpPr>
        <p:spPr>
          <a:xfrm xmlns:a="http://schemas.openxmlformats.org/drawingml/2006/main">
            <a:off x="685800" y="5019675"/>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buNone/>
              <a:defRPr sz="3150" b="1">
                <a:solidFill>
                  <a:srgbClr val="006B64"/>
                </a:solidFill>
                <a:latin typeface="Arial"/>
                <a:ea typeface="Arial"/>
                <a:cs typeface="Arial"/>
              </a:defRPr>
            </a:pPr>
            <a:r>
              <a:rPr sz="3150" b="1">
                <a:solidFill>
                  <a:srgbClr val="006B64"/>
                </a:solidFill>
                <a:latin typeface="Arial"/>
                <a:ea typeface="Arial"/>
                <a:cs typeface="Arial"/>
              </a:rPr>
              <a:t>04</a:t>
            </a:r>
          </a:p>
        </p:txBody>
      </p:sp>
      <p:sp>
        <p:nvSpPr>
          <p:cNvPr id="15" name="body">
            <a:extLst xmlns:a="http://schemas.openxmlformats.org/drawingml/2006/main">
              <a:ext uri="{FF2B5EF4-FFF2-40B4-BE49-F238E27FC236}">
                <a16:creationId xmlns:a16="http://schemas.microsoft.com/office/drawing/2014/main" id="{0551D97A-8654-4605-8200-575BA1945F06}"/>
              </a:ext>
            </a:extLst>
          </p:cNvPr>
          <p:cNvSpPr>
            <a:spLocks xmlns:a="http://schemas.openxmlformats.org/drawingml/2006/main" noGrp="1"/>
          </p:cNvSpPr>
          <p:nvPr/>
        </p:nvSpPr>
        <p:spPr>
          <a:xfrm xmlns:a="http://schemas.openxmlformats.org/drawingml/2006/main">
            <a:off x="1885950" y="501967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A2A"/>
                </a:solidFill>
                <a:latin typeface="Arial"/>
                <a:ea typeface="Arial"/>
                <a:cs typeface="Arial"/>
              </a:defRPr>
            </a:defPPr>
          </a:lstStyle>
          <a:p xmlns:a="http://schemas.openxmlformats.org/drawingml/2006/main">
            <a:pPr>
              <a:buNone/>
              <a:defRPr sz="2250" b="1">
                <a:solidFill>
                  <a:srgbClr val="102A2A"/>
                </a:solidFill>
                <a:latin typeface="Arial"/>
                <a:ea typeface="Arial"/>
                <a:cs typeface="Arial"/>
              </a:defRPr>
            </a:pPr>
            <a:r>
              <a:rPr sz="2250" b="1">
                <a:solidFill>
                  <a:srgbClr val="102A2A"/>
                </a:solidFill>
                <a:latin typeface="Arial"/>
                <a:ea typeface="Arial"/>
                <a:cs typeface="Arial"/>
              </a:rPr>
              <a:t>Übergeben und entscheiden</a:t>
            </a:r>
          </a:p>
        </p:txBody>
      </p:sp>
      <p:sp>
        <p:nvSpPr>
          <p:cNvPr id="16" name="body">
            <a:extLst xmlns:a="http://schemas.openxmlformats.org/drawingml/2006/main">
              <a:ext uri="{FF2B5EF4-FFF2-40B4-BE49-F238E27FC236}">
                <a16:creationId xmlns:a16="http://schemas.microsoft.com/office/drawing/2014/main" id="{A3A9C306-D3C4-4616-A380-812A46DBDA8E}"/>
              </a:ext>
            </a:extLst>
          </p:cNvPr>
          <p:cNvSpPr>
            <a:spLocks xmlns:a="http://schemas.openxmlformats.org/drawingml/2006/main" noGrp="1"/>
          </p:cNvSpPr>
          <p:nvPr/>
        </p:nvSpPr>
        <p:spPr>
          <a:xfrm xmlns:a="http://schemas.openxmlformats.org/drawingml/2006/main">
            <a:off x="1885950" y="5448300"/>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buNone/>
              <a:defRPr sz="1875" b="0">
                <a:solidFill>
                  <a:srgbClr val="526763"/>
                </a:solidFill>
                <a:latin typeface="Arial"/>
                <a:ea typeface="Arial"/>
                <a:cs typeface="Arial"/>
              </a:defRPr>
            </a:pPr>
            <a:r>
              <a:rPr sz="1875" b="0">
                <a:solidFill>
                  <a:srgbClr val="526763"/>
                </a:solidFill>
                <a:latin typeface="Arial"/>
                <a:ea typeface="Arial"/>
                <a:cs typeface="Arial"/>
              </a:rPr>
              <a:t>Skills, Code und Betrieb dokumentieren, Ausbau vereinbaren.</a:t>
            </a:r>
          </a:p>
        </p:txBody>
      </p:sp>
    </p:spTree>
    <p:extLst>
      <p:ext uri="{BB962C8B-B14F-4D97-AF65-F5344CB8AC3E}">
        <p14:creationId xmlns:p14="http://schemas.microsoft.com/office/powerpoint/2010/main" val="833777140"/>
      </p:ext>
    </p:extLst>
  </p:cSld>
</p:sld>
</file>

<file path=ppt/slides/slide17.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D0D91E9D-523C-460F-82CA-23D6254E9D38}"/>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ENTSCHEIDUNGSGRUNDLAGE</a:t>
            </a:r>
          </a:p>
        </p:txBody>
      </p:sp>
      <p:sp>
        <p:nvSpPr>
          <p:cNvPr id="2" name="slide-title">
            <a:extLst xmlns:a="http://schemas.openxmlformats.org/drawingml/2006/main">
              <a:ext uri="{FF2B5EF4-FFF2-40B4-BE49-F238E27FC236}">
                <a16:creationId xmlns:a16="http://schemas.microsoft.com/office/drawing/2014/main" id="{39E3684F-8390-421A-B139-3B5DE25165CB}"/>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Was der Pilot messen soll</a:t>
            </a:r>
          </a:p>
        </p:txBody>
      </p:sp>
      <p:sp>
        <p:nvSpPr>
          <p:cNvPr id="3" name="footer">
            <a:extLst xmlns:a="http://schemas.openxmlformats.org/drawingml/2006/main">
              <a:ext uri="{FF2B5EF4-FFF2-40B4-BE49-F238E27FC236}">
                <a16:creationId xmlns:a16="http://schemas.microsoft.com/office/drawing/2014/main" id="{1E78D5A7-A248-4E72-B8FB-8E7EDCC6D3AB}"/>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DB531E28-5181-400A-A507-E7440FC462A8}"/>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17</a:t>
            </a:r>
          </a:p>
        </p:txBody>
      </p:sp>
      <p:sp>
        <p:nvSpPr>
          <p:cNvPr id="5" name="body">
            <a:extLst xmlns:a="http://schemas.openxmlformats.org/drawingml/2006/main">
              <a:ext uri="{FF2B5EF4-FFF2-40B4-BE49-F238E27FC236}">
                <a16:creationId xmlns:a16="http://schemas.microsoft.com/office/drawing/2014/main" id="{E7BC0E57-A7CC-4886-B2BF-6719183EF526}"/>
              </a:ext>
            </a:extLst>
          </p:cNvPr>
          <p:cNvSpPr>
            <a:spLocks xmlns:a="http://schemas.openxmlformats.org/drawingml/2006/main" noGrp="1"/>
          </p:cNvSpPr>
          <p:nvPr/>
        </p:nvSpPr>
        <p:spPr>
          <a:xfrm xmlns:a="http://schemas.openxmlformats.org/drawingml/2006/main">
            <a:off x="685800" y="2266950"/>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buNone/>
              <a:defRPr sz="2325" b="1">
                <a:solidFill>
                  <a:srgbClr val="006B64"/>
                </a:solidFill>
                <a:latin typeface="Arial"/>
                <a:ea typeface="Arial"/>
                <a:cs typeface="Arial"/>
              </a:defRPr>
            </a:pPr>
            <a:r>
              <a:rPr sz="2325" b="1">
                <a:solidFill>
                  <a:srgbClr val="006B64"/>
                </a:solidFill>
                <a:latin typeface="Arial"/>
                <a:ea typeface="Arial"/>
                <a:cs typeface="Arial"/>
              </a:rPr>
              <a:t>Entlastung</a:t>
            </a:r>
          </a:p>
        </p:txBody>
      </p:sp>
      <p:sp>
        <p:nvSpPr>
          <p:cNvPr id="6" name="body">
            <a:extLst xmlns:a="http://schemas.openxmlformats.org/drawingml/2006/main">
              <a:ext uri="{FF2B5EF4-FFF2-40B4-BE49-F238E27FC236}">
                <a16:creationId xmlns:a16="http://schemas.microsoft.com/office/drawing/2014/main" id="{EA9C26F8-977F-47D6-9A86-EE6E8B92710F}"/>
              </a:ext>
            </a:extLst>
          </p:cNvPr>
          <p:cNvSpPr>
            <a:spLocks xmlns:a="http://schemas.openxmlformats.org/drawingml/2006/main" noGrp="1"/>
          </p:cNvSpPr>
          <p:nvPr/>
        </p:nvSpPr>
        <p:spPr>
          <a:xfrm xmlns:a="http://schemas.openxmlformats.org/drawingml/2006/main">
            <a:off x="685800" y="2809875"/>
            <a:ext cx="5191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Anteil sinnvoll vorgefilterter Anfragen</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Manuelle Rückfragen je Anfrage</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Bearbeitungszeit im Serviceteam</a:t>
            </a:r>
          </a:p>
        </p:txBody>
      </p:sp>
      <p:sp>
        <p:nvSpPr>
          <p:cNvPr id="7" name="body">
            <a:extLst xmlns:a="http://schemas.openxmlformats.org/drawingml/2006/main">
              <a:ext uri="{FF2B5EF4-FFF2-40B4-BE49-F238E27FC236}">
                <a16:creationId xmlns:a16="http://schemas.microsoft.com/office/drawing/2014/main" id="{5C631708-11D0-4E48-819C-A31346EA3C90}"/>
              </a:ext>
            </a:extLst>
          </p:cNvPr>
          <p:cNvSpPr>
            <a:spLocks xmlns:a="http://schemas.openxmlformats.org/drawingml/2006/main" noGrp="1"/>
          </p:cNvSpPr>
          <p:nvPr/>
        </p:nvSpPr>
        <p:spPr>
          <a:xfrm xmlns:a="http://schemas.openxmlformats.org/drawingml/2006/main">
            <a:off x="6572250" y="2266950"/>
            <a:ext cx="4933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buNone/>
              <a:defRPr sz="2325" b="1">
                <a:solidFill>
                  <a:srgbClr val="006B64"/>
                </a:solidFill>
                <a:latin typeface="Arial"/>
                <a:ea typeface="Arial"/>
                <a:cs typeface="Arial"/>
              </a:defRPr>
            </a:pPr>
            <a:r>
              <a:rPr sz="2325" b="1">
                <a:solidFill>
                  <a:srgbClr val="006B64"/>
                </a:solidFill>
                <a:latin typeface="Arial"/>
                <a:ea typeface="Arial"/>
                <a:cs typeface="Arial"/>
              </a:rPr>
              <a:t>Qualität und Erreichbarkeit</a:t>
            </a:r>
          </a:p>
        </p:txBody>
      </p:sp>
      <p:sp>
        <p:nvSpPr>
          <p:cNvPr id="8" name="body">
            <a:extLst xmlns:a="http://schemas.openxmlformats.org/drawingml/2006/main">
              <a:ext uri="{FF2B5EF4-FFF2-40B4-BE49-F238E27FC236}">
                <a16:creationId xmlns:a16="http://schemas.microsoft.com/office/drawing/2014/main" id="{32DA9B43-0C37-4FA7-A63F-1CA747FED7A2}"/>
              </a:ext>
            </a:extLst>
          </p:cNvPr>
          <p:cNvSpPr>
            <a:spLocks xmlns:a="http://schemas.openxmlformats.org/drawingml/2006/main" noGrp="1"/>
          </p:cNvSpPr>
          <p:nvPr/>
        </p:nvSpPr>
        <p:spPr>
          <a:xfrm xmlns:a="http://schemas.openxmlformats.org/drawingml/2006/main">
            <a:off x="6572250" y="2809875"/>
            <a:ext cx="49339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Korrekte Antworten aus den Quellen</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Erfolgreiche menschliche Übergaben</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Rückmeldung der Nutzer</a:t>
            </a:r>
          </a:p>
        </p:txBody>
      </p:sp>
      <p:sp>
        <p:nvSpPr>
          <p:cNvPr id="9" name="body">
            <a:extLst xmlns:a="http://schemas.openxmlformats.org/drawingml/2006/main">
              <a:ext uri="{FF2B5EF4-FFF2-40B4-BE49-F238E27FC236}">
                <a16:creationId xmlns:a16="http://schemas.microsoft.com/office/drawing/2014/main" id="{9E43BFCF-E88C-4457-ACAA-095313983679}"/>
              </a:ext>
            </a:extLst>
          </p:cNvPr>
          <p:cNvSpPr>
            <a:spLocks xmlns:a="http://schemas.openxmlformats.org/drawingml/2006/main" noGrp="1"/>
          </p:cNvSpPr>
          <p:nvPr/>
        </p:nvSpPr>
        <p:spPr>
          <a:xfrm xmlns:a="http://schemas.openxmlformats.org/drawingml/2006/main">
            <a:off x="685800" y="48387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6B64"/>
                </a:solidFill>
                <a:latin typeface="Arial"/>
                <a:ea typeface="Arial"/>
                <a:cs typeface="Arial"/>
              </a:defRPr>
            </a:defPPr>
          </a:lstStyle>
          <a:p xmlns:a="http://schemas.openxmlformats.org/drawingml/2006/main">
            <a:pPr>
              <a:buNone/>
              <a:defRPr sz="2700" b="1">
                <a:solidFill>
                  <a:srgbClr val="006B64"/>
                </a:solidFill>
                <a:latin typeface="Arial"/>
                <a:ea typeface="Arial"/>
                <a:cs typeface="Arial"/>
              </a:defRPr>
            </a:pPr>
            <a:r>
              <a:rPr sz="2700" b="1">
                <a:solidFill>
                  <a:srgbClr val="006B64"/>
                </a:solidFill>
                <a:latin typeface="Arial"/>
                <a:ea typeface="Arial"/>
                <a:cs typeface="Arial"/>
              </a:rPr>
              <a:t>Der Vergleich beginnt mit Ihrer heutigen Situation.</a:t>
            </a:r>
          </a:p>
        </p:txBody>
      </p:sp>
      <p:sp>
        <p:nvSpPr>
          <p:cNvPr id="10" name="body">
            <a:extLst xmlns:a="http://schemas.openxmlformats.org/drawingml/2006/main">
              <a:ext uri="{FF2B5EF4-FFF2-40B4-BE49-F238E27FC236}">
                <a16:creationId xmlns:a16="http://schemas.microsoft.com/office/drawing/2014/main" id="{D52D2075-F34C-4870-B93F-03E9AB00C0C7}"/>
              </a:ext>
            </a:extLst>
          </p:cNvPr>
          <p:cNvSpPr>
            <a:spLocks xmlns:a="http://schemas.openxmlformats.org/drawingml/2006/main" noGrp="1"/>
          </p:cNvSpPr>
          <p:nvPr/>
        </p:nvSpPr>
        <p:spPr>
          <a:xfrm xmlns:a="http://schemas.openxmlformats.org/drawingml/2006/main">
            <a:off x="685800" y="559117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buNone/>
              <a:defRPr sz="1875" b="0">
                <a:solidFill>
                  <a:srgbClr val="526763"/>
                </a:solidFill>
                <a:latin typeface="Arial"/>
                <a:ea typeface="Arial"/>
                <a:cs typeface="Arial"/>
              </a:defRPr>
            </a:pPr>
            <a:r>
              <a:rPr sz="1875" b="0">
                <a:solidFill>
                  <a:srgbClr val="526763"/>
                </a:solidFill>
                <a:latin typeface="Arial"/>
                <a:ea typeface="Arial"/>
                <a:cs typeface="Arial"/>
              </a:rPr>
              <a:t>Einsparpotenzial bewerten wir inklusive Betrieb,</a:t>
            </a:r>
          </a:p>
          <a:p xmlns:a="http://schemas.openxmlformats.org/drawingml/2006/main">
            <a:pPr>
              <a:buNone/>
              <a:defRPr sz="1875" b="0">
                <a:solidFill>
                  <a:srgbClr val="526763"/>
                </a:solidFill>
                <a:latin typeface="Arial"/>
                <a:ea typeface="Arial"/>
                <a:cs typeface="Arial"/>
              </a:defRPr>
            </a:pPr>
            <a:r>
              <a:rPr sz="1875" b="0">
                <a:solidFill>
                  <a:srgbClr val="526763"/>
                </a:solidFill>
                <a:latin typeface="Arial"/>
                <a:ea typeface="Arial"/>
                <a:cs typeface="Arial"/>
              </a:rPr>
              <a:t>Modellkosten und Pflege der Wissensbasis.</a:t>
            </a:r>
          </a:p>
        </p:txBody>
      </p:sp>
    </p:spTree>
    <p:extLst>
      <p:ext uri="{BB962C8B-B14F-4D97-AF65-F5344CB8AC3E}">
        <p14:creationId xmlns:p14="http://schemas.microsoft.com/office/powerpoint/2010/main" val="590920031"/>
      </p:ext>
    </p:extLst>
  </p:cSld>
</p:sld>
</file>

<file path=ppt/slides/slide18.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52A3E800-6E29-4DF8-B962-29FC631979BE}"/>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buNone/>
              <a:defRPr sz="1275" b="1">
                <a:solidFill>
                  <a:srgbClr val="D5F36B"/>
                </a:solidFill>
                <a:latin typeface="Arial"/>
                <a:ea typeface="Arial"/>
                <a:cs typeface="Arial"/>
              </a:defRPr>
            </a:pPr>
            <a:r>
              <a:rPr sz="1275" b="1">
                <a:solidFill>
                  <a:srgbClr val="D5F36B"/>
                </a:solidFill>
                <a:latin typeface="Arial"/>
                <a:ea typeface="Arial"/>
                <a:cs typeface="Arial"/>
              </a:rPr>
              <a:t>NÄCHSTER SCHRITT</a:t>
            </a:r>
          </a:p>
        </p:txBody>
      </p:sp>
      <p:sp>
        <p:nvSpPr>
          <p:cNvPr id="2" name="slide-title">
            <a:extLst xmlns:a="http://schemas.openxmlformats.org/drawingml/2006/main">
              <a:ext uri="{FF2B5EF4-FFF2-40B4-BE49-F238E27FC236}">
                <a16:creationId xmlns:a16="http://schemas.microsoft.com/office/drawing/2014/main" id="{E2AC19E4-1278-4413-B35F-3A40E71AD867}"/>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buNone/>
              <a:defRPr sz="3600" b="1">
                <a:solidFill>
                  <a:srgbClr val="F7FAF9"/>
                </a:solidFill>
                <a:latin typeface="Arial"/>
                <a:ea typeface="Arial"/>
                <a:cs typeface="Arial"/>
              </a:defRPr>
            </a:pPr>
            <a:r>
              <a:rPr sz="3600" b="1">
                <a:solidFill>
                  <a:srgbClr val="F7FAF9"/>
                </a:solidFill>
                <a:latin typeface="Arial"/>
                <a:ea typeface="Arial"/>
                <a:cs typeface="Arial"/>
              </a:rPr>
              <a:t>Ihr erster Anwendungsfall</a:t>
            </a:r>
          </a:p>
        </p:txBody>
      </p:sp>
      <p:sp>
        <p:nvSpPr>
          <p:cNvPr id="3" name="footer">
            <a:extLst xmlns:a="http://schemas.openxmlformats.org/drawingml/2006/main">
              <a:ext uri="{FF2B5EF4-FFF2-40B4-BE49-F238E27FC236}">
                <a16:creationId xmlns:a16="http://schemas.microsoft.com/office/drawing/2014/main" id="{32430DA4-14E6-40FF-97AB-BB3908FDC2D3}"/>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EF8C7E01-3B52-41B0-9D0A-88B29BCBC45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18</a:t>
            </a:r>
          </a:p>
        </p:txBody>
      </p:sp>
      <p:sp>
        <p:nvSpPr>
          <p:cNvPr id="5" name="body">
            <a:extLst xmlns:a="http://schemas.openxmlformats.org/drawingml/2006/main">
              <a:ext uri="{FF2B5EF4-FFF2-40B4-BE49-F238E27FC236}">
                <a16:creationId xmlns:a16="http://schemas.microsoft.com/office/drawing/2014/main" id="{DE9E0756-D9B4-43A6-B83C-32858D00C856}"/>
              </a:ext>
            </a:extLst>
          </p:cNvPr>
          <p:cNvSpPr>
            <a:spLocks xmlns:a="http://schemas.openxmlformats.org/drawingml/2006/main" noGrp="1"/>
          </p:cNvSpPr>
          <p:nvPr/>
        </p:nvSpPr>
        <p:spPr>
          <a:xfrm xmlns:a="http://schemas.openxmlformats.org/drawingml/2006/main">
            <a:off x="685800" y="2190750"/>
            <a:ext cx="104775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AF9"/>
                </a:solidFill>
                <a:latin typeface="Arial"/>
                <a:ea typeface="Arial"/>
                <a:cs typeface="Arial"/>
              </a:defRPr>
            </a:defPPr>
          </a:lstStyle>
          <a:p xmlns:a="http://schemas.openxmlformats.org/drawingml/2006/main">
            <a:pPr>
              <a:buNone/>
              <a:defRPr sz="3825" b="1">
                <a:solidFill>
                  <a:srgbClr val="F7FAF9"/>
                </a:solidFill>
                <a:latin typeface="Arial"/>
                <a:ea typeface="Arial"/>
                <a:cs typeface="Arial"/>
              </a:defRPr>
            </a:pPr>
            <a:r>
              <a:rPr sz="3825" b="1">
                <a:solidFill>
                  <a:srgbClr val="F7FAF9"/>
                </a:solidFill>
                <a:latin typeface="Arial"/>
                <a:ea typeface="Arial"/>
                <a:cs typeface="Arial"/>
              </a:rPr>
              <a:t>Welche wiederkehrende Serviceanfrage</a:t>
            </a:r>
          </a:p>
          <a:p xmlns:a="http://schemas.openxmlformats.org/drawingml/2006/main">
            <a:pPr>
              <a:buNone/>
              <a:defRPr sz="3825" b="1">
                <a:solidFill>
                  <a:srgbClr val="F7FAF9"/>
                </a:solidFill>
                <a:latin typeface="Arial"/>
                <a:ea typeface="Arial"/>
                <a:cs typeface="Arial"/>
              </a:defRPr>
            </a:pPr>
            <a:r>
              <a:rPr sz="3825" b="1">
                <a:solidFill>
                  <a:srgbClr val="F7FAF9"/>
                </a:solidFill>
                <a:latin typeface="Arial"/>
                <a:ea typeface="Arial"/>
                <a:cs typeface="Arial"/>
              </a:rPr>
              <a:t>soll Ihr Team zuerst entlasten?</a:t>
            </a:r>
          </a:p>
        </p:txBody>
      </p:sp>
      <p:sp>
        <p:nvSpPr>
          <p:cNvPr id="6" name="body">
            <a:extLst xmlns:a="http://schemas.openxmlformats.org/drawingml/2006/main">
              <a:ext uri="{FF2B5EF4-FFF2-40B4-BE49-F238E27FC236}">
                <a16:creationId xmlns:a16="http://schemas.microsoft.com/office/drawing/2014/main" id="{B4BFE952-005B-4005-9EE1-73E86E963D87}"/>
              </a:ext>
            </a:extLst>
          </p:cNvPr>
          <p:cNvSpPr>
            <a:spLocks xmlns:a="http://schemas.openxmlformats.org/drawingml/2006/main" noGrp="1"/>
          </p:cNvSpPr>
          <p:nvPr/>
        </p:nvSpPr>
        <p:spPr>
          <a:xfrm xmlns:a="http://schemas.openxmlformats.org/drawingml/2006/main">
            <a:off x="685800" y="41529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7FAF9"/>
                </a:solidFill>
                <a:latin typeface="Arial"/>
                <a:ea typeface="Arial"/>
                <a:cs typeface="Arial"/>
              </a:defRPr>
            </a:defPPr>
          </a:lstStyle>
          <a:p xmlns:a="http://schemas.openxmlformats.org/drawingml/2006/main">
            <a:pPr>
              <a:buNone/>
              <a:defRPr sz="2400" b="0">
                <a:solidFill>
                  <a:srgbClr val="F7FAF9"/>
                </a:solidFill>
                <a:latin typeface="Arial"/>
                <a:ea typeface="Arial"/>
                <a:cs typeface="Arial"/>
              </a:defRPr>
            </a:pPr>
            <a:r>
              <a:rPr sz="2400" b="0">
                <a:solidFill>
                  <a:srgbClr val="F7FAF9"/>
                </a:solidFill>
                <a:latin typeface="Arial"/>
                <a:ea typeface="Arial"/>
                <a:cs typeface="Arial"/>
              </a:rPr>
              <a:t>Ein kurzer Termin klärt Quellen, Supportkanal</a:t>
            </a:r>
          </a:p>
          <a:p xmlns:a="http://schemas.openxmlformats.org/drawingml/2006/main">
            <a:pPr>
              <a:buNone/>
              <a:defRPr sz="2400" b="0">
                <a:solidFill>
                  <a:srgbClr val="F7FAF9"/>
                </a:solidFill>
                <a:latin typeface="Arial"/>
                <a:ea typeface="Arial"/>
                <a:cs typeface="Arial"/>
              </a:defRPr>
            </a:pPr>
            <a:r>
              <a:rPr sz="2400" b="0">
                <a:solidFill>
                  <a:srgbClr val="F7FAF9"/>
                </a:solidFill>
                <a:latin typeface="Arial"/>
                <a:ea typeface="Arial"/>
                <a:cs typeface="Arial"/>
              </a:rPr>
              <a:t>und den passenden Pilotumfang.</a:t>
            </a:r>
          </a:p>
        </p:txBody>
      </p:sp>
      <p:sp>
        <p:nvSpPr>
          <p:cNvPr id="7" name="body">
            <a:extLst xmlns:a="http://schemas.openxmlformats.org/drawingml/2006/main">
              <a:ext uri="{FF2B5EF4-FFF2-40B4-BE49-F238E27FC236}">
                <a16:creationId xmlns:a16="http://schemas.microsoft.com/office/drawing/2014/main" id="{868787AC-452E-4798-BB70-A6822F1EBE05}"/>
              </a:ext>
            </a:extLst>
          </p:cNvPr>
          <p:cNvSpPr>
            <a:spLocks xmlns:a="http://schemas.openxmlformats.org/drawingml/2006/main" noGrp="1"/>
          </p:cNvSpPr>
          <p:nvPr/>
        </p:nvSpPr>
        <p:spPr>
          <a:xfrm xmlns:a="http://schemas.openxmlformats.org/drawingml/2006/main">
            <a:off x="685800" y="557212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5F36B"/>
                </a:solidFill>
                <a:latin typeface="Arial"/>
                <a:ea typeface="Arial"/>
                <a:cs typeface="Arial"/>
              </a:defRPr>
            </a:defPPr>
          </a:lstStyle>
          <a:p xmlns:a="http://schemas.openxmlformats.org/drawingml/2006/main">
            <a:pPr>
              <a:buNone/>
              <a:defRPr sz="2400" b="0">
                <a:solidFill>
                  <a:srgbClr val="D5F36B"/>
                </a:solidFill>
                <a:latin typeface="Arial"/>
                <a:ea typeface="Arial"/>
                <a:cs typeface="Arial"/>
              </a:defRPr>
            </a:pPr>
            <a:r>
              <a:rPr sz="2400" b="0">
                <a:solidFill>
                  <a:srgbClr val="D5F36B"/>
                </a:solidFill>
                <a:latin typeface="Arial"/>
                <a:ea typeface="Arial"/>
                <a:cs typeface="Arial"/>
                <a:hlinkClick xmlns:r="http://schemas.openxmlformats.org/officeDocument/2006/relationships" r:id="R6d9cddb0670e4081"/>
              </a:rPr>
              <a:t>kontakt@kieks.me</a:t>
            </a:r>
          </a:p>
        </p:txBody>
      </p:sp>
      <p:sp>
        <p:nvSpPr>
          <p:cNvPr id="8" name="body">
            <a:extLst xmlns:a="http://schemas.openxmlformats.org/drawingml/2006/main">
              <a:ext uri="{FF2B5EF4-FFF2-40B4-BE49-F238E27FC236}">
                <a16:creationId xmlns:a16="http://schemas.microsoft.com/office/drawing/2014/main" id="{D0EB651E-F281-4071-9563-CC8A08E6C1D4}"/>
              </a:ext>
            </a:extLst>
          </p:cNvPr>
          <p:cNvSpPr>
            <a:spLocks xmlns:a="http://schemas.openxmlformats.org/drawingml/2006/main" noGrp="1"/>
          </p:cNvSpPr>
          <p:nvPr/>
        </p:nvSpPr>
        <p:spPr>
          <a:xfrm xmlns:a="http://schemas.openxmlformats.org/drawingml/2006/main">
            <a:off x="6191250" y="562927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5F36B"/>
                </a:solidFill>
                <a:latin typeface="Arial"/>
                <a:ea typeface="Arial"/>
                <a:cs typeface="Arial"/>
              </a:defRPr>
            </a:defPPr>
          </a:lstStyle>
          <a:p xmlns:a="http://schemas.openxmlformats.org/drawingml/2006/main">
            <a:pPr>
              <a:buNone/>
              <a:defRPr sz="1875" b="0">
                <a:solidFill>
                  <a:srgbClr val="D5F36B"/>
                </a:solidFill>
                <a:latin typeface="Arial"/>
                <a:ea typeface="Arial"/>
                <a:cs typeface="Arial"/>
              </a:defRPr>
            </a:pPr>
            <a:r>
              <a:rPr sz="1875" b="0">
                <a:solidFill>
                  <a:srgbClr val="D5F36B"/>
                </a:solidFill>
                <a:latin typeface="Arial"/>
                <a:ea typeface="Arial"/>
                <a:cs typeface="Arial"/>
                <a:hlinkClick xmlns:r="http://schemas.openxmlformats.org/officeDocument/2006/relationships" r:id="Rba87b5384d5247fa"/>
              </a:rPr>
              <a:t>csp-brand-kieksme.netlify.app</a:t>
            </a:r>
          </a:p>
        </p:txBody>
      </p:sp>
    </p:spTree>
    <p:extLst>
      <p:ext uri="{BB962C8B-B14F-4D97-AF65-F5344CB8AC3E}">
        <p14:creationId xmlns:p14="http://schemas.microsoft.com/office/powerpoint/2010/main" val="709388657"/>
      </p:ext>
    </p:extLst>
  </p:cSld>
</p:sld>
</file>

<file path=ppt/slides/slide19.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6EEE8767-15F4-4B34-BCCF-FA091FD2EE22}"/>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ZUSATZFOLIE FÜR KOLLEGEN</a:t>
            </a:r>
          </a:p>
        </p:txBody>
      </p:sp>
      <p:sp>
        <p:nvSpPr>
          <p:cNvPr id="2" name="slide-title">
            <a:extLst xmlns:a="http://schemas.openxmlformats.org/drawingml/2006/main">
              <a:ext uri="{FF2B5EF4-FFF2-40B4-BE49-F238E27FC236}">
                <a16:creationId xmlns:a16="http://schemas.microsoft.com/office/drawing/2014/main" id="{7118D290-2511-4896-AC8E-4FF92BEC0F90}"/>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Für die interne Diskussion</a:t>
            </a:r>
          </a:p>
        </p:txBody>
      </p:sp>
      <p:sp>
        <p:nvSpPr>
          <p:cNvPr id="3" name="footer">
            <a:extLst xmlns:a="http://schemas.openxmlformats.org/drawingml/2006/main">
              <a:ext uri="{FF2B5EF4-FFF2-40B4-BE49-F238E27FC236}">
                <a16:creationId xmlns:a16="http://schemas.microsoft.com/office/drawing/2014/main" id="{9985DE2C-F124-419C-81A2-FCFC2F76C3B6}"/>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0A4D415-5E9E-48E7-B781-A6B18068D6C6}"/>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19</a:t>
            </a:r>
          </a:p>
        </p:txBody>
      </p:sp>
      <p:sp>
        <p:nvSpPr>
          <p:cNvPr id="5" name="body">
            <a:extLst xmlns:a="http://schemas.openxmlformats.org/drawingml/2006/main">
              <a:ext uri="{FF2B5EF4-FFF2-40B4-BE49-F238E27FC236}">
                <a16:creationId xmlns:a16="http://schemas.microsoft.com/office/drawing/2014/main" id="{217C70E6-7ADB-4E28-A58B-EB2E361FAF67}"/>
              </a:ext>
            </a:extLst>
          </p:cNvPr>
          <p:cNvSpPr>
            <a:spLocks xmlns:a="http://schemas.openxmlformats.org/drawingml/2006/main" noGrp="1"/>
          </p:cNvSpPr>
          <p:nvPr/>
        </p:nvSpPr>
        <p:spPr>
          <a:xfrm xmlns:a="http://schemas.openxmlformats.org/drawingml/2006/main">
            <a:off x="685800" y="22764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buNone/>
              <a:defRPr sz="2325" b="1">
                <a:solidFill>
                  <a:srgbClr val="006B64"/>
                </a:solidFill>
                <a:latin typeface="Arial"/>
                <a:ea typeface="Arial"/>
                <a:cs typeface="Arial"/>
              </a:defRPr>
            </a:pPr>
            <a:r>
              <a:rPr sz="2325" b="1">
                <a:solidFill>
                  <a:srgbClr val="006B64"/>
                </a:solidFill>
                <a:latin typeface="Arial"/>
                <a:ea typeface="Arial"/>
                <a:cs typeface="Arial"/>
              </a:rPr>
              <a:t>Gemeinsame Produktbasis</a:t>
            </a:r>
          </a:p>
        </p:txBody>
      </p:sp>
      <p:sp>
        <p:nvSpPr>
          <p:cNvPr id="6" name="body">
            <a:extLst xmlns:a="http://schemas.openxmlformats.org/drawingml/2006/main">
              <a:ext uri="{FF2B5EF4-FFF2-40B4-BE49-F238E27FC236}">
                <a16:creationId xmlns:a16="http://schemas.microsoft.com/office/drawing/2014/main" id="{F5429884-79DA-4972-B38E-58FD5AF4951B}"/>
              </a:ext>
            </a:extLst>
          </p:cNvPr>
          <p:cNvSpPr>
            <a:spLocks xmlns:a="http://schemas.openxmlformats.org/drawingml/2006/main" noGrp="1"/>
          </p:cNvSpPr>
          <p:nvPr/>
        </p:nvSpPr>
        <p:spPr>
          <a:xfrm xmlns:a="http://schemas.openxmlformats.org/drawingml/2006/main">
            <a:off x="685800" y="2819400"/>
            <a:ext cx="514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Plugins und UI wiederverwenden.</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Kundenanpassungen gezielt abgrenzen.</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Erfahrungen in Skills dokumentieren.</a:t>
            </a:r>
          </a:p>
        </p:txBody>
      </p:sp>
      <p:sp>
        <p:nvSpPr>
          <p:cNvPr id="7" name="body">
            <a:extLst xmlns:a="http://schemas.openxmlformats.org/drawingml/2006/main">
              <a:ext uri="{FF2B5EF4-FFF2-40B4-BE49-F238E27FC236}">
                <a16:creationId xmlns:a16="http://schemas.microsoft.com/office/drawing/2014/main" id="{937B345E-6BC4-4791-9019-F99D77D65486}"/>
              </a:ext>
            </a:extLst>
          </p:cNvPr>
          <p:cNvSpPr>
            <a:spLocks xmlns:a="http://schemas.openxmlformats.org/drawingml/2006/main" noGrp="1"/>
          </p:cNvSpPr>
          <p:nvPr/>
        </p:nvSpPr>
        <p:spPr>
          <a:xfrm xmlns:a="http://schemas.openxmlformats.org/drawingml/2006/main">
            <a:off x="6572250" y="2276475"/>
            <a:ext cx="4933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buNone/>
              <a:defRPr sz="2325" b="1">
                <a:solidFill>
                  <a:srgbClr val="006B64"/>
                </a:solidFill>
                <a:latin typeface="Arial"/>
                <a:ea typeface="Arial"/>
                <a:cs typeface="Arial"/>
              </a:defRPr>
            </a:pPr>
            <a:r>
              <a:rPr sz="2325" b="1">
                <a:solidFill>
                  <a:srgbClr val="006B64"/>
                </a:solidFill>
                <a:latin typeface="Arial"/>
                <a:ea typeface="Arial"/>
                <a:cs typeface="Arial"/>
              </a:rPr>
              <a:t>Verantwortung im Pilot</a:t>
            </a:r>
          </a:p>
        </p:txBody>
      </p:sp>
      <p:sp>
        <p:nvSpPr>
          <p:cNvPr id="8" name="body">
            <a:extLst xmlns:a="http://schemas.openxmlformats.org/drawingml/2006/main">
              <a:ext uri="{FF2B5EF4-FFF2-40B4-BE49-F238E27FC236}">
                <a16:creationId xmlns:a16="http://schemas.microsoft.com/office/drawing/2014/main" id="{DC0D874A-89C3-4FAD-9B46-2314731F8550}"/>
              </a:ext>
            </a:extLst>
          </p:cNvPr>
          <p:cNvSpPr>
            <a:spLocks xmlns:a="http://schemas.openxmlformats.org/drawingml/2006/main" noGrp="1"/>
          </p:cNvSpPr>
          <p:nvPr/>
        </p:nvSpPr>
        <p:spPr>
          <a:xfrm xmlns:a="http://schemas.openxmlformats.org/drawingml/2006/main">
            <a:off x="6572250" y="2819400"/>
            <a:ext cx="49339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Projektumfang und Ansprechpartner</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benennen. Integration testen.</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Betrieb und Wissenspflege klären.</a:t>
            </a:r>
          </a:p>
        </p:txBody>
      </p:sp>
      <p:sp>
        <p:nvSpPr>
          <p:cNvPr id="9" name="body">
            <a:extLst xmlns:a="http://schemas.openxmlformats.org/drawingml/2006/main">
              <a:ext uri="{FF2B5EF4-FFF2-40B4-BE49-F238E27FC236}">
                <a16:creationId xmlns:a16="http://schemas.microsoft.com/office/drawing/2014/main" id="{98D225B4-7600-458D-AA5B-67A1B0D251A0}"/>
              </a:ext>
            </a:extLst>
          </p:cNvPr>
          <p:cNvSpPr>
            <a:spLocks xmlns:a="http://schemas.openxmlformats.org/drawingml/2006/main" noGrp="1"/>
          </p:cNvSpPr>
          <p:nvPr/>
        </p:nvSpPr>
        <p:spPr>
          <a:xfrm xmlns:a="http://schemas.openxmlformats.org/drawingml/2006/main">
            <a:off x="685800" y="4781550"/>
            <a:ext cx="1047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06B64"/>
                </a:solidFill>
                <a:latin typeface="Arial"/>
                <a:ea typeface="Arial"/>
                <a:cs typeface="Arial"/>
              </a:defRPr>
            </a:defPPr>
          </a:lstStyle>
          <a:p xmlns:a="http://schemas.openxmlformats.org/drawingml/2006/main">
            <a:pPr>
              <a:buNone/>
              <a:defRPr sz="2625" b="1">
                <a:solidFill>
                  <a:srgbClr val="006B64"/>
                </a:solidFill>
                <a:latin typeface="Arial"/>
                <a:ea typeface="Arial"/>
                <a:cs typeface="Arial"/>
              </a:defRPr>
            </a:pPr>
            <a:r>
              <a:rPr sz="2625" b="1">
                <a:solidFill>
                  <a:srgbClr val="006B64"/>
                </a:solidFill>
                <a:latin typeface="Arial"/>
                <a:ea typeface="Arial"/>
                <a:cs typeface="Arial"/>
              </a:rPr>
              <a:t>Vorschlag: ein Pilotprojekt als Referenz für das Angebot.</a:t>
            </a:r>
          </a:p>
        </p:txBody>
      </p:sp>
      <p:sp>
        <p:nvSpPr>
          <p:cNvPr id="10" name="body">
            <a:extLst xmlns:a="http://schemas.openxmlformats.org/drawingml/2006/main">
              <a:ext uri="{FF2B5EF4-FFF2-40B4-BE49-F238E27FC236}">
                <a16:creationId xmlns:a16="http://schemas.microsoft.com/office/drawing/2014/main" id="{B6C6890A-0542-4EFF-9128-8E6446B7D453}"/>
              </a:ext>
            </a:extLst>
          </p:cNvPr>
          <p:cNvSpPr>
            <a:spLocks xmlns:a="http://schemas.openxmlformats.org/drawingml/2006/main" noGrp="1"/>
          </p:cNvSpPr>
          <p:nvPr/>
        </p:nvSpPr>
        <p:spPr>
          <a:xfrm xmlns:a="http://schemas.openxmlformats.org/drawingml/2006/main">
            <a:off x="685800" y="5676900"/>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763"/>
                </a:solidFill>
                <a:latin typeface="Arial"/>
                <a:ea typeface="Arial"/>
                <a:cs typeface="Arial"/>
              </a:defRPr>
            </a:defPPr>
          </a:lstStyle>
          <a:p xmlns:a="http://schemas.openxmlformats.org/drawingml/2006/main">
            <a:pPr>
              <a:buNone/>
              <a:defRPr sz="1875" b="0">
                <a:solidFill>
                  <a:srgbClr val="526763"/>
                </a:solidFill>
                <a:latin typeface="Arial"/>
                <a:ea typeface="Arial"/>
                <a:cs typeface="Arial"/>
              </a:defRPr>
            </a:pPr>
            <a:r>
              <a:rPr sz="1875" b="0">
                <a:solidFill>
                  <a:srgbClr val="526763"/>
                </a:solidFill>
                <a:latin typeface="Arial"/>
                <a:ea typeface="Arial"/>
                <a:cs typeface="Arial"/>
              </a:rPr>
              <a:t>Zuerst eigene Ergebnisse gewinnen. Danach entscheiden wir</a:t>
            </a:r>
          </a:p>
          <a:p xmlns:a="http://schemas.openxmlformats.org/drawingml/2006/main">
            <a:pPr>
              <a:buNone/>
              <a:defRPr sz="1875" b="0">
                <a:solidFill>
                  <a:srgbClr val="526763"/>
                </a:solidFill>
                <a:latin typeface="Arial"/>
                <a:ea typeface="Arial"/>
                <a:cs typeface="Arial"/>
              </a:defRPr>
            </a:pPr>
            <a:r>
              <a:rPr sz="1875" b="0">
                <a:solidFill>
                  <a:srgbClr val="526763"/>
                </a:solidFill>
                <a:latin typeface="Arial"/>
                <a:ea typeface="Arial"/>
                <a:cs typeface="Arial"/>
              </a:rPr>
              <a:t>über wiederholbare Leistungen und weitere Kundenprojekte.</a:t>
            </a:r>
          </a:p>
        </p:txBody>
      </p:sp>
    </p:spTree>
    <p:extLst>
      <p:ext uri="{BB962C8B-B14F-4D97-AF65-F5344CB8AC3E}">
        <p14:creationId xmlns:p14="http://schemas.microsoft.com/office/powerpoint/2010/main" val="1513608869"/>
      </p:ext>
    </p:extLst>
  </p:cSld>
</p:sld>
</file>

<file path=ppt/slides/slide20.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E9A493D8-CB4B-4986-9379-74D453243783}"/>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ANHANG FÜR RÜCKFRAGEN</a:t>
            </a:r>
          </a:p>
        </p:txBody>
      </p:sp>
      <p:sp>
        <p:nvSpPr>
          <p:cNvPr id="2" name="slide-title">
            <a:extLst xmlns:a="http://schemas.openxmlformats.org/drawingml/2006/main">
              <a:ext uri="{FF2B5EF4-FFF2-40B4-BE49-F238E27FC236}">
                <a16:creationId xmlns:a16="http://schemas.microsoft.com/office/drawing/2014/main" id="{E3CF1B1E-398E-4C39-AAC5-C2886C2B081D}"/>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Technische Basis und Integrationsgrenzen</a:t>
            </a:r>
          </a:p>
        </p:txBody>
      </p:sp>
      <p:sp>
        <p:nvSpPr>
          <p:cNvPr id="3" name="footer">
            <a:extLst xmlns:a="http://schemas.openxmlformats.org/drawingml/2006/main">
              <a:ext uri="{FF2B5EF4-FFF2-40B4-BE49-F238E27FC236}">
                <a16:creationId xmlns:a16="http://schemas.microsoft.com/office/drawing/2014/main" id="{96360847-E436-43DB-8B5F-77CC0658EEB5}"/>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AB6E8C0-A5B8-41AE-8603-13029C0516E5}"/>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20</a:t>
            </a:r>
          </a:p>
        </p:txBody>
      </p:sp>
      <p:sp>
        <p:nvSpPr>
          <p:cNvPr id="5" name="body">
            <a:extLst xmlns:a="http://schemas.openxmlformats.org/drawingml/2006/main">
              <a:ext uri="{FF2B5EF4-FFF2-40B4-BE49-F238E27FC236}">
                <a16:creationId xmlns:a16="http://schemas.microsoft.com/office/drawing/2014/main" id="{A28DBF66-9AAA-49BC-A1E3-9B05B4FC6C1B}"/>
              </a:ext>
            </a:extLst>
          </p:cNvPr>
          <p:cNvSpPr>
            <a:spLocks xmlns:a="http://schemas.openxmlformats.org/drawingml/2006/main" noGrp="1"/>
          </p:cNvSpPr>
          <p:nvPr/>
        </p:nvSpPr>
        <p:spPr>
          <a:xfrm xmlns:a="http://schemas.openxmlformats.org/drawingml/2006/main">
            <a:off x="685800" y="22669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buNone/>
              <a:defRPr sz="2325" b="1">
                <a:solidFill>
                  <a:srgbClr val="006B64"/>
                </a:solidFill>
                <a:latin typeface="Arial"/>
                <a:ea typeface="Arial"/>
                <a:cs typeface="Arial"/>
              </a:defRPr>
            </a:pPr>
            <a:r>
              <a:rPr sz="2325" b="1">
                <a:solidFill>
                  <a:srgbClr val="006B64"/>
                </a:solidFill>
                <a:latin typeface="Arial"/>
                <a:ea typeface="Arial"/>
                <a:cs typeface="Arial"/>
              </a:rPr>
              <a:t>Produktbasis</a:t>
            </a:r>
          </a:p>
        </p:txBody>
      </p:sp>
      <p:sp>
        <p:nvSpPr>
          <p:cNvPr id="6" name="body">
            <a:extLst xmlns:a="http://schemas.openxmlformats.org/drawingml/2006/main">
              <a:ext uri="{FF2B5EF4-FFF2-40B4-BE49-F238E27FC236}">
                <a16:creationId xmlns:a16="http://schemas.microsoft.com/office/drawing/2014/main" id="{89667498-A0BD-4135-9501-44495BE7B7E4}"/>
              </a:ext>
            </a:extLst>
          </p:cNvPr>
          <p:cNvSpPr>
            <a:spLocks xmlns:a="http://schemas.openxmlformats.org/drawingml/2006/main" noGrp="1"/>
          </p:cNvSpPr>
          <p:nvPr/>
        </p:nvSpPr>
        <p:spPr>
          <a:xfrm xmlns:a="http://schemas.openxmlformats.org/drawingml/2006/main">
            <a:off x="685800" y="2809875"/>
            <a:ext cx="514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React-PWA, Fastify und Plugin-SDK</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Modellanbieter nach Konfiguration</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Eigene Inhalte und Live-Quellen</a:t>
            </a:r>
          </a:p>
        </p:txBody>
      </p:sp>
      <p:sp>
        <p:nvSpPr>
          <p:cNvPr id="7" name="body">
            <a:extLst xmlns:a="http://schemas.openxmlformats.org/drawingml/2006/main">
              <a:ext uri="{FF2B5EF4-FFF2-40B4-BE49-F238E27FC236}">
                <a16:creationId xmlns:a16="http://schemas.microsoft.com/office/drawing/2014/main" id="{AF5942E3-80DC-4AEC-A596-EE56D677E4EC}"/>
              </a:ext>
            </a:extLst>
          </p:cNvPr>
          <p:cNvSpPr>
            <a:spLocks xmlns:a="http://schemas.openxmlformats.org/drawingml/2006/main" noGrp="1"/>
          </p:cNvSpPr>
          <p:nvPr/>
        </p:nvSpPr>
        <p:spPr>
          <a:xfrm xmlns:a="http://schemas.openxmlformats.org/drawingml/2006/main">
            <a:off x="6572250" y="2266950"/>
            <a:ext cx="4933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6B64"/>
                </a:solidFill>
                <a:latin typeface="Arial"/>
                <a:ea typeface="Arial"/>
                <a:cs typeface="Arial"/>
              </a:defRPr>
            </a:defPPr>
          </a:lstStyle>
          <a:p xmlns:a="http://schemas.openxmlformats.org/drawingml/2006/main">
            <a:pPr>
              <a:buNone/>
              <a:defRPr sz="2325" b="1">
                <a:solidFill>
                  <a:srgbClr val="006B64"/>
                </a:solidFill>
                <a:latin typeface="Arial"/>
                <a:ea typeface="Arial"/>
                <a:cs typeface="Arial"/>
              </a:defRPr>
            </a:pPr>
            <a:r>
              <a:rPr sz="2325" b="1">
                <a:solidFill>
                  <a:srgbClr val="006B64"/>
                </a:solidFill>
                <a:latin typeface="Arial"/>
                <a:ea typeface="Arial"/>
                <a:cs typeface="Arial"/>
              </a:rPr>
              <a:t>Vor dem Kundenstart</a:t>
            </a:r>
          </a:p>
        </p:txBody>
      </p:sp>
      <p:sp>
        <p:nvSpPr>
          <p:cNvPr id="8" name="body">
            <a:extLst xmlns:a="http://schemas.openxmlformats.org/drawingml/2006/main">
              <a:ext uri="{FF2B5EF4-FFF2-40B4-BE49-F238E27FC236}">
                <a16:creationId xmlns:a16="http://schemas.microsoft.com/office/drawing/2014/main" id="{FA262A1A-5C67-4A75-8D2F-2C93E1C54699}"/>
              </a:ext>
            </a:extLst>
          </p:cNvPr>
          <p:cNvSpPr>
            <a:spLocks xmlns:a="http://schemas.openxmlformats.org/drawingml/2006/main" noGrp="1"/>
          </p:cNvSpPr>
          <p:nvPr/>
        </p:nvSpPr>
        <p:spPr>
          <a:xfrm xmlns:a="http://schemas.openxmlformats.org/drawingml/2006/main">
            <a:off x="6572250" y="2809875"/>
            <a:ext cx="49339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A2A"/>
                </a:solidFill>
                <a:latin typeface="Arial"/>
                <a:ea typeface="Arial"/>
                <a:cs typeface="Arial"/>
              </a:defRPr>
            </a:defPPr>
          </a:lstStyle>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Zugänge und Live-Verbindungen testen</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Supportzeiten und Datenhaltung klären</a:t>
            </a:r>
          </a:p>
          <a:p xmlns:a="http://schemas.openxmlformats.org/drawingml/2006/main">
            <a:pPr>
              <a:buNone/>
              <a:defRPr sz="2025" b="0">
                <a:solidFill>
                  <a:srgbClr val="102A2A"/>
                </a:solidFill>
                <a:latin typeface="Arial"/>
                <a:ea typeface="Arial"/>
                <a:cs typeface="Arial"/>
              </a:defRPr>
            </a:pPr>
            <a:r>
              <a:rPr sz="2025" b="0">
                <a:solidFill>
                  <a:srgbClr val="102A2A"/>
                </a:solidFill>
                <a:latin typeface="Arial"/>
                <a:ea typeface="Arial"/>
                <a:cs typeface="Arial"/>
              </a:rPr>
              <a:t>Antwortqualität im Pilot prüfen</a:t>
            </a:r>
          </a:p>
        </p:txBody>
      </p:sp>
      <p:sp>
        <p:nvSpPr>
          <p:cNvPr id="9" name="body">
            <a:extLst xmlns:a="http://schemas.openxmlformats.org/drawingml/2006/main">
              <a:ext uri="{FF2B5EF4-FFF2-40B4-BE49-F238E27FC236}">
                <a16:creationId xmlns:a16="http://schemas.microsoft.com/office/drawing/2014/main" id="{447BA41E-2B45-431A-841C-3ACFC628C14E}"/>
              </a:ext>
            </a:extLst>
          </p:cNvPr>
          <p:cNvSpPr>
            <a:spLocks xmlns:a="http://schemas.openxmlformats.org/drawingml/2006/main" noGrp="1"/>
          </p:cNvSpPr>
          <p:nvPr/>
        </p:nvSpPr>
        <p:spPr>
          <a:xfrm xmlns:a="http://schemas.openxmlformats.org/drawingml/2006/main">
            <a:off x="685800" y="48006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6B64"/>
                </a:solidFill>
                <a:latin typeface="Arial"/>
                <a:ea typeface="Arial"/>
                <a:cs typeface="Arial"/>
              </a:defRPr>
            </a:defPPr>
          </a:lstStyle>
          <a:p xmlns:a="http://schemas.openxmlformats.org/drawingml/2006/main">
            <a:pPr>
              <a:buNone/>
              <a:defRPr sz="2475" b="1">
                <a:solidFill>
                  <a:srgbClr val="006B64"/>
                </a:solidFill>
                <a:latin typeface="Arial"/>
                <a:ea typeface="Arial"/>
                <a:cs typeface="Arial"/>
              </a:defRPr>
            </a:pPr>
            <a:r>
              <a:rPr sz="2475" b="1">
                <a:solidFill>
                  <a:srgbClr val="006B64"/>
                </a:solidFill>
                <a:latin typeface="Arial"/>
                <a:ea typeface="Arial"/>
                <a:cs typeface="Arial"/>
              </a:rPr>
              <a:t>Die KI führt keine eigenständigen Ticket- oder Alert-Aktionen aus.</a:t>
            </a:r>
          </a:p>
        </p:txBody>
      </p:sp>
      <p:sp>
        <p:nvSpPr>
          <p:cNvPr id="10" name="body">
            <a:extLst xmlns:a="http://schemas.openxmlformats.org/drawingml/2006/main">
              <a:ext uri="{FF2B5EF4-FFF2-40B4-BE49-F238E27FC236}">
                <a16:creationId xmlns:a16="http://schemas.microsoft.com/office/drawing/2014/main" id="{90FB0ECC-E469-47C9-B487-C83A1AF77F2D}"/>
              </a:ext>
            </a:extLst>
          </p:cNvPr>
          <p:cNvSpPr>
            <a:spLocks xmlns:a="http://schemas.openxmlformats.org/drawingml/2006/main" noGrp="1"/>
          </p:cNvSpPr>
          <p:nvPr/>
        </p:nvSpPr>
        <p:spPr>
          <a:xfrm xmlns:a="http://schemas.openxmlformats.org/drawingml/2006/main">
            <a:off x="685800" y="572452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763"/>
                </a:solidFill>
                <a:latin typeface="Arial"/>
                <a:ea typeface="Arial"/>
                <a:cs typeface="Arial"/>
              </a:defRPr>
            </a:defPPr>
          </a:lstStyle>
          <a:p xmlns:a="http://schemas.openxmlformats.org/drawingml/2006/main">
            <a:pPr>
              <a:buNone/>
              <a:defRPr sz="1650" b="0">
                <a:solidFill>
                  <a:srgbClr val="526763"/>
                </a:solidFill>
                <a:latin typeface="Arial"/>
                <a:ea typeface="Arial"/>
                <a:cs typeface="Arial"/>
              </a:defRPr>
            </a:pPr>
            <a:r>
              <a:rPr sz="1650" b="0">
                <a:solidFill>
                  <a:srgbClr val="526763"/>
                </a:solidFill>
                <a:latin typeface="Arial"/>
                <a:ea typeface="Arial"/>
                <a:cs typeface="Arial"/>
              </a:rPr>
              <a:t>Produktbaseline: CSP 0.13.4. Quellen und Integrationsdetails</a:t>
            </a:r>
          </a:p>
          <a:p xmlns:a="http://schemas.openxmlformats.org/drawingml/2006/main">
            <a:pPr>
              <a:buNone/>
              <a:defRPr sz="1650" b="0">
                <a:solidFill>
                  <a:srgbClr val="526763"/>
                </a:solidFill>
                <a:latin typeface="Arial"/>
                <a:ea typeface="Arial"/>
                <a:cs typeface="Arial"/>
              </a:defRPr>
            </a:pPr>
            <a:r>
              <a:rPr sz="1650" b="0">
                <a:solidFill>
                  <a:srgbClr val="526763"/>
                </a:solidFill>
                <a:latin typeface="Arial"/>
                <a:ea typeface="Arial"/>
                <a:cs typeface="Arial"/>
              </a:rPr>
              <a:t>stehen in den jeweiligen Sprechernotizen.</a:t>
            </a:r>
          </a:p>
        </p:txBody>
      </p:sp>
    </p:spTree>
    <p:extLst>
      <p:ext uri="{BB962C8B-B14F-4D97-AF65-F5344CB8AC3E}">
        <p14:creationId xmlns:p14="http://schemas.microsoft.com/office/powerpoint/2010/main" val="2064725013"/>
      </p:ext>
    </p:extLst>
  </p:cSld>
</p:sld>
</file>

<file path=ppt/slides/slide21.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155A63E-362F-41E0-8365-4555E0EF37E7}"/>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ANHANG · SAAS-PREISBEISPIELE</a:t>
            </a:r>
          </a:p>
        </p:txBody>
      </p:sp>
      <p:sp>
        <p:nvSpPr>
          <p:cNvPr id="2" name="slide-title">
            <a:extLst xmlns:a="http://schemas.openxmlformats.org/drawingml/2006/main">
              <a:ext uri="{FF2B5EF4-FFF2-40B4-BE49-F238E27FC236}">
                <a16:creationId xmlns:a16="http://schemas.microsoft.com/office/drawing/2014/main" id="{5CBE7200-0B83-405B-8911-400D709F84A4}"/>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Preislogik: die Einheit macht den Unterschied</a:t>
            </a:r>
          </a:p>
        </p:txBody>
      </p:sp>
      <p:sp>
        <p:nvSpPr>
          <p:cNvPr id="3" name="footer">
            <a:extLst xmlns:a="http://schemas.openxmlformats.org/drawingml/2006/main">
              <a:ext uri="{FF2B5EF4-FFF2-40B4-BE49-F238E27FC236}">
                <a16:creationId xmlns:a16="http://schemas.microsoft.com/office/drawing/2014/main" id="{6D6C1DE6-C774-4750-82E5-A3E52C2C5825}"/>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2A003F92-BB20-45B2-A5C2-1F7B84E4F385}"/>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21</a:t>
            </a:r>
          </a:p>
        </p:txBody>
      </p:sp>
      <p:graphicFrame>
        <p:nvGraphicFramePr>
          <p:cNvPr id="5" name="">
            <a:extLst xmlns:a="http://schemas.openxmlformats.org/drawingml/2006/main">
              <a:ext uri="{FF2B5EF4-FFF2-40B4-BE49-F238E27FC236}">
                <a16:creationId xmlns:a16="http://schemas.microsoft.com/office/drawing/2014/main" id="{2F69E0EB-08EB-4BDD-8EA4-9FEB9E8475F5}"/>
              </a:ext>
            </a:extLst>
          </p:cNvPr>
          <p:cNvGraphicFramePr/>
          <p:nvPr/>
        </p:nvGraphicFramePr>
        <p:xfrm>
          <a:off xmlns:a="http://schemas.openxmlformats.org/drawingml/2006/main" x="685800" y="1952625"/>
          <a:ext xmlns:a="http://schemas.openxmlformats.org/drawingml/2006/main" cx="10820400" cy="3600450"/>
        </p:xfrm>
        <a:graphic xmlns:a="http://schemas.openxmlformats.org/drawingml/2006/main">
          <a:graphicData uri="http://schemas.openxmlformats.org/drawingml/2006/table">
            <a:tbl>
              <a:tblPr/>
              <a:tblGrid>
                <a:gridCol w="2667000"/>
                <a:gridCol w="4095750"/>
                <a:gridCol w="4057650"/>
              </a:tblGrid>
              <a:tr h="438150">
                <a:tc>
                  <a:txBody>
                    <a:bodyPr wrap="square">
                      <a:noAutofit/>
                    </a:bodyPr>
                    <a:lstStyle/>
                    <a:p>
                      <a:r>
                        <a:rPr sz="1650" b="1">
                          <a:solidFill>
                            <a:srgbClr val="FFFFFF"/>
                          </a:solidFill>
                          <a:latin typeface="Arial"/>
                          <a:ea typeface="Arial"/>
                          <a:cs typeface="Arial"/>
                        </a:rPr>
                        <a:t>Beispiel</a:t>
                      </a:r>
                    </a:p>
                  </a:txBody>
                  <a:tcPr marL="133350" marR="133350" marT="38100" marB="381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Öffentlicher Einstieg</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KI / relevante Grenze</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790575">
                <a:tc>
                  <a:txBody>
                    <a:bodyPr wrap="square">
                      <a:noAutofit/>
                    </a:bodyPr>
                    <a:lstStyle/>
                    <a:p>
                      <a:r>
                        <a:rPr sz="1800" b="1">
                          <a:solidFill>
                            <a:srgbClr val="102A2A"/>
                          </a:solidFill>
                          <a:latin typeface="Arial"/>
                          <a:ea typeface="Arial"/>
                          <a:cs typeface="Arial"/>
                        </a:rPr>
                        <a:t>Zendesk Suite Team</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55 USD / Agent / Monat</a:t>
                      </a:r>
                    </a:p>
                    <a:p>
                      <a:r>
                        <a:rPr sz="1800" b="0">
                          <a:solidFill>
                            <a:srgbClr val="102A2A"/>
                          </a:solidFill>
                          <a:latin typeface="Arial"/>
                          <a:ea typeface="Arial"/>
                          <a:cs typeface="Arial"/>
                        </a:rPr>
                        <a:t>bei jährlicher Zahlung</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Resolution-Modell und</a:t>
                      </a:r>
                    </a:p>
                    <a:p>
                      <a:r>
                        <a:rPr sz="1800" b="0">
                          <a:solidFill>
                            <a:srgbClr val="102A2A"/>
                          </a:solidFill>
                          <a:latin typeface="Arial"/>
                          <a:ea typeface="Arial"/>
                          <a:cs typeface="Arial"/>
                        </a:rPr>
                        <a:t>Add-ons accountabhängig</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790575">
                <a:tc>
                  <a:txBody>
                    <a:bodyPr wrap="square">
                      <a:noAutofit/>
                    </a:bodyPr>
                    <a:lstStyle/>
                    <a:p>
                      <a:r>
                        <a:rPr sz="1800" b="1">
                          <a:solidFill>
                            <a:srgbClr val="102A2A"/>
                          </a:solidFill>
                          <a:latin typeface="Arial"/>
                          <a:ea typeface="Arial"/>
                          <a:cs typeface="Arial"/>
                        </a:rPr>
                        <a:t>Freshdesk Omni</a:t>
                      </a:r>
                    </a:p>
                    <a:p>
                      <a:r>
                        <a:rPr sz="1800" b="1">
                          <a:solidFill>
                            <a:srgbClr val="102A2A"/>
                          </a:solidFill>
                          <a:latin typeface="Arial"/>
                          <a:ea typeface="Arial"/>
                          <a:cs typeface="Arial"/>
                        </a:rPr>
                        <a:t>Growth</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29 USD / Agent / Monat</a:t>
                      </a:r>
                    </a:p>
                    <a:p>
                      <a:r>
                        <a:rPr sz="1800" b="0">
                          <a:solidFill>
                            <a:srgbClr val="102A2A"/>
                          </a:solidFill>
                          <a:latin typeface="Arial"/>
                          <a:ea typeface="Arial"/>
                          <a:cs typeface="Arial"/>
                        </a:rPr>
                        <a:t>bei jährlicher Zahlung</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500 Sessions einmalig;</a:t>
                      </a:r>
                    </a:p>
                    <a:p>
                      <a:r>
                        <a:rPr sz="1800" b="0">
                          <a:solidFill>
                            <a:srgbClr val="102A2A"/>
                          </a:solidFill>
                          <a:latin typeface="Arial"/>
                          <a:ea typeface="Arial"/>
                          <a:cs typeface="Arial"/>
                        </a:rPr>
                        <a:t>danach 49 USD / 100</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r h="790575">
                <a:tc>
                  <a:txBody>
                    <a:bodyPr wrap="square">
                      <a:noAutofit/>
                    </a:bodyPr>
                    <a:lstStyle/>
                    <a:p>
                      <a:r>
                        <a:rPr sz="1800" b="1">
                          <a:solidFill>
                            <a:srgbClr val="102A2A"/>
                          </a:solidFill>
                          <a:latin typeface="Arial"/>
                          <a:ea typeface="Arial"/>
                          <a:cs typeface="Arial"/>
                        </a:rPr>
                        <a:t>Intercom Essential</a:t>
                      </a:r>
                    </a:p>
                    <a:p>
                      <a:r>
                        <a:rPr sz="1800" b="1">
                          <a:solidFill>
                            <a:srgbClr val="102A2A"/>
                          </a:solidFill>
                          <a:latin typeface="Arial"/>
                          <a:ea typeface="Arial"/>
                          <a:cs typeface="Arial"/>
                        </a:rPr>
                        <a:t>+ Fin</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29 USD / Sitz / Monat</a:t>
                      </a:r>
                    </a:p>
                    <a:p>
                      <a:r>
                        <a:rPr sz="1800" b="0">
                          <a:solidFill>
                            <a:srgbClr val="102A2A"/>
                          </a:solidFill>
                          <a:latin typeface="Arial"/>
                          <a:ea typeface="Arial"/>
                          <a:cs typeface="Arial"/>
                        </a:rPr>
                        <a:t>in jährlicher Preisansicht</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Fin: 0,99 USD / Outcome;</a:t>
                      </a:r>
                    </a:p>
                    <a:p>
                      <a:r>
                        <a:rPr sz="1800" b="0">
                          <a:solidFill>
                            <a:srgbClr val="102A2A"/>
                          </a:solidFill>
                          <a:latin typeface="Arial"/>
                          <a:ea typeface="Arial"/>
                          <a:cs typeface="Arial"/>
                        </a:rPr>
                        <a:t>Definition beachten</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790575">
                <a:tc>
                  <a:txBody>
                    <a:bodyPr wrap="square">
                      <a:noAutofit/>
                    </a:bodyPr>
                    <a:lstStyle/>
                    <a:p>
                      <a:r>
                        <a:rPr sz="1800" b="1">
                          <a:solidFill>
                            <a:srgbClr val="102A2A"/>
                          </a:solidFill>
                          <a:latin typeface="Arial"/>
                          <a:ea typeface="Arial"/>
                          <a:cs typeface="Arial"/>
                        </a:rPr>
                        <a:t>Crisp Essentials</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95 USD / Workspace / Monat</a:t>
                      </a:r>
                    </a:p>
                    <a:p>
                      <a:r>
                        <a:rPr sz="1800" b="0">
                          <a:solidFill>
                            <a:srgbClr val="102A2A"/>
                          </a:solidFill>
                          <a:latin typeface="Arial"/>
                          <a:ea typeface="Arial"/>
                          <a:cs typeface="Arial"/>
                        </a:rPr>
                        <a:t>10 Plätze enthalten</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KI-Credits; dediziertes</a:t>
                      </a:r>
                    </a:p>
                    <a:p>
                      <a:r>
                        <a:rPr sz="1800" b="0">
                          <a:solidFill>
                            <a:srgbClr val="102A2A"/>
                          </a:solidFill>
                          <a:latin typeface="Arial"/>
                          <a:ea typeface="Arial"/>
                          <a:cs typeface="Arial"/>
                        </a:rPr>
                        <a:t>Ticketing erst im Plus</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bl>
          </a:graphicData>
        </a:graphic>
      </p:graphicFrame>
      <p:sp>
        <p:nvSpPr>
          <p:cNvPr id="6" name="body">
            <a:extLst xmlns:a="http://schemas.openxmlformats.org/drawingml/2006/main">
              <a:ext uri="{FF2B5EF4-FFF2-40B4-BE49-F238E27FC236}">
                <a16:creationId xmlns:a16="http://schemas.microsoft.com/office/drawing/2014/main" id="{49ECB49E-3719-465C-A082-166D4FC58DAD}"/>
              </a:ext>
            </a:extLst>
          </p:cNvPr>
          <p:cNvSpPr>
            <a:spLocks xmlns:a="http://schemas.openxmlformats.org/drawingml/2006/main" noGrp="1"/>
          </p:cNvSpPr>
          <p:nvPr/>
        </p:nvSpPr>
        <p:spPr>
          <a:xfrm xmlns:a="http://schemas.openxmlformats.org/drawingml/2006/main">
            <a:off x="685800" y="58959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63"/>
                </a:solidFill>
                <a:latin typeface="Arial"/>
                <a:ea typeface="Arial"/>
                <a:cs typeface="Arial"/>
              </a:defRPr>
            </a:defPPr>
          </a:lstStyle>
          <a:p xmlns:a="http://schemas.openxmlformats.org/drawingml/2006/main">
            <a:pPr>
              <a:defRPr sz="1350" b="0">
                <a:solidFill>
                  <a:srgbClr val="526763"/>
                </a:solidFill>
                <a:latin typeface="Arial"/>
                <a:ea typeface="Arial"/>
                <a:cs typeface="Arial"/>
              </a:defRPr>
            </a:pPr>
            <a:r>
              <a:rPr sz="1350" b="0">
                <a:solidFill>
                  <a:srgbClr val="526763"/>
                </a:solidFill>
                <a:latin typeface="Arial"/>
                <a:ea typeface="Arial"/>
                <a:cs typeface="Arial"/>
              </a:rPr>
              <a:t>Stand 14.10.2026 · Keine gleichwertigen Pakete, Steuern oder Gesamtkosten. Vor Kauf neu prüfen.</a:t>
            </a:r>
          </a:p>
        </p:txBody>
      </p:sp>
    </p:spTree>
    <p:extLst>
      <p:ext uri="{BB962C8B-B14F-4D97-AF65-F5344CB8AC3E}">
        <p14:creationId xmlns:p14="http://schemas.microsoft.com/office/powerpoint/2010/main" val="274785459"/>
      </p:ext>
    </p:extLst>
  </p:cSld>
</p:sld>
</file>

<file path=ppt/slides/slide22.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FE33F01-BE22-4958-8CC8-952286724435}"/>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ANHANG · EIGENBETRIEB</a:t>
            </a:r>
          </a:p>
        </p:txBody>
      </p:sp>
      <p:sp>
        <p:nvSpPr>
          <p:cNvPr id="2" name="slide-title">
            <a:extLst xmlns:a="http://schemas.openxmlformats.org/drawingml/2006/main">
              <a:ext uri="{FF2B5EF4-FFF2-40B4-BE49-F238E27FC236}">
                <a16:creationId xmlns:a16="http://schemas.microsoft.com/office/drawing/2014/main" id="{47D5F6FA-BF32-4E55-BDFD-5FE3A656DD4E}"/>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Open Source kann ohne Lizenzabo starten</a:t>
            </a:r>
          </a:p>
        </p:txBody>
      </p:sp>
      <p:sp>
        <p:nvSpPr>
          <p:cNvPr id="3" name="footer">
            <a:extLst xmlns:a="http://schemas.openxmlformats.org/drawingml/2006/main">
              <a:ext uri="{FF2B5EF4-FFF2-40B4-BE49-F238E27FC236}">
                <a16:creationId xmlns:a16="http://schemas.microsoft.com/office/drawing/2014/main" id="{02C791CF-1FB2-4D4A-996A-47E4223AECFE}"/>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7249096B-B724-4E4F-9BAB-FC6CCE07EFAF}"/>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22</a:t>
            </a:r>
          </a:p>
        </p:txBody>
      </p:sp>
      <p:graphicFrame>
        <p:nvGraphicFramePr>
          <p:cNvPr id="5" name="">
            <a:extLst xmlns:a="http://schemas.openxmlformats.org/drawingml/2006/main">
              <a:ext uri="{FF2B5EF4-FFF2-40B4-BE49-F238E27FC236}">
                <a16:creationId xmlns:a16="http://schemas.microsoft.com/office/drawing/2014/main" id="{1110FE55-A05A-4E86-898E-6977A80C2870}"/>
              </a:ext>
            </a:extLst>
          </p:cNvPr>
          <p:cNvGraphicFramePr/>
          <p:nvPr/>
        </p:nvGraphicFramePr>
        <p:xfrm>
          <a:off xmlns:a="http://schemas.openxmlformats.org/drawingml/2006/main" x="685800" y="1952625"/>
          <a:ext xmlns:a="http://schemas.openxmlformats.org/drawingml/2006/main" cx="10820400" cy="3600450"/>
        </p:xfrm>
        <a:graphic xmlns:a="http://schemas.openxmlformats.org/drawingml/2006/main">
          <a:graphicData uri="http://schemas.openxmlformats.org/drawingml/2006/table">
            <a:tbl>
              <a:tblPr/>
              <a:tblGrid>
                <a:gridCol w="2266950"/>
                <a:gridCol w="4219575"/>
                <a:gridCol w="4333875"/>
              </a:tblGrid>
              <a:tr h="438150">
                <a:tc>
                  <a:txBody>
                    <a:bodyPr wrap="square">
                      <a:noAutofit/>
                    </a:bodyPr>
                    <a:lstStyle/>
                    <a:p>
                      <a:r>
                        <a:rPr sz="1650" b="1">
                          <a:solidFill>
                            <a:srgbClr val="FFFFFF"/>
                          </a:solidFill>
                          <a:latin typeface="Arial"/>
                          <a:ea typeface="Arial"/>
                          <a:cs typeface="Arial"/>
                        </a:rPr>
                        <a:t>Angebot</a:t>
                      </a:r>
                    </a:p>
                  </a:txBody>
                  <a:tcPr marL="133350" marR="133350" marT="38100" marB="381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Freier Kern im Eigenbetrieb</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Optionale Kosten</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790575">
                <a:tc>
                  <a:txBody>
                    <a:bodyPr wrap="square">
                      <a:noAutofit/>
                    </a:bodyPr>
                    <a:lstStyle/>
                    <a:p>
                      <a:r>
                        <a:rPr sz="1800" b="1">
                          <a:solidFill>
                            <a:srgbClr val="102A2A"/>
                          </a:solidFill>
                          <a:latin typeface="Arial"/>
                          <a:ea typeface="Arial"/>
                          <a:cs typeface="Arial"/>
                        </a:rPr>
                        <a:t>Zammad</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Keine Softwarelizenzgebühr</a:t>
                      </a:r>
                    </a:p>
                    <a:p>
                      <a:r>
                        <a:rPr sz="1800" b="0">
                          <a:solidFill>
                            <a:srgbClr val="102A2A"/>
                          </a:solidFill>
                          <a:latin typeface="Arial"/>
                          <a:ea typeface="Arial"/>
                          <a:cs typeface="Arial"/>
                        </a:rPr>
                        <a:t>AGPLv3</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Support / Cloud; Managed AI</a:t>
                      </a:r>
                    </a:p>
                    <a:p>
                      <a:r>
                        <a:rPr sz="1800" b="0">
                          <a:solidFill>
                            <a:srgbClr val="102A2A"/>
                          </a:solidFill>
                          <a:latin typeface="Arial"/>
                          <a:ea typeface="Arial"/>
                          <a:cs typeface="Arial"/>
                        </a:rPr>
                        <a:t>0,03 EUR / AI Call</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790575">
                <a:tc>
                  <a:txBody>
                    <a:bodyPr wrap="square">
                      <a:noAutofit/>
                    </a:bodyPr>
                    <a:lstStyle/>
                    <a:p>
                      <a:r>
                        <a:rPr sz="1800" b="1">
                          <a:solidFill>
                            <a:srgbClr val="102A2A"/>
                          </a:solidFill>
                          <a:latin typeface="Arial"/>
                          <a:ea typeface="Arial"/>
                          <a:cs typeface="Arial"/>
                        </a:rPr>
                        <a:t>Chatwoot CE</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Kostenlose Community Edition</a:t>
                      </a:r>
                    </a:p>
                    <a:p>
                      <a:r>
                        <a:rPr sz="1800" b="0">
                          <a:solidFill>
                            <a:srgbClr val="102A2A"/>
                          </a:solidFill>
                          <a:latin typeface="Arial"/>
                          <a:ea typeface="Arial"/>
                          <a:cs typeface="Arial"/>
                        </a:rPr>
                        <a:t>MIT-Community-Code</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Captain: Premium Support</a:t>
                      </a:r>
                    </a:p>
                    <a:p>
                      <a:r>
                        <a:rPr sz="1800" b="0">
                          <a:solidFill>
                            <a:srgbClr val="102A2A"/>
                          </a:solidFill>
                          <a:latin typeface="Arial"/>
                          <a:ea typeface="Arial"/>
                          <a:cs typeface="Arial"/>
                        </a:rPr>
                        <a:t>19 USD / Agent / M., jährlich</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r h="790575">
                <a:tc>
                  <a:txBody>
                    <a:bodyPr wrap="square">
                      <a:noAutofit/>
                    </a:bodyPr>
                    <a:lstStyle/>
                    <a:p>
                      <a:r>
                        <a:rPr sz="1800" b="1">
                          <a:solidFill>
                            <a:srgbClr val="102A2A"/>
                          </a:solidFill>
                          <a:latin typeface="Arial"/>
                          <a:ea typeface="Arial"/>
                          <a:cs typeface="Arial"/>
                        </a:rPr>
                        <a:t>FreeScout</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Kostenloser Helpdesk;</a:t>
                      </a:r>
                    </a:p>
                    <a:p>
                      <a:r>
                        <a:rPr sz="1800" b="0">
                          <a:solidFill>
                            <a:srgbClr val="102A2A"/>
                          </a:solidFill>
                          <a:latin typeface="Arial"/>
                          <a:ea typeface="Arial"/>
                          <a:cs typeface="Arial"/>
                        </a:rPr>
                        <a:t>AI Integration Module gratis</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Bezahlte Module einmalig;</a:t>
                      </a:r>
                    </a:p>
                    <a:p>
                      <a:r>
                        <a:rPr sz="1800" b="0">
                          <a:solidFill>
                            <a:srgbClr val="102A2A"/>
                          </a:solidFill>
                          <a:latin typeface="Arial"/>
                          <a:ea typeface="Arial"/>
                          <a:cs typeface="Arial"/>
                        </a:rPr>
                        <a:t>Modellverbrauch separat</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790575">
                <a:tc>
                  <a:txBody>
                    <a:bodyPr wrap="square">
                      <a:noAutofit/>
                    </a:bodyPr>
                    <a:lstStyle/>
                    <a:p>
                      <a:r>
                        <a:rPr sz="1800" b="1">
                          <a:solidFill>
                            <a:srgbClr val="102A2A"/>
                          </a:solidFill>
                          <a:latin typeface="Arial"/>
                          <a:ea typeface="Arial"/>
                          <a:cs typeface="Arial"/>
                        </a:rPr>
                        <a:t>GLPI</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Freie Software</a:t>
                      </a:r>
                    </a:p>
                    <a:p>
                      <a:r>
                        <a:rPr sz="1800" b="0">
                          <a:solidFill>
                            <a:srgbClr val="102A2A"/>
                          </a:solidFill>
                          <a:latin typeface="Arial"/>
                          <a:ea typeface="Arial"/>
                          <a:cs typeface="Arial"/>
                        </a:rPr>
                        <a:t>GPL-3.0-or-later</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Network-Support / Cloud;</a:t>
                      </a:r>
                    </a:p>
                    <a:p>
                      <a:r>
                        <a:rPr sz="1800" b="0">
                          <a:solidFill>
                            <a:srgbClr val="102A2A"/>
                          </a:solidFill>
                          <a:latin typeface="Arial"/>
                          <a:ea typeface="Arial"/>
                          <a:cs typeface="Arial"/>
                        </a:rPr>
                        <a:t>Umfang nach Angebot</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bl>
          </a:graphicData>
        </a:graphic>
      </p:graphicFrame>
      <p:sp>
        <p:nvSpPr>
          <p:cNvPr id="6" name="body">
            <a:extLst xmlns:a="http://schemas.openxmlformats.org/drawingml/2006/main">
              <a:ext uri="{FF2B5EF4-FFF2-40B4-BE49-F238E27FC236}">
                <a16:creationId xmlns:a16="http://schemas.microsoft.com/office/drawing/2014/main" id="{D6972C9C-A45E-4BF5-AAAA-F23D821D66F8}"/>
              </a:ext>
            </a:extLst>
          </p:cNvPr>
          <p:cNvSpPr>
            <a:spLocks xmlns:a="http://schemas.openxmlformats.org/drawingml/2006/main" noGrp="1"/>
          </p:cNvSpPr>
          <p:nvPr/>
        </p:nvSpPr>
        <p:spPr>
          <a:xfrm xmlns:a="http://schemas.openxmlformats.org/drawingml/2006/main">
            <a:off x="685800" y="58959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63"/>
                </a:solidFill>
                <a:latin typeface="Arial"/>
                <a:ea typeface="Arial"/>
                <a:cs typeface="Arial"/>
              </a:defRPr>
            </a:defPPr>
          </a:lstStyle>
          <a:p xmlns:a="http://schemas.openxmlformats.org/drawingml/2006/main">
            <a:pPr>
              <a:defRPr sz="1350" b="0">
                <a:solidFill>
                  <a:srgbClr val="526763"/>
                </a:solidFill>
                <a:latin typeface="Arial"/>
                <a:ea typeface="Arial"/>
                <a:cs typeface="Arial"/>
              </a:defRPr>
            </a:pPr>
            <a:r>
              <a:rPr sz="1350" b="0">
                <a:solidFill>
                  <a:srgbClr val="526763"/>
                </a:solidFill>
                <a:latin typeface="Arial"/>
                <a:ea typeface="Arial"/>
                <a:cs typeface="Arial"/>
              </a:rPr>
              <a:t>Stand 14.10.2026 · Betrieb, Wartung und Anbieter-Verbrauch sind auch bei freien Produkten Kosten.</a:t>
            </a:r>
          </a:p>
        </p:txBody>
      </p:sp>
    </p:spTree>
    <p:extLst>
      <p:ext uri="{BB962C8B-B14F-4D97-AF65-F5344CB8AC3E}">
        <p14:creationId xmlns:p14="http://schemas.microsoft.com/office/powerpoint/2010/main" val="1008629325"/>
      </p:ext>
    </p:extLst>
  </p:cSld>
</p:sld>
</file>

<file path=ppt/slides/slide23.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3533D21-BF5A-4687-9617-1266D9F9A539}"/>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ANHANG · BESCHAFFUNG</a:t>
            </a:r>
          </a:p>
        </p:txBody>
      </p:sp>
      <p:sp>
        <p:nvSpPr>
          <p:cNvPr id="2" name="slide-title">
            <a:extLst xmlns:a="http://schemas.openxmlformats.org/drawingml/2006/main">
              <a:ext uri="{FF2B5EF4-FFF2-40B4-BE49-F238E27FC236}">
                <a16:creationId xmlns:a16="http://schemas.microsoft.com/office/drawing/2014/main" id="{8ACF267E-7913-4AD8-96CA-556E95F02B93}"/>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Enterprise und Baukasten separat kalkulieren</a:t>
            </a:r>
          </a:p>
        </p:txBody>
      </p:sp>
      <p:sp>
        <p:nvSpPr>
          <p:cNvPr id="3" name="footer">
            <a:extLst xmlns:a="http://schemas.openxmlformats.org/drawingml/2006/main">
              <a:ext uri="{FF2B5EF4-FFF2-40B4-BE49-F238E27FC236}">
                <a16:creationId xmlns:a16="http://schemas.microsoft.com/office/drawing/2014/main" id="{CB6E84DB-1CD6-488F-B5BC-073465B39C5D}"/>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355A65F6-D539-4C2C-BEDD-AFBA1386C3A5}"/>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136FA09C-BC71-4131-82F1-5BCFC9E6829F}"/>
              </a:ext>
            </a:extLst>
          </p:cNvPr>
          <p:cNvGraphicFramePr/>
          <p:nvPr/>
        </p:nvGraphicFramePr>
        <p:xfrm>
          <a:off xmlns:a="http://schemas.openxmlformats.org/drawingml/2006/main" x="685800" y="1952625"/>
          <a:ext xmlns:a="http://schemas.openxmlformats.org/drawingml/2006/main" cx="10820400" cy="3600450"/>
        </p:xfrm>
        <a:graphic xmlns:a="http://schemas.openxmlformats.org/drawingml/2006/main">
          <a:graphicData uri="http://schemas.openxmlformats.org/drawingml/2006/table">
            <a:tbl>
              <a:tblPr/>
              <a:tblGrid>
                <a:gridCol w="2619375"/>
                <a:gridCol w="3952875"/>
                <a:gridCol w="4248150"/>
              </a:tblGrid>
              <a:tr h="438150">
                <a:tc>
                  <a:txBody>
                    <a:bodyPr wrap="square">
                      <a:noAutofit/>
                    </a:bodyPr>
                    <a:lstStyle/>
                    <a:p>
                      <a:r>
                        <a:rPr sz="1650" b="1">
                          <a:solidFill>
                            <a:srgbClr val="FFFFFF"/>
                          </a:solidFill>
                          <a:latin typeface="Arial"/>
                          <a:ea typeface="Arial"/>
                          <a:cs typeface="Arial"/>
                        </a:rPr>
                        <a:t>Angebot</a:t>
                      </a:r>
                    </a:p>
                  </a:txBody>
                  <a:tcPr marL="133350" marR="133350" marT="38100" marB="381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Lizenz / Angebot</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noAutofit/>
                    </a:bodyPr>
                    <a:lstStyle/>
                    <a:p>
                      <a:r>
                        <a:rPr sz="1650" b="1">
                          <a:solidFill>
                            <a:srgbClr val="FFFFFF"/>
                          </a:solidFill>
                          <a:latin typeface="Arial"/>
                          <a:ea typeface="Arial"/>
                          <a:cs typeface="Arial"/>
                        </a:rPr>
                        <a:t>KI- oder Portal-Einheit</a:t>
                      </a:r>
                    </a:p>
                  </a:txBody>
                  <a:tcPr marL="133350" marR="133350" marT="38100" marB="381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790575">
                <a:tc>
                  <a:txBody>
                    <a:bodyPr wrap="square">
                      <a:noAutofit/>
                    </a:bodyPr>
                    <a:lstStyle/>
                    <a:p>
                      <a:r>
                        <a:rPr sz="1800" b="1">
                          <a:solidFill>
                            <a:srgbClr val="102A2A"/>
                          </a:solidFill>
                          <a:latin typeface="Arial"/>
                          <a:ea typeface="Arial"/>
                          <a:cs typeface="Arial"/>
                        </a:rPr>
                        <a:t>JSM Cloud /</a:t>
                      </a:r>
                    </a:p>
                    <a:p>
                      <a:r>
                        <a:rPr sz="1800" b="1">
                          <a:solidFill>
                            <a:srgbClr val="102A2A"/>
                          </a:solidFill>
                          <a:latin typeface="Arial"/>
                          <a:ea typeface="Arial"/>
                          <a:cs typeface="Arial"/>
                        </a:rPr>
                        <a:t>Service Collection</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Agenten- und Planmodell;</a:t>
                      </a:r>
                    </a:p>
                    <a:p>
                      <a:r>
                        <a:rPr sz="1800" b="0">
                          <a:solidFill>
                            <a:srgbClr val="102A2A"/>
                          </a:solidFill>
                          <a:latin typeface="Arial"/>
                          <a:ea typeface="Arial"/>
                          <a:cs typeface="Arial"/>
                        </a:rPr>
                        <a:t>Free bis zu 3 Agents</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VSA: Premium / Enterprise;</a:t>
                      </a:r>
                    </a:p>
                    <a:p>
                      <a:r>
                        <a:rPr sz="1800" b="0">
                          <a:solidFill>
                            <a:srgbClr val="102A2A"/>
                          </a:solidFill>
                          <a:latin typeface="Arial"/>
                          <a:ea typeface="Arial"/>
                          <a:cs typeface="Arial"/>
                        </a:rPr>
                        <a:t>ab 0,30 USD / Gespräch extra</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790575">
                <a:tc>
                  <a:txBody>
                    <a:bodyPr wrap="square">
                      <a:noAutofit/>
                    </a:bodyPr>
                    <a:lstStyle/>
                    <a:p>
                      <a:r>
                        <a:rPr sz="1800" b="1">
                          <a:solidFill>
                            <a:srgbClr val="102A2A"/>
                          </a:solidFill>
                          <a:latin typeface="Arial"/>
                          <a:ea typeface="Arial"/>
                          <a:cs typeface="Arial"/>
                        </a:rPr>
                        <a:t>ServiceNow CSM</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Individuelles Angebot</a:t>
                      </a:r>
                    </a:p>
                    <a:p>
                      <a:r>
                        <a:rPr sz="1800" b="0">
                          <a:solidFill>
                            <a:srgbClr val="102A2A"/>
                          </a:solidFill>
                          <a:latin typeface="Arial"/>
                          <a:ea typeface="Arial"/>
                          <a:cs typeface="Arial"/>
                        </a:rPr>
                        <a:t>Advanced / Prime</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Virtual-Agent-Gespräche</a:t>
                      </a:r>
                    </a:p>
                    <a:p>
                      <a:r>
                        <a:rPr sz="1800" b="0">
                          <a:solidFill>
                            <a:srgbClr val="102A2A"/>
                          </a:solidFill>
                          <a:latin typeface="Arial"/>
                          <a:ea typeface="Arial"/>
                          <a:cs typeface="Arial"/>
                        </a:rPr>
                        <a:t>laut Paketen unbegrenzt</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r h="790575">
                <a:tc>
                  <a:txBody>
                    <a:bodyPr wrap="square">
                      <a:noAutofit/>
                    </a:bodyPr>
                    <a:lstStyle/>
                    <a:p>
                      <a:r>
                        <a:rPr sz="1800" b="1">
                          <a:solidFill>
                            <a:srgbClr val="102A2A"/>
                          </a:solidFill>
                          <a:latin typeface="Arial"/>
                          <a:ea typeface="Arial"/>
                          <a:cs typeface="Arial"/>
                        </a:rPr>
                        <a:t>Copilot Studio</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200 USD / Monat für</a:t>
                      </a:r>
                    </a:p>
                    <a:p>
                      <a:r>
                        <a:rPr sz="1800" b="0">
                          <a:solidFill>
                            <a:srgbClr val="102A2A"/>
                          </a:solidFill>
                          <a:latin typeface="Arial"/>
                          <a:ea typeface="Arial"/>
                          <a:cs typeface="Arial"/>
                        </a:rPr>
                        <a:t>25.000 Credits; auch PAYG</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c>
                  <a:txBody>
                    <a:bodyPr wrap="square">
                      <a:noAutofit/>
                    </a:bodyPr>
                    <a:lstStyle/>
                    <a:p>
                      <a:r>
                        <a:rPr sz="1800" b="0">
                          <a:solidFill>
                            <a:srgbClr val="102A2A"/>
                          </a:solidFill>
                          <a:latin typeface="Arial"/>
                          <a:ea typeface="Arial"/>
                          <a:cs typeface="Arial"/>
                        </a:rPr>
                        <a:t>Credits je Aktion;</a:t>
                      </a:r>
                    </a:p>
                    <a:p>
                      <a:r>
                        <a:rPr sz="1800" b="0">
                          <a:solidFill>
                            <a:srgbClr val="102A2A"/>
                          </a:solidFill>
                          <a:latin typeface="Arial"/>
                          <a:ea typeface="Arial"/>
                          <a:cs typeface="Arial"/>
                        </a:rPr>
                        <a:t>kein Gesprächspreis</a:t>
                      </a:r>
                    </a:p>
                  </a:txBody>
                  <a:tcPr marL="133350" marR="133350" marT="38100" marB="38100" anchor="ctr">
                    <a:lnR w="9525">
                      <a:solidFill>
                        <a:srgbClr val="DBE5DF"/>
                      </a:solidFill>
                      <a:prstDash val="solid"/>
                    </a:lnR>
                    <a:lnB w="9525">
                      <a:solidFill>
                        <a:srgbClr val="DBE5DF"/>
                      </a:solidFill>
                      <a:prstDash val="solid"/>
                    </a:lnB>
                    <a:solidFill>
                      <a:srgbClr val="FFFFFF"/>
                    </a:solidFill>
                  </a:tcPr>
                </a:tc>
              </a:tr>
              <a:tr h="790575">
                <a:tc>
                  <a:txBody>
                    <a:bodyPr wrap="square">
                      <a:noAutofit/>
                    </a:bodyPr>
                    <a:lstStyle/>
                    <a:p>
                      <a:r>
                        <a:rPr sz="1800" b="1">
                          <a:solidFill>
                            <a:srgbClr val="102A2A"/>
                          </a:solidFill>
                          <a:latin typeface="Arial"/>
                          <a:ea typeface="Arial"/>
                          <a:cs typeface="Arial"/>
                        </a:rPr>
                        <a:t>Power Pages</a:t>
                      </a:r>
                    </a:p>
                  </a:txBody>
                  <a:tcPr marL="133350" marR="133350" marT="38100" marB="381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Separat: 200 USD / Monat</a:t>
                      </a:r>
                    </a:p>
                    <a:p>
                      <a:r>
                        <a:rPr sz="1800" b="0">
                          <a:solidFill>
                            <a:srgbClr val="102A2A"/>
                          </a:solidFill>
                          <a:latin typeface="Arial"/>
                          <a:ea typeface="Arial"/>
                          <a:cs typeface="Arial"/>
                        </a:rPr>
                        <a:t>für 100 angemeldete Nutzer*</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c>
                  <a:txBody>
                    <a:bodyPr wrap="square">
                      <a:noAutofit/>
                    </a:bodyPr>
                    <a:lstStyle/>
                    <a:p>
                      <a:r>
                        <a:rPr sz="1800" b="0">
                          <a:solidFill>
                            <a:srgbClr val="102A2A"/>
                          </a:solidFill>
                          <a:latin typeface="Arial"/>
                          <a:ea typeface="Arial"/>
                          <a:cs typeface="Arial"/>
                        </a:rPr>
                        <a:t>Aktive Nutzer je Website;</a:t>
                      </a:r>
                    </a:p>
                    <a:p>
                      <a:r>
                        <a:rPr sz="1800" b="0">
                          <a:solidFill>
                            <a:srgbClr val="102A2A"/>
                          </a:solidFill>
                          <a:latin typeface="Arial"/>
                          <a:ea typeface="Arial"/>
                          <a:cs typeface="Arial"/>
                        </a:rPr>
                        <a:t>anonyme Nutzung separat</a:t>
                      </a:r>
                    </a:p>
                  </a:txBody>
                  <a:tcPr marL="133350" marR="133350" marT="38100" marB="38100" anchor="ctr">
                    <a:lnR w="9525">
                      <a:solidFill>
                        <a:srgbClr val="DBE5DF"/>
                      </a:solidFill>
                      <a:prstDash val="solid"/>
                    </a:lnR>
                    <a:lnB w="9525">
                      <a:solidFill>
                        <a:srgbClr val="DBE5DF"/>
                      </a:solidFill>
                      <a:prstDash val="solid"/>
                    </a:lnB>
                    <a:solidFill>
                      <a:srgbClr val="F7FAF9"/>
                    </a:solidFill>
                  </a:tcPr>
                </a:tc>
              </a:tr>
            </a:tbl>
          </a:graphicData>
        </a:graphic>
      </p:graphicFrame>
      <p:sp>
        <p:nvSpPr>
          <p:cNvPr id="6" name="body">
            <a:extLst xmlns:a="http://schemas.openxmlformats.org/drawingml/2006/main">
              <a:ext uri="{FF2B5EF4-FFF2-40B4-BE49-F238E27FC236}">
                <a16:creationId xmlns:a16="http://schemas.microsoft.com/office/drawing/2014/main" id="{28E76C59-A8EF-41D9-98E5-487D6FA5F9E3}"/>
              </a:ext>
            </a:extLst>
          </p:cNvPr>
          <p:cNvSpPr>
            <a:spLocks xmlns:a="http://schemas.openxmlformats.org/drawingml/2006/main" noGrp="1"/>
          </p:cNvSpPr>
          <p:nvPr/>
        </p:nvSpPr>
        <p:spPr>
          <a:xfrm xmlns:a="http://schemas.openxmlformats.org/drawingml/2006/main">
            <a:off x="685800" y="58959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63"/>
                </a:solidFill>
                <a:latin typeface="Arial"/>
                <a:ea typeface="Arial"/>
                <a:cs typeface="Arial"/>
              </a:defRPr>
            </a:defPPr>
          </a:lstStyle>
          <a:p xmlns:a="http://schemas.openxmlformats.org/drawingml/2006/main">
            <a:pPr>
              <a:defRPr sz="1350" b="0">
                <a:solidFill>
                  <a:srgbClr val="526763"/>
                </a:solidFill>
                <a:latin typeface="Arial"/>
                <a:ea typeface="Arial"/>
                <a:cs typeface="Arial"/>
              </a:defRPr>
            </a:pPr>
            <a:r>
              <a:rPr sz="1350" b="0">
                <a:solidFill>
                  <a:srgbClr val="526763"/>
                </a:solidFill>
                <a:latin typeface="Arial"/>
                <a:ea typeface="Arial"/>
                <a:cs typeface="Arial"/>
              </a:rPr>
              <a:t>Stand 14.10.2026 · * Einstiegsstufe, jährliche Abrechnung. JSM: unterstützte Gespräche; Kontingent gilt.</a:t>
            </a:r>
          </a:p>
        </p:txBody>
      </p:sp>
    </p:spTree>
    <p:extLst>
      <p:ext uri="{BB962C8B-B14F-4D97-AF65-F5344CB8AC3E}">
        <p14:creationId xmlns:p14="http://schemas.microsoft.com/office/powerpoint/2010/main" val="2002854069"/>
      </p:ext>
    </p:extLst>
  </p:cSld>
</p:sld>
</file>

<file path=ppt/slides/slide24.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7FED3DC0-044F-4856-87B4-1C4876FF088F}"/>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defRPr sz="1275" b="1">
                <a:solidFill>
                  <a:srgbClr val="006B64"/>
                </a:solidFill>
                <a:latin typeface="Arial"/>
                <a:ea typeface="Arial"/>
                <a:cs typeface="Arial"/>
              </a:defRPr>
            </a:pPr>
            <a:r>
              <a:rPr sz="1275" b="1">
                <a:solidFill>
                  <a:srgbClr val="006B64"/>
                </a:solidFill>
                <a:latin typeface="Arial"/>
                <a:ea typeface="Arial"/>
                <a:cs typeface="Arial"/>
              </a:rPr>
              <a:t>ANHANG · QUELLEN UND GRENZEN</a:t>
            </a:r>
          </a:p>
        </p:txBody>
      </p:sp>
      <p:sp>
        <p:nvSpPr>
          <p:cNvPr id="2" name="slide-title">
            <a:extLst xmlns:a="http://schemas.openxmlformats.org/drawingml/2006/main">
              <a:ext uri="{FF2B5EF4-FFF2-40B4-BE49-F238E27FC236}">
                <a16:creationId xmlns:a16="http://schemas.microsoft.com/office/drawing/2014/main" id="{F64D028D-2DA7-4EE7-9EA6-29C035B8456A}"/>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defRPr sz="3600" b="1">
                <a:solidFill>
                  <a:srgbClr val="102A2A"/>
                </a:solidFill>
                <a:latin typeface="Arial"/>
                <a:ea typeface="Arial"/>
                <a:cs typeface="Arial"/>
              </a:defRPr>
            </a:pPr>
            <a:r>
              <a:rPr sz="3600" b="1">
                <a:solidFill>
                  <a:srgbClr val="102A2A"/>
                </a:solidFill>
                <a:latin typeface="Arial"/>
                <a:ea typeface="Arial"/>
                <a:cs typeface="Arial"/>
              </a:rPr>
              <a:t>Zielwerte brauchen vergleichbare Messungen</a:t>
            </a:r>
          </a:p>
        </p:txBody>
      </p:sp>
      <p:sp>
        <p:nvSpPr>
          <p:cNvPr id="3" name="footer">
            <a:extLst xmlns:a="http://schemas.openxmlformats.org/drawingml/2006/main">
              <a:ext uri="{FF2B5EF4-FFF2-40B4-BE49-F238E27FC236}">
                <a16:creationId xmlns:a16="http://schemas.microsoft.com/office/drawing/2014/main" id="{F75E1DF2-881A-44F6-9EA0-E8DA47E133D2}"/>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F610D8AE-99F1-4259-9164-B9E675229558}"/>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defRPr sz="1125" b="0">
                <a:solidFill>
                  <a:srgbClr val="526763"/>
                </a:solidFill>
                <a:latin typeface="Arial"/>
                <a:ea typeface="Arial"/>
                <a:cs typeface="Arial"/>
              </a:defRPr>
            </a:pPr>
            <a:r>
              <a:rPr sz="1125" b="0">
                <a:solidFill>
                  <a:srgbClr val="526763"/>
                </a:solidFill>
                <a:latin typeface="Arial"/>
                <a:ea typeface="Arial"/>
                <a:cs typeface="Arial"/>
              </a:rPr>
              <a:t>24</a:t>
            </a:r>
          </a:p>
        </p:txBody>
      </p:sp>
      <p:sp>
        <p:nvSpPr>
          <p:cNvPr id="5" name="body">
            <a:extLst xmlns:a="http://schemas.openxmlformats.org/drawingml/2006/main">
              <a:ext uri="{FF2B5EF4-FFF2-40B4-BE49-F238E27FC236}">
                <a16:creationId xmlns:a16="http://schemas.microsoft.com/office/drawing/2014/main" id="{BAA8FE16-A216-46EC-A8C9-9EA5B93A167E}"/>
              </a:ext>
            </a:extLst>
          </p:cNvPr>
          <p:cNvSpPr>
            <a:spLocks xmlns:a="http://schemas.openxmlformats.org/drawingml/2006/main" noGrp="1"/>
          </p:cNvSpPr>
          <p:nvPr/>
        </p:nvSpPr>
        <p:spPr>
          <a:xfrm xmlns:a="http://schemas.openxmlformats.org/drawingml/2006/main">
            <a:off x="685800" y="22098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006B64"/>
                </a:solidFill>
                <a:latin typeface="Arial"/>
                <a:ea typeface="Arial"/>
                <a:cs typeface="Arial"/>
              </a:defRPr>
            </a:defPPr>
          </a:lstStyle>
          <a:p xmlns:a="http://schemas.openxmlformats.org/drawingml/2006/main">
            <a:pPr>
              <a:defRPr sz="2925" b="1">
                <a:solidFill>
                  <a:srgbClr val="006B64"/>
                </a:solidFill>
                <a:latin typeface="Arial"/>
                <a:ea typeface="Arial"/>
                <a:cs typeface="Arial"/>
              </a:defRPr>
            </a:pPr>
            <a:r>
              <a:rPr sz="2925" b="1">
                <a:solidFill>
                  <a:srgbClr val="006B64"/>
                </a:solidFill>
                <a:latin typeface="Arial"/>
                <a:ea typeface="Arial"/>
                <a:cs typeface="Arial"/>
              </a:rPr>
              <a:t>80 % sind unser Ziel für Vorfilterung.</a:t>
            </a:r>
          </a:p>
        </p:txBody>
      </p:sp>
      <p:sp>
        <p:nvSpPr>
          <p:cNvPr id="6" name="body">
            <a:extLst xmlns:a="http://schemas.openxmlformats.org/drawingml/2006/main">
              <a:ext uri="{FF2B5EF4-FFF2-40B4-BE49-F238E27FC236}">
                <a16:creationId xmlns:a16="http://schemas.microsoft.com/office/drawing/2014/main" id="{23928AC0-014E-4FAB-88DD-1B172B83B05C}"/>
              </a:ext>
            </a:extLst>
          </p:cNvPr>
          <p:cNvSpPr>
            <a:spLocks xmlns:a="http://schemas.openxmlformats.org/drawingml/2006/main" noGrp="1"/>
          </p:cNvSpPr>
          <p:nvPr/>
        </p:nvSpPr>
        <p:spPr>
          <a:xfrm xmlns:a="http://schemas.openxmlformats.org/drawingml/2006/main">
            <a:off x="685800" y="2962275"/>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02A2A"/>
                </a:solidFill>
                <a:latin typeface="Arial"/>
                <a:ea typeface="Arial"/>
                <a:cs typeface="Arial"/>
              </a:defRPr>
            </a:defPPr>
          </a:lstStyle>
          <a:p xmlns:a="http://schemas.openxmlformats.org/drawingml/2006/main">
            <a:pPr>
              <a:defRPr sz="2400" b="0">
                <a:solidFill>
                  <a:srgbClr val="102A2A"/>
                </a:solidFill>
                <a:latin typeface="Arial"/>
                <a:ea typeface="Arial"/>
                <a:cs typeface="Arial"/>
              </a:defRPr>
            </a:pPr>
            <a:r>
              <a:rPr sz="2400" b="0">
                <a:solidFill>
                  <a:srgbClr val="102A2A"/>
                </a:solidFill>
                <a:latin typeface="Arial"/>
                <a:ea typeface="Arial"/>
                <a:cs typeface="Arial"/>
              </a:rPr>
              <a:t>Noch keine eigene Messung. Keine Lösungsquote</a:t>
            </a:r>
          </a:p>
          <a:p xmlns:a="http://schemas.openxmlformats.org/drawingml/2006/main">
            <a:pPr>
              <a:defRPr sz="2400" b="0">
                <a:solidFill>
                  <a:srgbClr val="102A2A"/>
                </a:solidFill>
                <a:latin typeface="Arial"/>
                <a:ea typeface="Arial"/>
                <a:cs typeface="Arial"/>
              </a:defRPr>
            </a:pPr>
            <a:r>
              <a:rPr sz="2400" b="0">
                <a:solidFill>
                  <a:srgbClr val="102A2A"/>
                </a:solidFill>
                <a:latin typeface="Arial"/>
                <a:ea typeface="Arial"/>
                <a:cs typeface="Arial"/>
              </a:rPr>
              <a:t>und keine garantierte Kostensenkung.</a:t>
            </a:r>
          </a:p>
        </p:txBody>
      </p:sp>
      <p:sp>
        <p:nvSpPr>
          <p:cNvPr id="7" name="body">
            <a:extLst xmlns:a="http://schemas.openxmlformats.org/drawingml/2006/main">
              <a:ext uri="{FF2B5EF4-FFF2-40B4-BE49-F238E27FC236}">
                <a16:creationId xmlns:a16="http://schemas.microsoft.com/office/drawing/2014/main" id="{72B297BE-927C-40B0-A3CE-15D63610B912}"/>
              </a:ext>
            </a:extLst>
          </p:cNvPr>
          <p:cNvSpPr>
            <a:spLocks xmlns:a="http://schemas.openxmlformats.org/drawingml/2006/main" noGrp="1"/>
          </p:cNvSpPr>
          <p:nvPr/>
        </p:nvSpPr>
        <p:spPr>
          <a:xfrm xmlns:a="http://schemas.openxmlformats.org/drawingml/2006/main">
            <a:off x="685800" y="42005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6B64"/>
                </a:solidFill>
                <a:latin typeface="Arial"/>
                <a:ea typeface="Arial"/>
                <a:cs typeface="Arial"/>
              </a:defRPr>
            </a:defPPr>
          </a:lstStyle>
          <a:p xmlns:a="http://schemas.openxmlformats.org/drawingml/2006/main">
            <a:pPr>
              <a:defRPr sz="2250" b="1">
                <a:solidFill>
                  <a:srgbClr val="006B64"/>
                </a:solidFill>
                <a:latin typeface="Arial"/>
                <a:ea typeface="Arial"/>
                <a:cs typeface="Arial"/>
              </a:defRPr>
            </a:pPr>
            <a:r>
              <a:rPr sz="2250" b="1">
                <a:solidFill>
                  <a:srgbClr val="006B64"/>
                </a:solidFill>
                <a:latin typeface="Arial"/>
                <a:ea typeface="Arial"/>
                <a:cs typeface="Arial"/>
              </a:rPr>
              <a:t>Im Pilot getrennt erfassen:</a:t>
            </a:r>
          </a:p>
        </p:txBody>
      </p:sp>
      <p:sp>
        <p:nvSpPr>
          <p:cNvPr id="8" name="body">
            <a:extLst xmlns:a="http://schemas.openxmlformats.org/drawingml/2006/main">
              <a:ext uri="{FF2B5EF4-FFF2-40B4-BE49-F238E27FC236}">
                <a16:creationId xmlns:a16="http://schemas.microsoft.com/office/drawing/2014/main" id="{F24E24EA-C429-4A33-9715-ED4A0F9A9EDC}"/>
              </a:ext>
            </a:extLst>
          </p:cNvPr>
          <p:cNvSpPr>
            <a:spLocks xmlns:a="http://schemas.openxmlformats.org/drawingml/2006/main" noGrp="1"/>
          </p:cNvSpPr>
          <p:nvPr/>
        </p:nvSpPr>
        <p:spPr>
          <a:xfrm xmlns:a="http://schemas.openxmlformats.org/drawingml/2006/main">
            <a:off x="685800" y="4819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02A2A"/>
                </a:solidFill>
                <a:latin typeface="Arial"/>
                <a:ea typeface="Arial"/>
                <a:cs typeface="Arial"/>
              </a:defRPr>
            </a:defPPr>
          </a:lstStyle>
          <a:p xmlns:a="http://schemas.openxmlformats.org/drawingml/2006/main">
            <a:pPr>
              <a:defRPr sz="2175" b="0">
                <a:solidFill>
                  <a:srgbClr val="102A2A"/>
                </a:solidFill>
                <a:latin typeface="Arial"/>
                <a:ea typeface="Arial"/>
                <a:cs typeface="Arial"/>
              </a:defRPr>
            </a:pPr>
            <a:r>
              <a:rPr sz="2175" b="0">
                <a:solidFill>
                  <a:srgbClr val="102A2A"/>
                </a:solidFill>
                <a:latin typeface="Arial"/>
                <a:ea typeface="Arial"/>
                <a:cs typeface="Arial"/>
              </a:rPr>
              <a:t>Vorfilterung · vollständig gelöste Anfragen · Antwortqualität</a:t>
            </a:r>
          </a:p>
          <a:p xmlns:a="http://schemas.openxmlformats.org/drawingml/2006/main">
            <a:pPr>
              <a:defRPr sz="2175" b="0">
                <a:solidFill>
                  <a:srgbClr val="102A2A"/>
                </a:solidFill>
                <a:latin typeface="Arial"/>
                <a:ea typeface="Arial"/>
                <a:cs typeface="Arial"/>
              </a:defRPr>
            </a:pPr>
            <a:r>
              <a:rPr sz="2175" b="0">
                <a:solidFill>
                  <a:srgbClr val="102A2A"/>
                </a:solidFill>
                <a:latin typeface="Arial"/>
                <a:ea typeface="Arial"/>
                <a:cs typeface="Arial"/>
              </a:rPr>
              <a:t>Menschliche Übergaben · Teamaufwand · gesamte Betriebskosten</a:t>
            </a:r>
          </a:p>
        </p:txBody>
      </p:sp>
      <p:sp>
        <p:nvSpPr>
          <p:cNvPr id="9" name="body">
            <a:extLst xmlns:a="http://schemas.openxmlformats.org/drawingml/2006/main">
              <a:ext uri="{FF2B5EF4-FFF2-40B4-BE49-F238E27FC236}">
                <a16:creationId xmlns:a16="http://schemas.microsoft.com/office/drawing/2014/main" id="{DCDCA556-0BE2-4ED5-879D-BA1933580164}"/>
              </a:ext>
            </a:extLst>
          </p:cNvPr>
          <p:cNvSpPr>
            <a:spLocks xmlns:a="http://schemas.openxmlformats.org/drawingml/2006/main" noGrp="1"/>
          </p:cNvSpPr>
          <p:nvPr/>
        </p:nvSpPr>
        <p:spPr>
          <a:xfrm xmlns:a="http://schemas.openxmlformats.org/drawingml/2006/main">
            <a:off x="685800" y="58959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63"/>
                </a:solidFill>
                <a:latin typeface="Arial"/>
                <a:ea typeface="Arial"/>
                <a:cs typeface="Arial"/>
              </a:defRPr>
            </a:defPPr>
          </a:lstStyle>
          <a:p xmlns:a="http://schemas.openxmlformats.org/drawingml/2006/main">
            <a:pPr>
              <a:defRPr sz="1350" b="0">
                <a:solidFill>
                  <a:srgbClr val="526763"/>
                </a:solidFill>
                <a:latin typeface="Arial"/>
                <a:ea typeface="Arial"/>
                <a:cs typeface="Arial"/>
              </a:defRPr>
            </a:pPr>
            <a:r>
              <a:rPr sz="1350" b="0">
                <a:solidFill>
                  <a:srgbClr val="526763"/>
                </a:solidFill>
                <a:latin typeface="Arial"/>
                <a:ea typeface="Arial"/>
                <a:cs typeface="Arial"/>
              </a:rPr>
              <a:t>11 Angebote · Herstellerquellen vom 14.10.2026 · Links in Notizen; vollständige Recherche liegt bei.</a:t>
            </a:r>
          </a:p>
        </p:txBody>
      </p:sp>
    </p:spTree>
    <p:extLst>
      <p:ext uri="{BB962C8B-B14F-4D97-AF65-F5344CB8AC3E}">
        <p14:creationId xmlns:p14="http://schemas.microsoft.com/office/powerpoint/2010/main" val="20684163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2026-10-14T18:59:38.9500000Z</dcterms:created>
  <dcterms:modified xsi:type="dcterms:W3CDTF">2026-10-14T18:59:38.9500000Z</dcterms:modified>
</coreProperties>
</file>